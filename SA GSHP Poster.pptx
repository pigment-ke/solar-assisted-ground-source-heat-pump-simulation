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09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199"/>
          <p:cNvSpPr/>
          <p:nvPr/>
        </p:nvSpPr>
        <p:spPr>
          <a:xfrm>
            <a:off x="13716" y="6845667"/>
            <a:ext cx="12188952" cy="39765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88952" cy="89611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6576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Techno-Economic Feasibility of a Solar-Assisted Hybrid Ground Source Heat Pump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(SA-GSHP) System for Residential Cooling in the Kingdom of Bahrain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0" y="896112"/>
            <a:ext cx="1218895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905256"/>
            <a:ext cx="1188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Batoog  |  Eissa Alshammary  |  Jasim Helal  |  Ahmed Almomen</a:t>
            </a:r>
            <a:r>
              <a:rPr lang="en-US" sz="700" b="1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Supervisor: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[Supervisor]</a:t>
            </a:r>
            <a:r>
              <a:rPr lang="en-US" sz="700" b="1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Course: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EN8914 Final Year Project  •  Due: 19 May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18872" y="1115568"/>
            <a:ext cx="3886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72" y="1115568"/>
            <a:ext cx="38862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" y="11201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Introduction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" y="1362456"/>
            <a:ext cx="3749040" cy="877824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cooling accounts for over 70% of Bahrain's peak summer electricity demand. Conventional Air Source Heat Pumps (ASHPs) suffer severe COP degradation above 40°C ambient — a routine occurrence in Bahrain. Bahrain's shallow subsurface offers a stable Undisturbed Ground Temperature (UGT) of 30°C, providing a thermodynamically superior heat sink. This study evaluates a Solar-Assisted Hybrid GSHP (SA-GSHP) for a standard 300 m² residential villa in Manama, combining ground-coupled cooling with solar thermal regeneration to prevent long-term ground thermal imbalance.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18872" y="2322576"/>
            <a:ext cx="38862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872" y="2322576"/>
            <a:ext cx="3886200" cy="228600"/>
          </a:xfrm>
          <a:prstGeom prst="rect">
            <a:avLst/>
          </a:prstGeom>
          <a:solidFill>
            <a:srgbClr val="86252A"/>
          </a:solidFill>
          <a:ln w="12700">
            <a:solidFill>
              <a:srgbClr val="86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" y="23271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Problem Statement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0312" y="2569464"/>
            <a:ext cx="3749040" cy="667512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ambient 40°C+ degrades ASHP SCOP to ~2.5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heat rejection → ground thermal imbalance (+4.2°C unmanaged)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borehole CAPEX (43% of total system cost) — market entry barrier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framework yet to subsidise residential geothermal in Bahrain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8872" y="3319272"/>
            <a:ext cx="3886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8872" y="3319272"/>
            <a:ext cx="3886200" cy="228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" y="33238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Objectives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312" y="3566160"/>
            <a:ext cx="3749040" cy="758952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SCOP ≥ 4.0 for 300 m² Manama villa over 20-year horizon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BHE ground temperature drift to ≤ +1.0°C with solar regeneration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25-year Life Cycle Cost: SA-GSHP vs. ASHP baseline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minimum subsidy for commercially viable SPBP (6–8 years)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lifecycle GHG reduction and water conservation benefits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18872" y="4407408"/>
            <a:ext cx="3886200" cy="21579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8872" y="4407408"/>
            <a:ext cx="38862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" y="44119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System Architecture &amp; Design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0312" y="4681728"/>
            <a:ext cx="512064" cy="41148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" y="468172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722376" y="4887468"/>
            <a:ext cx="105156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" y="4681728"/>
            <a:ext cx="512064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" y="468172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339596" y="4887468"/>
            <a:ext cx="105156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44752" y="4681728"/>
            <a:ext cx="51206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4752" y="468172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BHE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4×100m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956816" y="4887468"/>
            <a:ext cx="105156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61972" y="4681728"/>
            <a:ext cx="512064" cy="4114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61972" y="468172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GSHP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574036" y="4887468"/>
            <a:ext cx="105156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79192" y="4681728"/>
            <a:ext cx="512064" cy="41148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468172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VSC+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191256" y="4887468"/>
            <a:ext cx="105156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6412" y="4681728"/>
            <a:ext cx="512064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6412" y="468172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10312" y="512064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→ PMSG → Rectifier → DC Link → VSC → LC Filter → AC Grid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10312" y="5303520"/>
            <a:ext cx="3749040" cy="1225296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SA-GSHP integrates: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vertical BHEs × 100 m = 400 m total (ILSM-sized)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 m² solar thermal collector array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Thermal buffer storage tank (seasonal decoupling)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Closed-loop HDPE piping &amp; grouting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modes: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Summer (Cooling): Heat rejected to BHE ground loop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Winter (Regen): Solar heat injected → ground temperature recovery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4142232" y="1115568"/>
            <a:ext cx="3886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42232" y="1115568"/>
            <a:ext cx="38862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15384" y="11201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SA-GSHP System Model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51960" y="1380744"/>
            <a:ext cx="3666744" cy="384048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0248" y="1389888"/>
            <a:ext cx="3630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Q_cool = SCOP × W_comp    |    Q_ground = Q_cool + W_comp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L_bhe = (Q_peak × COP) / (2π × k × ΔT)  ≈  382 m  →  400 m (4 × 100 m)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33672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cooling load: 17.8 kW  |  Annual cooling: 70,000 kWh  |  HP COP: 6.0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SCOP: 4.51 (includes pump parasitic loads)  |  UGT: 30°C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Borehole: 4 × 100 m HDPE double-U, grouted  |  Solar: 40 m², η₀=0.75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4142232" y="2414016"/>
            <a:ext cx="3886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42232" y="2414016"/>
            <a:ext cx="3886200" cy="228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15384" y="241858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Solar Thermal Regeneration Strategy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233672" y="2670048"/>
            <a:ext cx="749808" cy="36576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33672" y="267004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983480" y="2852928"/>
            <a:ext cx="176022" cy="0"/>
          </a:xfrm>
          <a:prstGeom prst="line">
            <a:avLst/>
          </a:prstGeom>
          <a:noFill/>
          <a:ln w="15240">
            <a:solidFill>
              <a:srgbClr val="8899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59502" y="2670048"/>
            <a:ext cx="749808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59502" y="267004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909310" y="2852928"/>
            <a:ext cx="176022" cy="0"/>
          </a:xfrm>
          <a:prstGeom prst="line">
            <a:avLst/>
          </a:prstGeom>
          <a:noFill/>
          <a:ln w="15240">
            <a:solidFill>
              <a:srgbClr val="8899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85332" y="2670048"/>
            <a:ext cx="749808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5332" y="267004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BHE Ground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835140" y="2852928"/>
            <a:ext cx="176022" cy="0"/>
          </a:xfrm>
          <a:prstGeom prst="line">
            <a:avLst/>
          </a:prstGeom>
          <a:noFill/>
          <a:ln w="15240">
            <a:solidFill>
              <a:srgbClr val="8899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11162" y="2670048"/>
            <a:ext cx="749808" cy="3657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1162" y="267004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GSHP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233672" y="3072384"/>
            <a:ext cx="3749040" cy="402336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Summer: heat rejected to ground → BHE absorbs cooling load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Winter: solar heat injected via tank → ground thermal recovery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Effectiveness: 81% reduction in temperature drift vs. unmanaged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142232" y="3557016"/>
            <a:ext cx="3886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142232" y="3557016"/>
            <a:ext cx="38862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15384" y="356158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Methodology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233672" y="3822192"/>
            <a:ext cx="164592" cy="164592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33672" y="38221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434840" y="3813048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Load: </a:t>
            </a:r>
            <a:r>
              <a:rPr lang="en-US" sz="7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TMY, Manama EPW, hourly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4233672" y="4005072"/>
            <a:ext cx="164592" cy="164592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33672" y="400507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434840" y="3995928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 Model: </a:t>
            </a:r>
            <a:r>
              <a:rPr lang="en-US" sz="7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ILSM + g-function, 20-yr × 8,760 steps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233672" y="4187952"/>
            <a:ext cx="164592" cy="164592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33672" y="4187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4434840" y="4178808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Analysis: </a:t>
            </a:r>
            <a:r>
              <a:rPr lang="en-US" sz="7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LCC, NPV, SPBP — 5% discount, 0.030–0.040 BHD/kWh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4233672" y="4370832"/>
            <a:ext cx="164592" cy="164592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33672" y="43708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434840" y="4361688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LCA: </a:t>
            </a:r>
            <a:r>
              <a:rPr lang="en-US" sz="7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GHG: 0.62 kg CO₂/kWh; water vs. evaporative cooling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4142232" y="4626864"/>
            <a:ext cx="38862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142232" y="4626864"/>
            <a:ext cx="3886200" cy="228600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15384" y="46314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4.1  20-Year Ground Temperature Drift Comparison</a:t>
            </a:r>
            <a:endParaRPr lang="en-US" sz="800" dirty="0"/>
          </a:p>
        </p:txBody>
      </p:sp>
      <p:pic>
        <p:nvPicPr>
          <p:cNvPr id="83" name="Image 0" descr="/home/claude/ground_temp_re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33672" y="4882896"/>
            <a:ext cx="3703320" cy="1627632"/>
          </a:xfrm>
          <a:prstGeom prst="rect">
            <a:avLst/>
          </a:prstGeom>
        </p:spPr>
      </p:pic>
      <p:sp>
        <p:nvSpPr>
          <p:cNvPr id="84" name="Shape 81"/>
          <p:cNvSpPr/>
          <p:nvPr/>
        </p:nvSpPr>
        <p:spPr>
          <a:xfrm>
            <a:off x="8165592" y="1115568"/>
            <a:ext cx="3886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8165592" y="1115568"/>
            <a:ext cx="38862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238744" y="11201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 Simulation Setup &amp; Validation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8257032" y="1362456"/>
            <a:ext cx="3749040" cy="301752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+ Python open-source framework  |  20-yr, 175,200 hourly steps</a:t>
            </a:r>
            <a:endParaRPr lang="en-US" sz="72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report: SCOP 4.51 vs target 4.50  •  Ground drift 0.80°C vs 0.80°C  •  ALL PASS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8165592" y="1746504"/>
            <a:ext cx="3886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8165592" y="1746504"/>
            <a:ext cx="388620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238744" y="17510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Key Results — System Performance</a:t>
            </a:r>
            <a:endParaRPr lang="en-US" sz="800" dirty="0"/>
          </a:p>
        </p:txBody>
      </p:sp>
      <p:sp>
        <p:nvSpPr>
          <p:cNvPr id="91" name="Shape 88"/>
          <p:cNvSpPr/>
          <p:nvPr/>
        </p:nvSpPr>
        <p:spPr>
          <a:xfrm>
            <a:off x="8211312" y="2002536"/>
            <a:ext cx="1203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8211312" y="2039112"/>
            <a:ext cx="1203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4.51</a:t>
            </a:r>
            <a:endParaRPr lang="en-US" sz="2100" dirty="0"/>
          </a:p>
        </p:txBody>
      </p:sp>
      <p:sp>
        <p:nvSpPr>
          <p:cNvPr id="93" name="Text 90"/>
          <p:cNvSpPr/>
          <p:nvPr/>
        </p:nvSpPr>
        <p:spPr>
          <a:xfrm>
            <a:off x="8211312" y="2423160"/>
            <a:ext cx="1203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211312" y="2624328"/>
            <a:ext cx="1203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2.5 baseline ASHP</a:t>
            </a:r>
            <a:endParaRPr lang="en-US" sz="650" dirty="0"/>
          </a:p>
        </p:txBody>
      </p:sp>
      <p:sp>
        <p:nvSpPr>
          <p:cNvPr id="95" name="Shape 92"/>
          <p:cNvSpPr/>
          <p:nvPr/>
        </p:nvSpPr>
        <p:spPr>
          <a:xfrm>
            <a:off x="9506712" y="2002536"/>
            <a:ext cx="1203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9506712" y="2039112"/>
            <a:ext cx="1203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</a:t>
            </a:r>
            <a:endParaRPr lang="en-US" sz="2100" dirty="0"/>
          </a:p>
        </p:txBody>
      </p:sp>
      <p:sp>
        <p:nvSpPr>
          <p:cNvPr id="97" name="Text 94"/>
          <p:cNvSpPr/>
          <p:nvPr/>
        </p:nvSpPr>
        <p:spPr>
          <a:xfrm>
            <a:off x="9506712" y="2423160"/>
            <a:ext cx="1203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Saved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9506712" y="2624328"/>
            <a:ext cx="1203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12,477 kWh/yr</a:t>
            </a:r>
            <a:endParaRPr lang="en-US" sz="650" dirty="0"/>
          </a:p>
        </p:txBody>
      </p:sp>
      <p:sp>
        <p:nvSpPr>
          <p:cNvPr id="99" name="Shape 96"/>
          <p:cNvSpPr/>
          <p:nvPr/>
        </p:nvSpPr>
        <p:spPr>
          <a:xfrm>
            <a:off x="10802112" y="2002536"/>
            <a:ext cx="1203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802112" y="2039112"/>
            <a:ext cx="1203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+0.8°C</a:t>
            </a:r>
            <a:endParaRPr lang="en-US" sz="2100" dirty="0"/>
          </a:p>
        </p:txBody>
      </p:sp>
      <p:sp>
        <p:nvSpPr>
          <p:cNvPr id="101" name="Text 98"/>
          <p:cNvSpPr/>
          <p:nvPr/>
        </p:nvSpPr>
        <p:spPr>
          <a:xfrm>
            <a:off x="10802112" y="2423160"/>
            <a:ext cx="1203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Drift (20yr)</a:t>
            </a:r>
            <a:endParaRPr lang="en-US" sz="700" dirty="0"/>
          </a:p>
        </p:txBody>
      </p:sp>
      <p:sp>
        <p:nvSpPr>
          <p:cNvPr id="102" name="Text 99"/>
          <p:cNvSpPr/>
          <p:nvPr/>
        </p:nvSpPr>
        <p:spPr>
          <a:xfrm>
            <a:off x="10802112" y="2624328"/>
            <a:ext cx="1203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+1.0°C  ✓</a:t>
            </a:r>
            <a:endParaRPr lang="en-US" sz="650" dirty="0"/>
          </a:p>
        </p:txBody>
      </p:sp>
      <p:sp>
        <p:nvSpPr>
          <p:cNvPr id="103" name="Shape 100"/>
          <p:cNvSpPr/>
          <p:nvPr/>
        </p:nvSpPr>
        <p:spPr>
          <a:xfrm>
            <a:off x="8165592" y="2999232"/>
            <a:ext cx="3886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8165592" y="2999232"/>
            <a:ext cx="3886200" cy="228600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8238744" y="30038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 Key Results — Economic Analysis</a:t>
            </a:r>
            <a:endParaRPr lang="en-US" sz="800" dirty="0"/>
          </a:p>
        </p:txBody>
      </p:sp>
      <p:sp>
        <p:nvSpPr>
          <p:cNvPr id="106" name="Shape 103"/>
          <p:cNvSpPr/>
          <p:nvPr/>
        </p:nvSpPr>
        <p:spPr>
          <a:xfrm>
            <a:off x="8211312" y="3236976"/>
            <a:ext cx="1264920" cy="155448"/>
          </a:xfrm>
          <a:prstGeom prst="rect">
            <a:avLst/>
          </a:prstGeom>
          <a:solidFill>
            <a:srgbClr val="1C3557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8229600" y="3236976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680" dirty="0"/>
          </a:p>
        </p:txBody>
      </p:sp>
      <p:sp>
        <p:nvSpPr>
          <p:cNvPr id="108" name="Shape 105"/>
          <p:cNvSpPr/>
          <p:nvPr/>
        </p:nvSpPr>
        <p:spPr>
          <a:xfrm>
            <a:off x="9476232" y="3236976"/>
            <a:ext cx="1264920" cy="155448"/>
          </a:xfrm>
          <a:prstGeom prst="rect">
            <a:avLst/>
          </a:prstGeom>
          <a:solidFill>
            <a:srgbClr val="1C3557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9494520" y="3236976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ASHP</a:t>
            </a:r>
            <a:endParaRPr lang="en-US" sz="680" dirty="0"/>
          </a:p>
        </p:txBody>
      </p:sp>
      <p:sp>
        <p:nvSpPr>
          <p:cNvPr id="110" name="Shape 107"/>
          <p:cNvSpPr/>
          <p:nvPr/>
        </p:nvSpPr>
        <p:spPr>
          <a:xfrm>
            <a:off x="10741152" y="3236976"/>
            <a:ext cx="1264920" cy="155448"/>
          </a:xfrm>
          <a:prstGeom prst="rect">
            <a:avLst/>
          </a:prstGeom>
          <a:solidFill>
            <a:srgbClr val="1C3557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0759440" y="3236976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SA-GSHP</a:t>
            </a:r>
            <a:endParaRPr lang="en-US" sz="680" dirty="0"/>
          </a:p>
        </p:txBody>
      </p:sp>
      <p:sp>
        <p:nvSpPr>
          <p:cNvPr id="112" name="Shape 109"/>
          <p:cNvSpPr/>
          <p:nvPr/>
        </p:nvSpPr>
        <p:spPr>
          <a:xfrm>
            <a:off x="8211312" y="3392424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8229600" y="3392424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680" dirty="0"/>
          </a:p>
        </p:txBody>
      </p:sp>
      <p:sp>
        <p:nvSpPr>
          <p:cNvPr id="114" name="Shape 111"/>
          <p:cNvSpPr/>
          <p:nvPr/>
        </p:nvSpPr>
        <p:spPr>
          <a:xfrm>
            <a:off x="9476232" y="3392424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494520" y="3392424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BHD</a:t>
            </a:r>
            <a:endParaRPr lang="en-US" sz="680" dirty="0"/>
          </a:p>
        </p:txBody>
      </p:sp>
      <p:sp>
        <p:nvSpPr>
          <p:cNvPr id="116" name="Shape 113"/>
          <p:cNvSpPr/>
          <p:nvPr/>
        </p:nvSpPr>
        <p:spPr>
          <a:xfrm>
            <a:off x="10741152" y="3392424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0759440" y="3392424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BHD</a:t>
            </a:r>
            <a:endParaRPr lang="en-US" sz="680" dirty="0"/>
          </a:p>
        </p:txBody>
      </p:sp>
      <p:sp>
        <p:nvSpPr>
          <p:cNvPr id="118" name="Shape 115"/>
          <p:cNvSpPr/>
          <p:nvPr/>
        </p:nvSpPr>
        <p:spPr>
          <a:xfrm>
            <a:off x="8211312" y="3547872"/>
            <a:ext cx="1264920" cy="155448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8229600" y="3547872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OPEX</a:t>
            </a:r>
            <a:endParaRPr lang="en-US" sz="680" dirty="0"/>
          </a:p>
        </p:txBody>
      </p:sp>
      <p:sp>
        <p:nvSpPr>
          <p:cNvPr id="120" name="Shape 117"/>
          <p:cNvSpPr/>
          <p:nvPr/>
        </p:nvSpPr>
        <p:spPr>
          <a:xfrm>
            <a:off x="9476232" y="3547872"/>
            <a:ext cx="1264920" cy="155448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9494520" y="3547872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BHD/yr</a:t>
            </a:r>
            <a:endParaRPr lang="en-US" sz="680" dirty="0"/>
          </a:p>
        </p:txBody>
      </p:sp>
      <p:sp>
        <p:nvSpPr>
          <p:cNvPr id="122" name="Shape 119"/>
          <p:cNvSpPr/>
          <p:nvPr/>
        </p:nvSpPr>
        <p:spPr>
          <a:xfrm>
            <a:off x="10741152" y="3547872"/>
            <a:ext cx="1264920" cy="155448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10759440" y="3547872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BHD/yr</a:t>
            </a:r>
            <a:endParaRPr lang="en-US" sz="680" dirty="0"/>
          </a:p>
        </p:txBody>
      </p:sp>
      <p:sp>
        <p:nvSpPr>
          <p:cNvPr id="124" name="Shape 121"/>
          <p:cNvSpPr/>
          <p:nvPr/>
        </p:nvSpPr>
        <p:spPr>
          <a:xfrm>
            <a:off x="8211312" y="3703320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8229600" y="3703320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 (25 yr)</a:t>
            </a:r>
            <a:endParaRPr lang="en-US" sz="680" dirty="0"/>
          </a:p>
        </p:txBody>
      </p:sp>
      <p:sp>
        <p:nvSpPr>
          <p:cNvPr id="126" name="Shape 123"/>
          <p:cNvSpPr/>
          <p:nvPr/>
        </p:nvSpPr>
        <p:spPr>
          <a:xfrm>
            <a:off x="9476232" y="3703320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4520" y="3703320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15,524 BHD</a:t>
            </a:r>
            <a:endParaRPr lang="en-US" sz="680" dirty="0"/>
          </a:p>
        </p:txBody>
      </p:sp>
      <p:sp>
        <p:nvSpPr>
          <p:cNvPr id="128" name="Shape 125"/>
          <p:cNvSpPr/>
          <p:nvPr/>
        </p:nvSpPr>
        <p:spPr>
          <a:xfrm>
            <a:off x="10741152" y="3703320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0759440" y="3703320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15,921 BHD</a:t>
            </a:r>
            <a:endParaRPr lang="en-US" sz="680" dirty="0"/>
          </a:p>
        </p:txBody>
      </p:sp>
      <p:sp>
        <p:nvSpPr>
          <p:cNvPr id="130" name="Shape 127"/>
          <p:cNvSpPr/>
          <p:nvPr/>
        </p:nvSpPr>
        <p:spPr>
          <a:xfrm>
            <a:off x="8211312" y="3858768"/>
            <a:ext cx="1264920" cy="155448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8229600" y="3858768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0.030 BHD/kWh</a:t>
            </a:r>
            <a:endParaRPr lang="en-US" sz="680" dirty="0"/>
          </a:p>
        </p:txBody>
      </p:sp>
      <p:sp>
        <p:nvSpPr>
          <p:cNvPr id="132" name="Shape 129"/>
          <p:cNvSpPr/>
          <p:nvPr/>
        </p:nvSpPr>
        <p:spPr>
          <a:xfrm>
            <a:off x="9476232" y="3858768"/>
            <a:ext cx="1264920" cy="155448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4520" y="3858768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680" dirty="0"/>
          </a:p>
        </p:txBody>
      </p:sp>
      <p:sp>
        <p:nvSpPr>
          <p:cNvPr id="134" name="Shape 131"/>
          <p:cNvSpPr/>
          <p:nvPr/>
        </p:nvSpPr>
        <p:spPr>
          <a:xfrm>
            <a:off x="10741152" y="3858768"/>
            <a:ext cx="1264920" cy="155448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0759440" y="3858768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−397 BHD</a:t>
            </a:r>
            <a:endParaRPr lang="en-US" sz="680" dirty="0"/>
          </a:p>
        </p:txBody>
      </p:sp>
      <p:sp>
        <p:nvSpPr>
          <p:cNvPr id="136" name="Shape 133"/>
          <p:cNvSpPr/>
          <p:nvPr/>
        </p:nvSpPr>
        <p:spPr>
          <a:xfrm>
            <a:off x="8211312" y="4014216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8229600" y="4014216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0.040 BHD/kWh</a:t>
            </a:r>
            <a:endParaRPr lang="en-US" sz="680" dirty="0"/>
          </a:p>
        </p:txBody>
      </p:sp>
      <p:sp>
        <p:nvSpPr>
          <p:cNvPr id="138" name="Shape 135"/>
          <p:cNvSpPr/>
          <p:nvPr/>
        </p:nvSpPr>
        <p:spPr>
          <a:xfrm>
            <a:off x="9476232" y="4014216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9494520" y="4014216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680" dirty="0"/>
          </a:p>
        </p:txBody>
      </p:sp>
      <p:sp>
        <p:nvSpPr>
          <p:cNvPr id="140" name="Shape 137"/>
          <p:cNvSpPr/>
          <p:nvPr/>
        </p:nvSpPr>
        <p:spPr>
          <a:xfrm>
            <a:off x="10741152" y="4014216"/>
            <a:ext cx="1264920" cy="15544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0759440" y="4014216"/>
            <a:ext cx="1228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+3,142 BHD ✓</a:t>
            </a:r>
            <a:endParaRPr lang="en-US" sz="680" dirty="0"/>
          </a:p>
        </p:txBody>
      </p:sp>
      <p:sp>
        <p:nvSpPr>
          <p:cNvPr id="142" name="Shape 139"/>
          <p:cNvSpPr/>
          <p:nvPr/>
        </p:nvSpPr>
        <p:spPr>
          <a:xfrm>
            <a:off x="8165592" y="4251960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140"/>
          <p:cNvSpPr/>
          <p:nvPr/>
        </p:nvSpPr>
        <p:spPr>
          <a:xfrm>
            <a:off x="8165592" y="4251960"/>
            <a:ext cx="38862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8238744" y="42565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 Key Results — Environmental Impact</a:t>
            </a:r>
            <a:endParaRPr lang="en-US" sz="800" dirty="0"/>
          </a:p>
        </p:txBody>
      </p:sp>
      <p:sp>
        <p:nvSpPr>
          <p:cNvPr id="145" name="Text 142"/>
          <p:cNvSpPr/>
          <p:nvPr/>
        </p:nvSpPr>
        <p:spPr>
          <a:xfrm>
            <a:off x="8211312" y="4498848"/>
            <a:ext cx="1203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t</a:t>
            </a:r>
            <a:endParaRPr lang="en-US" sz="1600" dirty="0"/>
          </a:p>
        </p:txBody>
      </p:sp>
      <p:sp>
        <p:nvSpPr>
          <p:cNvPr id="146" name="Text 143"/>
          <p:cNvSpPr/>
          <p:nvPr/>
        </p:nvSpPr>
        <p:spPr>
          <a:xfrm>
            <a:off x="8211312" y="4727448"/>
            <a:ext cx="1203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Reduction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(25-yr lifecycle)</a:t>
            </a:r>
            <a:endParaRPr lang="en-US" sz="620" dirty="0"/>
          </a:p>
        </p:txBody>
      </p:sp>
      <p:sp>
        <p:nvSpPr>
          <p:cNvPr id="147" name="Text 144"/>
          <p:cNvSpPr/>
          <p:nvPr/>
        </p:nvSpPr>
        <p:spPr>
          <a:xfrm>
            <a:off x="9506712" y="4498848"/>
            <a:ext cx="1203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48" name="Text 145"/>
          <p:cNvSpPr/>
          <p:nvPr/>
        </p:nvSpPr>
        <p:spPr>
          <a:xfrm>
            <a:off x="9506712" y="4727448"/>
            <a:ext cx="1203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620" dirty="0"/>
          </a:p>
        </p:txBody>
      </p:sp>
      <p:sp>
        <p:nvSpPr>
          <p:cNvPr id="149" name="Text 146"/>
          <p:cNvSpPr/>
          <p:nvPr/>
        </p:nvSpPr>
        <p:spPr>
          <a:xfrm>
            <a:off x="10802112" y="4498848"/>
            <a:ext cx="1203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600" dirty="0"/>
          </a:p>
        </p:txBody>
      </p:sp>
      <p:sp>
        <p:nvSpPr>
          <p:cNvPr id="150" name="Text 147"/>
          <p:cNvSpPr/>
          <p:nvPr/>
        </p:nvSpPr>
        <p:spPr>
          <a:xfrm>
            <a:off x="10802112" y="4727448"/>
            <a:ext cx="1203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Drift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620" dirty="0"/>
          </a:p>
        </p:txBody>
      </p:sp>
      <p:sp>
        <p:nvSpPr>
          <p:cNvPr id="151" name="Shape 148"/>
          <p:cNvSpPr/>
          <p:nvPr/>
        </p:nvSpPr>
        <p:spPr>
          <a:xfrm>
            <a:off x="8165592" y="4974336"/>
            <a:ext cx="3886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149"/>
          <p:cNvSpPr/>
          <p:nvPr/>
        </p:nvSpPr>
        <p:spPr>
          <a:xfrm>
            <a:off x="8165592" y="4974336"/>
            <a:ext cx="3886200" cy="228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8238744" y="49789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 Subsidy Sensitivity Analysis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8211312" y="5202936"/>
            <a:ext cx="948690" cy="93269"/>
          </a:xfrm>
          <a:prstGeom prst="rect">
            <a:avLst/>
          </a:prstGeom>
          <a:solidFill>
            <a:srgbClr val="2E86AB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8211312" y="5202936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</a:t>
            </a:r>
            <a:endParaRPr lang="en-US" sz="650" dirty="0"/>
          </a:p>
        </p:txBody>
      </p:sp>
      <p:sp>
        <p:nvSpPr>
          <p:cNvPr id="156" name="Shape 153"/>
          <p:cNvSpPr/>
          <p:nvPr/>
        </p:nvSpPr>
        <p:spPr>
          <a:xfrm>
            <a:off x="9160002" y="5202936"/>
            <a:ext cx="948690" cy="93269"/>
          </a:xfrm>
          <a:prstGeom prst="rect">
            <a:avLst/>
          </a:prstGeom>
          <a:solidFill>
            <a:srgbClr val="2E86AB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160002" y="5202936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Incr. CAPEX</a:t>
            </a:r>
            <a:endParaRPr lang="en-US" sz="650" dirty="0"/>
          </a:p>
        </p:txBody>
      </p:sp>
      <p:sp>
        <p:nvSpPr>
          <p:cNvPr id="158" name="Shape 155"/>
          <p:cNvSpPr/>
          <p:nvPr/>
        </p:nvSpPr>
        <p:spPr>
          <a:xfrm>
            <a:off x="10108692" y="5202936"/>
            <a:ext cx="948690" cy="93269"/>
          </a:xfrm>
          <a:prstGeom prst="rect">
            <a:avLst/>
          </a:prstGeom>
          <a:solidFill>
            <a:srgbClr val="2E86AB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10108692" y="5202936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SPBP</a:t>
            </a:r>
            <a:endParaRPr lang="en-US" sz="650" dirty="0"/>
          </a:p>
        </p:txBody>
      </p:sp>
      <p:sp>
        <p:nvSpPr>
          <p:cNvPr id="160" name="Shape 157"/>
          <p:cNvSpPr/>
          <p:nvPr/>
        </p:nvSpPr>
        <p:spPr>
          <a:xfrm>
            <a:off x="11057382" y="5202936"/>
            <a:ext cx="948690" cy="93269"/>
          </a:xfrm>
          <a:prstGeom prst="rect">
            <a:avLst/>
          </a:prstGeom>
          <a:solidFill>
            <a:srgbClr val="2E86AB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11057382" y="5202936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650" dirty="0"/>
          </a:p>
        </p:txBody>
      </p:sp>
      <p:sp>
        <p:nvSpPr>
          <p:cNvPr id="162" name="Shape 159"/>
          <p:cNvSpPr/>
          <p:nvPr/>
        </p:nvSpPr>
        <p:spPr>
          <a:xfrm>
            <a:off x="8211312" y="5296205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8211312" y="5296205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(Baseline)</a:t>
            </a:r>
            <a:endParaRPr lang="en-US" sz="650" dirty="0"/>
          </a:p>
        </p:txBody>
      </p:sp>
      <p:sp>
        <p:nvSpPr>
          <p:cNvPr id="164" name="Shape 161"/>
          <p:cNvSpPr/>
          <p:nvPr/>
        </p:nvSpPr>
        <p:spPr>
          <a:xfrm>
            <a:off x="9160002" y="5296205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9160002" y="5296205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BHD</a:t>
            </a:r>
            <a:endParaRPr lang="en-US" sz="650" dirty="0"/>
          </a:p>
        </p:txBody>
      </p:sp>
      <p:sp>
        <p:nvSpPr>
          <p:cNvPr id="166" name="Shape 163"/>
          <p:cNvSpPr/>
          <p:nvPr/>
        </p:nvSpPr>
        <p:spPr>
          <a:xfrm>
            <a:off x="10108692" y="5296205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10108692" y="5296205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yr</a:t>
            </a:r>
            <a:endParaRPr lang="en-US" sz="650" dirty="0"/>
          </a:p>
        </p:txBody>
      </p:sp>
      <p:sp>
        <p:nvSpPr>
          <p:cNvPr id="168" name="Shape 165"/>
          <p:cNvSpPr/>
          <p:nvPr/>
        </p:nvSpPr>
        <p:spPr>
          <a:xfrm>
            <a:off x="11057382" y="5296205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1057382" y="5296205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viable</a:t>
            </a:r>
            <a:endParaRPr lang="en-US" sz="650" dirty="0"/>
          </a:p>
        </p:txBody>
      </p:sp>
      <p:sp>
        <p:nvSpPr>
          <p:cNvPr id="170" name="Shape 167"/>
          <p:cNvSpPr/>
          <p:nvPr/>
        </p:nvSpPr>
        <p:spPr>
          <a:xfrm>
            <a:off x="8211312" y="5389474"/>
            <a:ext cx="948690" cy="93269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8211312" y="5389474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650" dirty="0"/>
          </a:p>
        </p:txBody>
      </p:sp>
      <p:sp>
        <p:nvSpPr>
          <p:cNvPr id="172" name="Shape 169"/>
          <p:cNvSpPr/>
          <p:nvPr/>
        </p:nvSpPr>
        <p:spPr>
          <a:xfrm>
            <a:off x="9160002" y="5389474"/>
            <a:ext cx="948690" cy="93269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9160002" y="5389474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5,475 BHD</a:t>
            </a:r>
            <a:endParaRPr lang="en-US" sz="650" dirty="0"/>
          </a:p>
        </p:txBody>
      </p:sp>
      <p:sp>
        <p:nvSpPr>
          <p:cNvPr id="174" name="Shape 171"/>
          <p:cNvSpPr/>
          <p:nvPr/>
        </p:nvSpPr>
        <p:spPr>
          <a:xfrm>
            <a:off x="10108692" y="5389474"/>
            <a:ext cx="948690" cy="93269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10108692" y="5389474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 yr</a:t>
            </a:r>
            <a:endParaRPr lang="en-US" sz="650" dirty="0"/>
          </a:p>
        </p:txBody>
      </p:sp>
      <p:sp>
        <p:nvSpPr>
          <p:cNvPr id="176" name="Shape 173"/>
          <p:cNvSpPr/>
          <p:nvPr/>
        </p:nvSpPr>
        <p:spPr>
          <a:xfrm>
            <a:off x="11057382" y="5389474"/>
            <a:ext cx="948690" cy="93269"/>
          </a:xfrm>
          <a:prstGeom prst="rect">
            <a:avLst/>
          </a:prstGeom>
          <a:solidFill>
            <a:srgbClr val="EEF3F8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11057382" y="5389474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650" dirty="0"/>
          </a:p>
        </p:txBody>
      </p:sp>
      <p:sp>
        <p:nvSpPr>
          <p:cNvPr id="178" name="Shape 175"/>
          <p:cNvSpPr/>
          <p:nvPr/>
        </p:nvSpPr>
        <p:spPr>
          <a:xfrm>
            <a:off x="8211312" y="5482742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8211312" y="5482742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650" dirty="0"/>
          </a:p>
        </p:txBody>
      </p:sp>
      <p:sp>
        <p:nvSpPr>
          <p:cNvPr id="180" name="Shape 177"/>
          <p:cNvSpPr/>
          <p:nvPr/>
        </p:nvSpPr>
        <p:spPr>
          <a:xfrm>
            <a:off x="9160002" y="5482742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9160002" y="5482742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5,125 BHD</a:t>
            </a:r>
            <a:endParaRPr lang="en-US" sz="650" dirty="0"/>
          </a:p>
        </p:txBody>
      </p:sp>
      <p:sp>
        <p:nvSpPr>
          <p:cNvPr id="182" name="Shape 179"/>
          <p:cNvSpPr/>
          <p:nvPr/>
        </p:nvSpPr>
        <p:spPr>
          <a:xfrm>
            <a:off x="10108692" y="5482742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10108692" y="5482742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 yr</a:t>
            </a:r>
            <a:endParaRPr lang="en-US" sz="650" dirty="0"/>
          </a:p>
        </p:txBody>
      </p:sp>
      <p:sp>
        <p:nvSpPr>
          <p:cNvPr id="184" name="Shape 181"/>
          <p:cNvSpPr/>
          <p:nvPr/>
        </p:nvSpPr>
        <p:spPr>
          <a:xfrm>
            <a:off x="11057382" y="5482742"/>
            <a:ext cx="948690" cy="93269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11057382" y="5482742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</a:t>
            </a:r>
            <a:endParaRPr lang="en-US" sz="650" dirty="0"/>
          </a:p>
        </p:txBody>
      </p:sp>
      <p:sp>
        <p:nvSpPr>
          <p:cNvPr id="186" name="Shape 183"/>
          <p:cNvSpPr/>
          <p:nvPr/>
        </p:nvSpPr>
        <p:spPr>
          <a:xfrm>
            <a:off x="8211312" y="5576011"/>
            <a:ext cx="948690" cy="93269"/>
          </a:xfrm>
          <a:prstGeom prst="rect">
            <a:avLst/>
          </a:prstGeom>
          <a:solidFill>
            <a:srgbClr val="F0F7F4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211312" y="5576011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50" dirty="0"/>
          </a:p>
        </p:txBody>
      </p:sp>
      <p:sp>
        <p:nvSpPr>
          <p:cNvPr id="188" name="Shape 185"/>
          <p:cNvSpPr/>
          <p:nvPr/>
        </p:nvSpPr>
        <p:spPr>
          <a:xfrm>
            <a:off x="9160002" y="5576011"/>
            <a:ext cx="948690" cy="93269"/>
          </a:xfrm>
          <a:prstGeom prst="rect">
            <a:avLst/>
          </a:prstGeom>
          <a:solidFill>
            <a:srgbClr val="F0F7F4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9160002" y="5576011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4,440 BHD</a:t>
            </a:r>
            <a:endParaRPr lang="en-US" sz="650" dirty="0"/>
          </a:p>
        </p:txBody>
      </p:sp>
      <p:sp>
        <p:nvSpPr>
          <p:cNvPr id="190" name="Shape 187"/>
          <p:cNvSpPr/>
          <p:nvPr/>
        </p:nvSpPr>
        <p:spPr>
          <a:xfrm>
            <a:off x="10108692" y="5576011"/>
            <a:ext cx="948690" cy="93269"/>
          </a:xfrm>
          <a:prstGeom prst="rect">
            <a:avLst/>
          </a:prstGeom>
          <a:solidFill>
            <a:srgbClr val="F0F7F4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10108692" y="5576011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yr</a:t>
            </a:r>
            <a:endParaRPr lang="en-US" sz="650" dirty="0"/>
          </a:p>
        </p:txBody>
      </p:sp>
      <p:sp>
        <p:nvSpPr>
          <p:cNvPr id="192" name="Shape 189"/>
          <p:cNvSpPr/>
          <p:nvPr/>
        </p:nvSpPr>
        <p:spPr>
          <a:xfrm>
            <a:off x="11057382" y="5576011"/>
            <a:ext cx="948690" cy="93269"/>
          </a:xfrm>
          <a:prstGeom prst="rect">
            <a:avLst/>
          </a:prstGeom>
          <a:solidFill>
            <a:srgbClr val="F0F7F4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11057382" y="5576011"/>
            <a:ext cx="948690" cy="93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✓</a:t>
            </a:r>
            <a:endParaRPr lang="en-US" sz="650" dirty="0"/>
          </a:p>
        </p:txBody>
      </p:sp>
      <p:sp>
        <p:nvSpPr>
          <p:cNvPr id="195" name="Shape 192"/>
          <p:cNvSpPr/>
          <p:nvPr/>
        </p:nvSpPr>
        <p:spPr>
          <a:xfrm>
            <a:off x="8165592" y="5687568"/>
            <a:ext cx="38862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8199882" y="56967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 Conclusion &amp; Future Work</a:t>
            </a:r>
            <a:endParaRPr lang="en-US" sz="800" dirty="0"/>
          </a:p>
        </p:txBody>
      </p:sp>
      <p:sp>
        <p:nvSpPr>
          <p:cNvPr id="197" name="Text 194"/>
          <p:cNvSpPr/>
          <p:nvPr/>
        </p:nvSpPr>
        <p:spPr>
          <a:xfrm>
            <a:off x="8211312" y="592850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198" name="Text 195"/>
          <p:cNvSpPr/>
          <p:nvPr/>
        </p:nvSpPr>
        <p:spPr>
          <a:xfrm>
            <a:off x="8268462" y="6050776"/>
            <a:ext cx="1783080" cy="374904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 4.51 — exceeds target (+80% vs ASHP)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drift +0.8°C ≤ +1.0°C target ✓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 competitive at 0.040 BHD/kWh tariff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t CO₂ prevented over 25-year life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10131552" y="6007608"/>
            <a:ext cx="0" cy="521208"/>
          </a:xfrm>
          <a:prstGeom prst="line">
            <a:avLst/>
          </a:prstGeom>
          <a:noFill/>
          <a:ln w="6350">
            <a:solidFill>
              <a:srgbClr val="C8D8E8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10065861" y="591616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750" dirty="0"/>
          </a:p>
        </p:txBody>
      </p:sp>
      <p:sp>
        <p:nvSpPr>
          <p:cNvPr id="201" name="Text 198"/>
          <p:cNvSpPr/>
          <p:nvPr/>
        </p:nvSpPr>
        <p:spPr>
          <a:xfrm>
            <a:off x="10108692" y="6029086"/>
            <a:ext cx="1901952" cy="324506"/>
          </a:xfrm>
          <a:prstGeom prst="rect">
            <a:avLst/>
          </a:prstGeom>
          <a:noFill/>
          <a:ln/>
        </p:spPr>
        <p:txBody>
          <a:bodyPr wrap="square" lIns="38100" tIns="38100" rIns="381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installation &amp; TRT soil validation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drilling subsidy — Vision 2030 lever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ESCO model with Bapco Energies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GCC: UAE, Saudi Arabia, Jordan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-423016" y="6909835"/>
            <a:ext cx="5957422" cy="269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|  Bahrain Polytechnic  |  Engineering Expo 2026  |  EN8914 Final Year Project</a:t>
            </a:r>
            <a:endParaRPr lang="en-US" sz="900" b="1" dirty="0"/>
          </a:p>
        </p:txBody>
      </p:sp>
      <p:pic>
        <p:nvPicPr>
          <p:cNvPr id="204" name="Picture 203" descr="A black and white logo&#10;&#10;AI-generated content may be incorrect.">
            <a:extLst>
              <a:ext uri="{FF2B5EF4-FFF2-40B4-BE49-F238E27FC236}">
                <a16:creationId xmlns:a16="http://schemas.microsoft.com/office/drawing/2014/main" id="{2673CFD0-B705-BBFA-559E-686C6CDF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272" y="161050"/>
            <a:ext cx="2458550" cy="1070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878</Words>
  <Application>Microsoft Office PowerPoint</Application>
  <PresentationFormat>Widescreen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 Mwangi</cp:lastModifiedBy>
  <cp:revision>2</cp:revision>
  <dcterms:created xsi:type="dcterms:W3CDTF">2026-05-06T05:28:08Z</dcterms:created>
  <dcterms:modified xsi:type="dcterms:W3CDTF">2026-05-06T05:47:38Z</dcterms:modified>
</cp:coreProperties>
</file>