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5" r:id="rId15"/>
    <p:sldId id="266" r:id="rId16"/>
    <p:sldId id="259" r:id="rId5"/>
    <p:sldId id="260" r:id="rId6"/>
    <p:sldId id="261" r:id="rId7"/>
    <p:sldId id="262" r:id="rId8"/>
    <p:sldId id="267" r:id="rId17"/>
    <p:sldId id="268" r:id="rId18"/>
    <p:sldId id="263" r:id="rId9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926080"/>
            <a:ext cx="5029200" cy="5029200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914400" cy="9144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73152"/>
            <a:ext cx="260604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97280"/>
            <a:ext cx="7772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Solar-Assisted Ground Source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(SA-GSHP)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548640" y="29260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Techno-Economic Feasibility for Residential Cooling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Kingdom of Bahrain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39319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Batoog  ·  Eissa Alshammary  ·  Jasim Helal  ·  Ahmed Almomen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EN8914 – Final Year Project  ·  Supervised by: Dr. Belal Elsayed  ·  2025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" y="-45720"/>
            <a:ext cx="3474720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274320"/>
            <a:ext cx="1828800" cy="3200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"/>
            <a:ext cx="1874520" cy="34747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77240" y="73152"/>
            <a:ext cx="621792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804672" y="73152"/>
            <a:ext cx="6172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7" name="Shape 2"/>
          <p:cNvSpPr/>
          <p:nvPr/>
        </p:nvSpPr>
        <p:spPr>
          <a:xfrm>
            <a:off x="777240" y="640080"/>
            <a:ext cx="8229600" cy="914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914400" y="841248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914400" y="84124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914400" y="1133856"/>
            <a:ext cx="2514600" cy="3657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005840" y="85039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Cooling Demand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024128" y="1572768"/>
            <a:ext cx="23042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cooling accounts for over 70% of Bahrain's peak summer electricity demand, driven by ambient temperatures routinely exceeding 45°C.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005840" y="4480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Alotaibi &amp; Alhuyi Nazari (2023)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657600" y="841248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657600" y="84124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657600" y="1133856"/>
            <a:ext cx="2514600" cy="3657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749040" y="85039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ASHP Efficiency Loss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767328" y="1572768"/>
            <a:ext cx="23042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Air Source Heat Pumps (ASHPs) suffer severe efficiency degradation at high temperatures — SCOP drops to just 2.5 in GCC conditions.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3749040" y="4480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Maghrabie et al. (2023)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400800" y="841248"/>
            <a:ext cx="2514600" cy="4069080"/>
          </a:xfrm>
          <a:prstGeom prst="roundRect">
            <a:avLst>
              <a:gd name="adj" fmla="val 2909"/>
            </a:avLst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00800" y="841248"/>
            <a:ext cx="2514600" cy="658368"/>
          </a:xfrm>
          <a:prstGeom prst="roundRect">
            <a:avLst>
              <a:gd name="adj" fmla="val 11111"/>
            </a:avLst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0" y="1133856"/>
            <a:ext cx="2514600" cy="3657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92240" y="850392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Thermal Imbalance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510528" y="1572768"/>
            <a:ext cx="2304288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solar regeneration, cooling-dominant GSHPs accumulate heat in the borehole field: +4.2°C drift over 20 years, progressively degrading performance.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92240" y="44805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Bae &amp; Nam (2022)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" y="-45720"/>
            <a:ext cx="3474720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274320"/>
            <a:ext cx="1828800" cy="3200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"/>
            <a:ext cx="1874520" cy="34747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77240" y="73152"/>
            <a:ext cx="621792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804672" y="73152"/>
            <a:ext cx="6172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Methodology</a:t>
            </a:r>
            <a:endParaRPr lang="en-US" sz="2200" dirty="0"/>
          </a:p>
        </p:txBody>
      </p:sp>
      <p:sp>
        <p:nvSpPr>
          <p:cNvPr id="7" name="Shape 2"/>
          <p:cNvSpPr/>
          <p:nvPr/>
        </p:nvSpPr>
        <p:spPr>
          <a:xfrm>
            <a:off x="777240" y="640080"/>
            <a:ext cx="8229600" cy="914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914400" y="8229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SA-GSHP System Components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914400" y="1234440"/>
            <a:ext cx="54864" cy="56692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1024128" y="1234440"/>
            <a:ext cx="356616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6EAF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078992" y="1252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Borehole Field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078992" y="15087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100 m vertical U-tubes · HDPE 26/32 mm · k = 2.5 W/m·K · UGT = 30°C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14400" y="1984248"/>
            <a:ext cx="54864" cy="56692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1024128" y="1984248"/>
            <a:ext cx="356616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6EAF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078992" y="20025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Collectors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1078992" y="225856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1,212 m² flat-plate array · η₀ = 86.3% · South-facing at 26° tilt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14400" y="2734056"/>
            <a:ext cx="54864" cy="56692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024128" y="2734056"/>
            <a:ext cx="356616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6EAF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78992" y="27523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Tank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078992" y="300837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m³ stratified, 47 m² internal heat exchanger (10-node Type 4c)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914400" y="3483864"/>
            <a:ext cx="54864" cy="56692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24128" y="3483864"/>
            <a:ext cx="356616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6EAF8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78992" y="35021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Pump Units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1078992" y="375818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parallel water-to-water units · 312 kW cooling / 52 kW input · R-407C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14400" y="4233672"/>
            <a:ext cx="54864" cy="56692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24128" y="4233672"/>
            <a:ext cx="356616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6EAF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78992" y="42519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Load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1078992" y="45079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m² villa · 25 kW peak · 70,000 kWh/yr · setpoint 24°C (Manama)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489204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892040" y="1307592"/>
            <a:ext cx="329184" cy="329184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892040" y="13075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5321808" y="1234440"/>
            <a:ext cx="3520440" cy="804672"/>
          </a:xfrm>
          <a:prstGeom prst="rect">
            <a:avLst/>
          </a:prstGeom>
          <a:solidFill>
            <a:srgbClr val="D6EAF8"/>
          </a:solidFill>
          <a:ln w="6350">
            <a:solidFill>
              <a:srgbClr val="A8C6E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394960" y="12710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TRNSYS 18 Simulation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5394960" y="1536192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20-year dynamic model (175,200 hrs), 1-hr timestep, TMY data for Manama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892040" y="2258568"/>
            <a:ext cx="329184" cy="329184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892040" y="22585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5321808" y="2185416"/>
            <a:ext cx="3520440" cy="804672"/>
          </a:xfrm>
          <a:prstGeom prst="rect">
            <a:avLst/>
          </a:prstGeom>
          <a:solidFill>
            <a:srgbClr val="D6EAF8"/>
          </a:solidFill>
          <a:ln w="6350">
            <a:solidFill>
              <a:srgbClr val="A8C6E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5394960" y="222199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Regeneration Control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5394960" y="2487168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 Nov–Feb when collector outlet &gt; tank top + 5°C; limits ground drift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4892040" y="3209544"/>
            <a:ext cx="329184" cy="329184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4892040" y="32095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5321808" y="3136392"/>
            <a:ext cx="3520440" cy="804672"/>
          </a:xfrm>
          <a:prstGeom prst="rect">
            <a:avLst/>
          </a:prstGeom>
          <a:solidFill>
            <a:srgbClr val="D6EAF8"/>
          </a:solidFill>
          <a:ln w="6350">
            <a:solidFill>
              <a:srgbClr val="A8C6E0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5394960" y="31729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Techno-Economic Analysis</a:t>
            </a:r>
            <a:endParaRPr lang="en-US" sz="1150" dirty="0"/>
          </a:p>
        </p:txBody>
      </p:sp>
      <p:sp>
        <p:nvSpPr>
          <p:cNvPr id="44" name="Text 39"/>
          <p:cNvSpPr/>
          <p:nvPr/>
        </p:nvSpPr>
        <p:spPr>
          <a:xfrm>
            <a:off x="5394960" y="3438144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25-yr LCC at 5% discount rate; subsidy sensitivity 0–40%; tariff 0.030–0.060 BHD/kWh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892040" y="4160520"/>
            <a:ext cx="329184" cy="329184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892040" y="41605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5321808" y="4087368"/>
            <a:ext cx="3520440" cy="804672"/>
          </a:xfrm>
          <a:prstGeom prst="rect">
            <a:avLst/>
          </a:prstGeom>
          <a:solidFill>
            <a:srgbClr val="D6EAF8"/>
          </a:solidFill>
          <a:ln w="6350">
            <a:solidFill>
              <a:srgbClr val="A8C6E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5394960" y="41239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Assessment</a:t>
            </a:r>
            <a:endParaRPr lang="en-US" sz="1150" dirty="0"/>
          </a:p>
        </p:txBody>
      </p:sp>
      <p:sp>
        <p:nvSpPr>
          <p:cNvPr id="49" name="Text 44"/>
          <p:cNvSpPr/>
          <p:nvPr/>
        </p:nvSpPr>
        <p:spPr>
          <a:xfrm>
            <a:off x="5394960" y="43891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savings using IEA factor 0.62 kg CO₂/kWh; water elimination quantified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4892040" y="4846320"/>
            <a:ext cx="3950208" cy="20116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919472" y="4846320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Model validated: all key metrics within &lt;10% relative error (Belliardi et al., 2023)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imul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g"/>
          <p:cNvSpPr/>
          <p:nvPr/>
        </p:nvSpPr>
        <p:spPr>
          <a:xfrm>
            <a:off x="777240" y="73152"/>
            <a:ext cx="731520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</a:ln>
        </p:spPr>
      </p:sp>
      <p:sp>
        <p:nvSpPr>
          <p:cNvPr id="3" name="TitleText"/>
          <p:cNvSpPr/>
          <p:nvPr/>
        </p:nvSpPr>
        <p:spPr>
          <a:xfrm>
            <a:off x="804672" y="73152"/>
            <a:ext cx="7287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Simulation Model — TRNSYS 18</a:t>
            </a:r>
          </a:p>
        </p:txBody>
      </p:sp>
      <p:sp>
        <p:nvSpPr>
          <p:cNvPr id="4" name="OrangeBar"/>
          <p:cNvSpPr/>
          <p:nvPr/>
        </p:nvSpPr>
        <p:spPr>
          <a:xfrm>
            <a:off x="777240" y="640080"/>
            <a:ext cx="731520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</p:spPr>
      </p:sp>
      <p:sp>
        <p:nvSpPr>
          <p:cNvPr id="5" name="LeftHeader"/>
          <p:cNvSpPr/>
          <p:nvPr/>
        </p:nvSpPr>
        <p:spPr>
          <a:xfrm>
            <a:off x="777240" y="768096"/>
            <a:ext cx="3840480" cy="29260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</a:ln>
        </p:spPr>
      </p:sp>
      <p:sp>
        <p:nvSpPr>
          <p:cNvPr id="6" name="LeftHeaderTxt"/>
          <p:cNvSpPr/>
          <p:nvPr/>
        </p:nvSpPr>
        <p:spPr>
          <a:xfrm>
            <a:off x="822960" y="76809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Software Platform &amp; Configuration</a:t>
            </a:r>
          </a:p>
        </p:txBody>
      </p:sp>
      <p:sp>
        <p:nvSpPr>
          <p:cNvPr id="7" name="C1Bg"/>
          <p:cNvSpPr/>
          <p:nvPr/>
        </p:nvSpPr>
        <p:spPr>
          <a:xfrm>
            <a:off x="777240" y="1097280"/>
            <a:ext cx="3840480" cy="511056"/>
          </a:xfrm>
          <a:prstGeom prst="rect">
            <a:avLst/>
          </a:prstGeom>
          <a:solidFill>
            <a:srgbClr val="EBF5FB"/>
          </a:solidFill>
          <a:ln w="9525">
            <a:solidFill>
              <a:srgbClr val="AED6F1"/>
            </a:solidFill>
          </a:ln>
        </p:spPr>
      </p:sp>
      <p:sp>
        <p:nvSpPr>
          <p:cNvPr id="8" name="C1Bar"/>
          <p:cNvSpPr/>
          <p:nvPr/>
        </p:nvSpPr>
        <p:spPr>
          <a:xfrm>
            <a:off x="777240" y="1097280"/>
            <a:ext cx="54864" cy="511056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</a:ln>
        </p:spPr>
      </p:sp>
      <p:sp>
        <p:nvSpPr>
          <p:cNvPr id="9" name="C1Txt"/>
          <p:cNvSpPr/>
          <p:nvPr/>
        </p:nvSpPr>
        <p:spPr>
          <a:xfrm>
            <a:off x="868680" y="1115000"/>
            <a:ext cx="3730320" cy="4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</a:rPr>
              <a:t>TRNSYS 18 — Primary Engine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</a:rPr>
              <a:t>20-yr dynamic model (175,200 hrs), 1-hr timestep. TMY weather data for Manama, Bahrain. Ground-loop modelled via Type 557.</a:t>
            </a:r>
          </a:p>
        </p:txBody>
      </p:sp>
      <p:sp>
        <p:nvSpPr>
          <p:cNvPr id="10" name="C2Bg"/>
          <p:cNvSpPr/>
          <p:nvPr/>
        </p:nvSpPr>
        <p:spPr>
          <a:xfrm>
            <a:off x="777240" y="1645920"/>
            <a:ext cx="3840480" cy="511056"/>
          </a:xfrm>
          <a:prstGeom prst="rect">
            <a:avLst/>
          </a:prstGeom>
          <a:solidFill>
            <a:srgbClr val="EBF5FB"/>
          </a:solidFill>
          <a:ln w="9525">
            <a:solidFill>
              <a:srgbClr val="AED6F1"/>
            </a:solidFill>
          </a:ln>
        </p:spPr>
      </p:sp>
      <p:sp>
        <p:nvSpPr>
          <p:cNvPr id="11" name="C2Bar"/>
          <p:cNvSpPr/>
          <p:nvPr/>
        </p:nvSpPr>
        <p:spPr>
          <a:xfrm>
            <a:off x="777240" y="1645920"/>
            <a:ext cx="54864" cy="51105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</p:spPr>
      </p:sp>
      <p:sp>
        <p:nvSpPr>
          <p:cNvPr id="12" name="C2Txt"/>
          <p:cNvSpPr/>
          <p:nvPr/>
        </p:nvSpPr>
        <p:spPr>
          <a:xfrm>
            <a:off x="868680" y="1663640"/>
            <a:ext cx="3730320" cy="4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</a:rPr>
              <a:t>TRNSYS Component Types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</a:rPr>
              <a:t>Type 557 (borehole) · Type 4c (buffer tank, 10-node) · Type 1b (solar collector) · Type 666 (heat pump)</a:t>
            </a:r>
          </a:p>
        </p:txBody>
      </p:sp>
      <p:sp>
        <p:nvSpPr>
          <p:cNvPr id="13" name="C3Bg"/>
          <p:cNvSpPr/>
          <p:nvPr/>
        </p:nvSpPr>
        <p:spPr>
          <a:xfrm>
            <a:off x="777240" y="2194560"/>
            <a:ext cx="3840480" cy="511056"/>
          </a:xfrm>
          <a:prstGeom prst="rect">
            <a:avLst/>
          </a:prstGeom>
          <a:solidFill>
            <a:srgbClr val="EAFAF1"/>
          </a:solidFill>
          <a:ln w="9525">
            <a:solidFill>
              <a:srgbClr val="A9DFBF"/>
            </a:solidFill>
          </a:ln>
        </p:spPr>
      </p:sp>
      <p:sp>
        <p:nvSpPr>
          <p:cNvPr id="14" name="C3Bar"/>
          <p:cNvSpPr/>
          <p:nvPr/>
        </p:nvSpPr>
        <p:spPr>
          <a:xfrm>
            <a:off x="777240" y="2194560"/>
            <a:ext cx="54864" cy="511056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</a:ln>
        </p:spPr>
      </p:sp>
      <p:sp>
        <p:nvSpPr>
          <p:cNvPr id="15" name="C3Txt"/>
          <p:cNvSpPr/>
          <p:nvPr/>
        </p:nvSpPr>
        <p:spPr>
          <a:xfrm>
            <a:off x="868680" y="2212280"/>
            <a:ext cx="3730320" cy="4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</a:rPr>
              <a:t>Model Validation ✔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</a:rPr>
              <a:t>All key metrics within &lt;10% relative error vs. Belliardi et al. (2023). Ground temperature, SCOP, and annual energy validated independently.</a:t>
            </a:r>
          </a:p>
        </p:txBody>
      </p:sp>
      <p:sp>
        <p:nvSpPr>
          <p:cNvPr id="16" name="C4Bg"/>
          <p:cNvSpPr/>
          <p:nvPr/>
        </p:nvSpPr>
        <p:spPr>
          <a:xfrm>
            <a:off x="777240" y="2743200"/>
            <a:ext cx="3840480" cy="511056"/>
          </a:xfrm>
          <a:prstGeom prst="rect">
            <a:avLst/>
          </a:prstGeom>
          <a:solidFill>
            <a:srgbClr val="EBF5FB"/>
          </a:solidFill>
          <a:ln w="9525">
            <a:solidFill>
              <a:srgbClr val="AED6F1"/>
            </a:solidFill>
          </a:ln>
        </p:spPr>
      </p:sp>
      <p:sp>
        <p:nvSpPr>
          <p:cNvPr id="17" name="C4Bar"/>
          <p:cNvSpPr/>
          <p:nvPr/>
        </p:nvSpPr>
        <p:spPr>
          <a:xfrm>
            <a:off x="777240" y="2743200"/>
            <a:ext cx="54864" cy="511056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</a:ln>
        </p:spPr>
      </p:sp>
      <p:sp>
        <p:nvSpPr>
          <p:cNvPr id="18" name="C4Txt"/>
          <p:cNvSpPr/>
          <p:nvPr/>
        </p:nvSpPr>
        <p:spPr>
          <a:xfrm>
            <a:off x="868680" y="2760920"/>
            <a:ext cx="3730320" cy="475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5E"/>
                </a:solidFill>
                <a:latin typeface="Calibri" pitchFamily="34" charset="0"/>
              </a:rPr>
              <a:t>Solar Regeneration Control Logic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</a:rPr>
              <a:t>Activates Nov–Feb when collector outlet temp &gt; tank top + 5°C. Limits 20-yr borehole drift to +0.8°C vs +4.2°C unmanaged.</a:t>
            </a:r>
          </a:p>
        </p:txBody>
      </p:sp>
      <p:sp>
        <p:nvSpPr>
          <p:cNvPr id="19" name="RHdr"/>
          <p:cNvSpPr/>
          <p:nvPr/>
        </p:nvSpPr>
        <p:spPr>
          <a:xfrm>
            <a:off x="4709040" y="768096"/>
            <a:ext cx="3687960" cy="29260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</a:ln>
        </p:spPr>
      </p:sp>
      <p:sp>
        <p:nvSpPr>
          <p:cNvPr id="20" name="RHdrTxt"/>
          <p:cNvSpPr/>
          <p:nvPr/>
        </p:nvSpPr>
        <p:spPr>
          <a:xfrm>
            <a:off x="4754760" y="768096"/>
            <a:ext cx="3641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</a:rPr>
              <a:t>Key Simulation Parameters</a:t>
            </a:r>
          </a:p>
        </p:txBody>
      </p:sp>
      <p:sp>
        <p:nvSpPr>
          <p:cNvPr id="21" name="THdr"/>
          <p:cNvSpPr/>
          <p:nvPr/>
        </p:nvSpPr>
        <p:spPr>
          <a:xfrm>
            <a:off x="4709040" y="1097280"/>
            <a:ext cx="3687960" cy="23731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</p:spPr>
      </p:sp>
      <p:sp>
        <p:nvSpPr>
          <p:cNvPr id="22" name="THdrTxt"/>
          <p:cNvSpPr/>
          <p:nvPr/>
        </p:nvSpPr>
        <p:spPr>
          <a:xfrm>
            <a:off x="4736472" y="1097280"/>
            <a:ext cx="3660528" cy="237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>Parameter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</a:rPr>
              <a:t xml:space="preserve">                              Value</a:t>
            </a:r>
          </a:p>
        </p:txBody>
      </p:sp>
      <p:sp>
        <p:nvSpPr>
          <p:cNvPr id="23" name="R1"/>
          <p:cNvSpPr/>
          <p:nvPr/>
        </p:nvSpPr>
        <p:spPr>
          <a:xfrm>
            <a:off x="4709040" y="1334592"/>
            <a:ext cx="3687960" cy="219456"/>
          </a:xfrm>
          <a:prstGeom prst="rect">
            <a:avLst/>
          </a:prstGeom>
          <a:solidFill>
            <a:srgbClr val="F2F3F4"/>
          </a:solidFill>
          <a:ln w="6350">
            <a:solidFill>
              <a:srgbClr val="D5D8DC"/>
            </a:solidFill>
          </a:ln>
        </p:spPr>
      </p:sp>
      <p:sp>
        <p:nvSpPr>
          <p:cNvPr id="24" name="R1T"/>
          <p:cNvSpPr/>
          <p:nvPr/>
        </p:nvSpPr>
        <p:spPr>
          <a:xfrm>
            <a:off x="4736472" y="1334592"/>
            <a:ext cx="3660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</a:rPr>
              <a:t>Simulation horizon</a:t>
            </a:r>
            <a:r>
              <a:rPr lang="en-US" sz="950" b="1" dirty="0">
                <a:solidFill>
                  <a:srgbClr val="1B2A5E"/>
                </a:solidFill>
                <a:latin typeface="Calibri" pitchFamily="34" charset="0"/>
              </a:rPr>
              <a:t xml:space="preserve">      20 yrs (175,200 hrs)</a:t>
            </a:r>
          </a:p>
        </p:txBody>
      </p:sp>
      <p:sp>
        <p:nvSpPr>
          <p:cNvPr id="25" name="R2"/>
          <p:cNvSpPr/>
          <p:nvPr/>
        </p:nvSpPr>
        <p:spPr>
          <a:xfrm>
            <a:off x="4709040" y="1554048"/>
            <a:ext cx="3687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</a:ln>
        </p:spPr>
      </p:sp>
      <p:sp>
        <p:nvSpPr>
          <p:cNvPr id="26" name="R2T"/>
          <p:cNvSpPr/>
          <p:nvPr/>
        </p:nvSpPr>
        <p:spPr>
          <a:xfrm>
            <a:off x="4736472" y="1554048"/>
            <a:ext cx="3660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</a:rPr>
              <a:t>Timestep</a:t>
            </a:r>
            <a:r>
              <a:rPr lang="en-US" sz="950" b="1" dirty="0">
                <a:solidFill>
                  <a:srgbClr val="1B2A5E"/>
                </a:solidFill>
                <a:latin typeface="Calibri" pitchFamily="34" charset="0"/>
              </a:rPr>
              <a:t xml:space="preserve">      1 hour</a:t>
            </a:r>
          </a:p>
        </p:txBody>
      </p:sp>
      <p:sp>
        <p:nvSpPr>
          <p:cNvPr id="27" name="R3"/>
          <p:cNvSpPr/>
          <p:nvPr/>
        </p:nvSpPr>
        <p:spPr>
          <a:xfrm>
            <a:off x="4709040" y="1773504"/>
            <a:ext cx="3687960" cy="219456"/>
          </a:xfrm>
          <a:prstGeom prst="rect">
            <a:avLst/>
          </a:prstGeom>
          <a:solidFill>
            <a:srgbClr val="F2F3F4"/>
          </a:solidFill>
          <a:ln w="6350">
            <a:solidFill>
              <a:srgbClr val="D5D8DC"/>
            </a:solidFill>
          </a:ln>
        </p:spPr>
      </p:sp>
      <p:sp>
        <p:nvSpPr>
          <p:cNvPr id="28" name="R3T"/>
          <p:cNvSpPr/>
          <p:nvPr/>
        </p:nvSpPr>
        <p:spPr>
          <a:xfrm>
            <a:off x="4736472" y="1773504"/>
            <a:ext cx="3660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</a:rPr>
              <a:t>Weather data</a:t>
            </a:r>
            <a:r>
              <a:rPr lang="en-US" sz="950" b="1" dirty="0">
                <a:solidFill>
                  <a:srgbClr val="1B2A5E"/>
                </a:solidFill>
                <a:latin typeface="Calibri" pitchFamily="34" charset="0"/>
              </a:rPr>
              <a:t xml:space="preserve">      TMY — Manama, Bahrain</a:t>
            </a:r>
          </a:p>
        </p:txBody>
      </p:sp>
      <p:sp>
        <p:nvSpPr>
          <p:cNvPr id="29" name="R4"/>
          <p:cNvSpPr/>
          <p:nvPr/>
        </p:nvSpPr>
        <p:spPr>
          <a:xfrm>
            <a:off x="4709040" y="1992960"/>
            <a:ext cx="3687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</a:ln>
        </p:spPr>
      </p:sp>
      <p:sp>
        <p:nvSpPr>
          <p:cNvPr id="30" name="R4T"/>
          <p:cNvSpPr/>
          <p:nvPr/>
        </p:nvSpPr>
        <p:spPr>
          <a:xfrm>
            <a:off x="4736472" y="1992960"/>
            <a:ext cx="3660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</a:rPr>
              <a:t>Undisturbed ground temp</a:t>
            </a:r>
            <a:r>
              <a:rPr lang="en-US" sz="950" b="1" dirty="0">
                <a:solidFill>
                  <a:srgbClr val="1B2A5E"/>
                </a:solidFill>
                <a:latin typeface="Calibri" pitchFamily="34" charset="0"/>
              </a:rPr>
              <a:t xml:space="preserve">      30°C</a:t>
            </a:r>
          </a:p>
        </p:txBody>
      </p:sp>
      <p:sp>
        <p:nvSpPr>
          <p:cNvPr id="31" name="R5"/>
          <p:cNvSpPr/>
          <p:nvPr/>
        </p:nvSpPr>
        <p:spPr>
          <a:xfrm>
            <a:off x="4709040" y="2212416"/>
            <a:ext cx="3687960" cy="219456"/>
          </a:xfrm>
          <a:prstGeom prst="rect">
            <a:avLst/>
          </a:prstGeom>
          <a:solidFill>
            <a:srgbClr val="F2F3F4"/>
          </a:solidFill>
          <a:ln w="6350">
            <a:solidFill>
              <a:srgbClr val="D5D8DC"/>
            </a:solidFill>
          </a:ln>
        </p:spPr>
      </p:sp>
      <p:sp>
        <p:nvSpPr>
          <p:cNvPr id="32" name="R5T"/>
          <p:cNvSpPr/>
          <p:nvPr/>
        </p:nvSpPr>
        <p:spPr>
          <a:xfrm>
            <a:off x="4736472" y="2212416"/>
            <a:ext cx="3660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</a:rPr>
              <a:t>Borehole config</a:t>
            </a:r>
            <a:r>
              <a:rPr lang="en-US" sz="950" b="1" dirty="0">
                <a:solidFill>
                  <a:srgbClr val="1B2A5E"/>
                </a:solidFill>
                <a:latin typeface="Calibri" pitchFamily="34" charset="0"/>
              </a:rPr>
              <a:t xml:space="preserve">      4 × 100 m vertical U-tubes</a:t>
            </a:r>
          </a:p>
        </p:txBody>
      </p:sp>
      <p:sp>
        <p:nvSpPr>
          <p:cNvPr id="33" name="R6"/>
          <p:cNvSpPr/>
          <p:nvPr/>
        </p:nvSpPr>
        <p:spPr>
          <a:xfrm>
            <a:off x="4709040" y="2431872"/>
            <a:ext cx="3687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</a:ln>
        </p:spPr>
      </p:sp>
      <p:sp>
        <p:nvSpPr>
          <p:cNvPr id="34" name="R6T"/>
          <p:cNvSpPr/>
          <p:nvPr/>
        </p:nvSpPr>
        <p:spPr>
          <a:xfrm>
            <a:off x="4736472" y="2431872"/>
            <a:ext cx="3660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</a:rPr>
              <a:t>Solar collector area</a:t>
            </a:r>
            <a:r>
              <a:rPr lang="en-US" sz="950" b="1" dirty="0">
                <a:solidFill>
                  <a:srgbClr val="1B2A5E"/>
                </a:solidFill>
                <a:latin typeface="Calibri" pitchFamily="34" charset="0"/>
              </a:rPr>
              <a:t xml:space="preserve">      1,212 m², η₀=86.3%</a:t>
            </a:r>
          </a:p>
        </p:txBody>
      </p:sp>
      <p:sp>
        <p:nvSpPr>
          <p:cNvPr id="35" name="R7"/>
          <p:cNvSpPr/>
          <p:nvPr/>
        </p:nvSpPr>
        <p:spPr>
          <a:xfrm>
            <a:off x="4709040" y="2651328"/>
            <a:ext cx="3687960" cy="219456"/>
          </a:xfrm>
          <a:prstGeom prst="rect">
            <a:avLst/>
          </a:prstGeom>
          <a:solidFill>
            <a:srgbClr val="F2F3F4"/>
          </a:solidFill>
          <a:ln w="6350">
            <a:solidFill>
              <a:srgbClr val="D5D8DC"/>
            </a:solidFill>
          </a:ln>
        </p:spPr>
      </p:sp>
      <p:sp>
        <p:nvSpPr>
          <p:cNvPr id="36" name="R7T"/>
          <p:cNvSpPr/>
          <p:nvPr/>
        </p:nvSpPr>
        <p:spPr>
          <a:xfrm>
            <a:off x="4736472" y="2651328"/>
            <a:ext cx="3660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</a:rPr>
              <a:t>Buffer tank</a:t>
            </a:r>
            <a:r>
              <a:rPr lang="en-US" sz="950" b="1" dirty="0">
                <a:solidFill>
                  <a:srgbClr val="1B2A5E"/>
                </a:solidFill>
                <a:latin typeface="Calibri" pitchFamily="34" charset="0"/>
              </a:rPr>
              <a:t xml:space="preserve">      58 m³, 10-node stratified</a:t>
            </a:r>
          </a:p>
        </p:txBody>
      </p:sp>
      <p:sp>
        <p:nvSpPr>
          <p:cNvPr id="37" name="R8"/>
          <p:cNvSpPr/>
          <p:nvPr/>
        </p:nvSpPr>
        <p:spPr>
          <a:xfrm>
            <a:off x="4709040" y="2870784"/>
            <a:ext cx="368796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</a:ln>
        </p:spPr>
      </p:sp>
      <p:sp>
        <p:nvSpPr>
          <p:cNvPr id="38" name="R8T"/>
          <p:cNvSpPr/>
          <p:nvPr/>
        </p:nvSpPr>
        <p:spPr>
          <a:xfrm>
            <a:off x="4736472" y="2870784"/>
            <a:ext cx="3660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</a:rPr>
              <a:t>Heat pump capacity</a:t>
            </a:r>
            <a:r>
              <a:rPr lang="en-US" sz="950" b="1" dirty="0">
                <a:solidFill>
                  <a:srgbClr val="1B2A5E"/>
                </a:solidFill>
                <a:latin typeface="Calibri" pitchFamily="34" charset="0"/>
              </a:rPr>
              <a:t xml:space="preserve">      2 × 312 kW, R-407C</a:t>
            </a:r>
          </a:p>
        </p:txBody>
      </p:sp>
      <p:sp>
        <p:nvSpPr>
          <p:cNvPr id="39" name="R9"/>
          <p:cNvSpPr/>
          <p:nvPr/>
        </p:nvSpPr>
        <p:spPr>
          <a:xfrm>
            <a:off x="4709040" y="3090240"/>
            <a:ext cx="3687960" cy="219456"/>
          </a:xfrm>
          <a:prstGeom prst="rect">
            <a:avLst/>
          </a:prstGeom>
          <a:solidFill>
            <a:srgbClr val="F2F3F4"/>
          </a:solidFill>
          <a:ln w="6350">
            <a:solidFill>
              <a:srgbClr val="D5D8DC"/>
            </a:solidFill>
          </a:ln>
        </p:spPr>
      </p:sp>
      <p:sp>
        <p:nvSpPr>
          <p:cNvPr id="40" name="R9T"/>
          <p:cNvSpPr/>
          <p:nvPr/>
        </p:nvSpPr>
        <p:spPr>
          <a:xfrm>
            <a:off x="4736472" y="3090240"/>
            <a:ext cx="3660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</a:rPr>
              <a:t>Building load / setpoint</a:t>
            </a:r>
            <a:r>
              <a:rPr lang="en-US" sz="950" b="1" dirty="0">
                <a:solidFill>
                  <a:srgbClr val="1B2A5E"/>
                </a:solidFill>
                <a:latin typeface="Calibri" pitchFamily="34" charset="0"/>
              </a:rPr>
              <a:t xml:space="preserve">      70,000 kWh/yr / 24°C</a:t>
            </a:r>
          </a:p>
        </p:txBody>
      </p:sp>
      <p:sp>
        <p:nvSpPr>
          <p:cNvPr id="41" name="Note"/>
          <p:cNvSpPr/>
          <p:nvPr/>
        </p:nvSpPr>
        <p:spPr>
          <a:xfrm>
            <a:off x="777240" y="3800000"/>
            <a:ext cx="7315200" cy="20116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</a:ln>
        </p:spPr>
      </p:sp>
      <p:sp>
        <p:nvSpPr>
          <p:cNvPr id="42" name="NoteTxt"/>
          <p:cNvSpPr/>
          <p:nvPr/>
        </p:nvSpPr>
        <p:spPr>
          <a:xfrm>
            <a:off x="822960" y="3800000"/>
            <a:ext cx="7269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Note: EnergyPlus/OpenStudio reviewed as cross-validation tool; TRNSYS 18 selected as primary engine for superior transient ground-loop modelling via Type 557.</a:t>
            </a:r>
          </a:p>
        </p:txBody>
      </p:sp>
      <p:sp>
        <p:nvSpPr>
          <p:cNvPr id="43" name="SN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lowDiagra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g"/>
          <p:cNvSpPr/>
          <p:nvPr/>
        </p:nvSpPr>
        <p:spPr>
          <a:xfrm>
            <a:off x="777240" y="73152"/>
            <a:ext cx="731520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</a:ln>
        </p:spPr>
      </p:sp>
      <p:sp>
        <p:nvSpPr>
          <p:cNvPr id="3" name="TTxt"/>
          <p:cNvSpPr/>
          <p:nvPr/>
        </p:nvSpPr>
        <p:spPr>
          <a:xfrm>
            <a:off x="804672" y="73152"/>
            <a:ext cx="7287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SA-GSHP System Flow Diagram</a:t>
            </a:r>
          </a:p>
        </p:txBody>
      </p:sp>
      <p:sp>
        <p:nvSpPr>
          <p:cNvPr id="4" name="OBar"/>
          <p:cNvSpPr/>
          <p:nvPr/>
        </p:nvSpPr>
        <p:spPr>
          <a:xfrm>
            <a:off x="777240" y="640080"/>
            <a:ext cx="731520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</p:spPr>
      </p:sp>
      <p:sp>
        <p:nvSpPr>
          <p:cNvPr id="10" name="N1Bg"/>
          <p:cNvSpPr/>
          <p:nvPr/>
        </p:nvSpPr>
        <p:spPr>
          <a:xfrm>
            <a:off x="822960" y="804672"/>
            <a:ext cx="1645920" cy="548640"/>
          </a:xfrm>
          <a:prstGeom prst="rect">
            <a:avLst/>
          </a:prstGeom>
          <a:solidFill>
            <a:srgbClr val="D35400"/>
          </a:solidFill>
          <a:ln w="9525">
            <a:solidFill>
              <a:srgbClr val="B03A00"/>
            </a:solidFill>
          </a:ln>
        </p:spPr>
      </p:sp>
      <p:sp>
        <p:nvSpPr>
          <p:cNvPr id="11" name="N1Txt"/>
          <p:cNvSpPr/>
          <p:nvPr/>
        </p:nvSpPr>
        <p:spPr>
          <a:xfrm>
            <a:off x="822960" y="8046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☀ Solar</a:t>
            </a:r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Collectors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FDEBD0"/>
                </a:solidFill>
                <a:latin typeface="Calibri" pitchFamily="34" charset="0"/>
              </a:rPr>
              <a:t>1,212 m² | η₀=86.3%</a:t>
            </a:r>
          </a:p>
        </p:txBody>
      </p:sp>
      <p:sp>
        <p:nvSpPr>
          <p:cNvPr id="12" name="N2Bg"/>
          <p:cNvSpPr/>
          <p:nvPr/>
        </p:nvSpPr>
        <p:spPr>
          <a:xfrm>
            <a:off x="3749040" y="804672"/>
            <a:ext cx="1645920" cy="548640"/>
          </a:xfrm>
          <a:prstGeom prst="rect">
            <a:avLst/>
          </a:prstGeom>
          <a:solidFill>
            <a:srgbClr val="1B2A5E"/>
          </a:solidFill>
          <a:ln w="9525">
            <a:solidFill>
              <a:srgbClr val="0F1A3A"/>
            </a:solidFill>
          </a:ln>
        </p:spPr>
      </p:sp>
      <p:sp>
        <p:nvSpPr>
          <p:cNvPr id="13" name="N2Txt"/>
          <p:cNvSpPr/>
          <p:nvPr/>
        </p:nvSpPr>
        <p:spPr>
          <a:xfrm>
            <a:off x="3749040" y="8046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💧 Buffer</a:t>
            </a:r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Tank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AED6F1"/>
                </a:solidFill>
                <a:latin typeface="Calibri" pitchFamily="34" charset="0"/>
              </a:rPr>
              <a:t>58 m³ | 10-node</a:t>
            </a:r>
          </a:p>
        </p:txBody>
      </p:sp>
      <p:sp>
        <p:nvSpPr>
          <p:cNvPr id="14" name="N3Bg"/>
          <p:cNvSpPr/>
          <p:nvPr/>
        </p:nvSpPr>
        <p:spPr>
          <a:xfrm>
            <a:off x="3749040" y="2010000"/>
            <a:ext cx="1645920" cy="548640"/>
          </a:xfrm>
          <a:prstGeom prst="rect">
            <a:avLst/>
          </a:prstGeom>
          <a:solidFill>
            <a:srgbClr val="00B5C8"/>
          </a:solidFill>
          <a:ln w="9525">
            <a:solidFill>
              <a:srgbClr val="007A8A"/>
            </a:solidFill>
          </a:ln>
        </p:spPr>
      </p:sp>
      <p:sp>
        <p:nvSpPr>
          <p:cNvPr id="15" name="N3Txt"/>
          <p:cNvSpPr/>
          <p:nvPr/>
        </p:nvSpPr>
        <p:spPr>
          <a:xfrm>
            <a:off x="3749040" y="2010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❄ Heat Pump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E0F7FA"/>
                </a:solidFill>
                <a:latin typeface="Calibri" pitchFamily="34" charset="0"/>
              </a:rPr>
              <a:t>2 × 312 kW | SCOP 4.5</a:t>
            </a:r>
          </a:p>
        </p:txBody>
      </p:sp>
      <p:sp>
        <p:nvSpPr>
          <p:cNvPr id="16" name="N4Bg"/>
          <p:cNvSpPr/>
          <p:nvPr/>
        </p:nvSpPr>
        <p:spPr>
          <a:xfrm>
            <a:off x="3749040" y="3300000"/>
            <a:ext cx="1645920" cy="548640"/>
          </a:xfrm>
          <a:prstGeom prst="rect">
            <a:avLst/>
          </a:prstGeom>
          <a:solidFill>
            <a:srgbClr val="4A235A"/>
          </a:solidFill>
          <a:ln w="9525">
            <a:solidFill>
              <a:srgbClr val="2C0A3A"/>
            </a:solidFill>
          </a:ln>
        </p:spPr>
      </p:sp>
      <p:sp>
        <p:nvSpPr>
          <p:cNvPr id="17" name="N4Txt"/>
          <p:cNvSpPr/>
          <p:nvPr/>
        </p:nvSpPr>
        <p:spPr>
          <a:xfrm>
            <a:off x="3749040" y="3300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▼ Borehole Field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D7BDE2"/>
                </a:solidFill>
                <a:latin typeface="Calibri" pitchFamily="34" charset="0"/>
              </a:rPr>
              <a:t>4 × 100 m | UGT 30°C</a:t>
            </a:r>
          </a:p>
        </p:txBody>
      </p:sp>
      <p:sp>
        <p:nvSpPr>
          <p:cNvPr id="18" name="N5Bg"/>
          <p:cNvSpPr/>
          <p:nvPr/>
        </p:nvSpPr>
        <p:spPr>
          <a:xfrm>
            <a:off x="6676200" y="2010000"/>
            <a:ext cx="1645920" cy="548640"/>
          </a:xfrm>
          <a:prstGeom prst="rect">
            <a:avLst/>
          </a:prstGeom>
          <a:solidFill>
            <a:srgbClr val="1E8449"/>
          </a:solidFill>
          <a:ln w="9525">
            <a:solidFill>
              <a:srgbClr val="0E5A2A"/>
            </a:solidFill>
          </a:ln>
        </p:spPr>
      </p:sp>
      <p:sp>
        <p:nvSpPr>
          <p:cNvPr id="19" name="N5Txt"/>
          <p:cNvSpPr/>
          <p:nvPr/>
        </p:nvSpPr>
        <p:spPr>
          <a:xfrm>
            <a:off x="6676200" y="20100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🏠 Building</a:t>
            </a:r>
          </a:p>
          <a:p>
            <a:pPr algn="ctr" indent="0" marL="0">
              <a:buNone/>
            </a:pPr>
            <a:r>
              <a:rPr lang="en-US" sz="900" dirty="0">
                <a:solidFill>
                  <a:srgbClr val="D5F5E3"/>
                </a:solidFill>
                <a:latin typeface="Calibri" pitchFamily="34" charset="0"/>
              </a:rPr>
              <a:t>300 m² | 24°C setpoint</a:t>
            </a:r>
          </a:p>
        </p:txBody>
      </p:sp>
      <p:sp>
        <p:nvSpPr>
          <p:cNvPr id="20" name="Arr1"/>
          <p:cNvSpPr/>
          <p:nvPr/>
        </p:nvSpPr>
        <p:spPr>
          <a:xfrm>
            <a:off x="2468880" y="1050000"/>
            <a:ext cx="128016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</p:spPr>
      </p:sp>
      <p:sp>
        <p:nvSpPr>
          <p:cNvPr id="21" name="Ah1"/>
          <p:cNvSpPr/>
          <p:nvPr/>
        </p:nvSpPr>
        <p:spPr>
          <a:xfrm rot="5400000">
            <a:off x="3649040" y="988000"/>
            <a:ext cx="182880" cy="182880"/>
          </a:xfrm>
          <a:prstGeom prst="triangle">
            <a:avLst/>
          </a:prstGeom>
          <a:solidFill>
            <a:srgbClr val="D35400"/>
          </a:solidFill>
          <a:ln w="9525">
            <a:solidFill>
              <a:srgbClr val="D35400"/>
            </a:solidFill>
          </a:ln>
        </p:spPr>
      </p:sp>
      <p:sp>
        <p:nvSpPr>
          <p:cNvPr id="22" name="AL1"/>
          <p:cNvSpPr/>
          <p:nvPr/>
        </p:nvSpPr>
        <p:spPr>
          <a:xfrm>
            <a:off x="2468880" y="9600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35400"/>
                </a:solidFill>
                <a:latin typeface="Calibri" pitchFamily="34" charset="0"/>
              </a:rPr>
              <a:t>Hot water loop</a:t>
            </a:r>
          </a:p>
        </p:txBody>
      </p:sp>
      <p:sp>
        <p:nvSpPr>
          <p:cNvPr id="23" name="Arr2"/>
          <p:cNvSpPr/>
          <p:nvPr/>
        </p:nvSpPr>
        <p:spPr>
          <a:xfrm>
            <a:off x="4522000" y="1353312"/>
            <a:ext cx="54864" cy="65668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</a:ln>
        </p:spPr>
      </p:sp>
      <p:sp>
        <p:nvSpPr>
          <p:cNvPr id="24" name="Ah2"/>
          <p:cNvSpPr/>
          <p:nvPr/>
        </p:nvSpPr>
        <p:spPr>
          <a:xfrm rot="10800000">
            <a:off x="4431000" y="1920000"/>
            <a:ext cx="182880" cy="182880"/>
          </a:xfrm>
          <a:prstGeom prst="triangle">
            <a:avLst/>
          </a:prstGeom>
          <a:solidFill>
            <a:srgbClr val="00B5C8"/>
          </a:solidFill>
          <a:ln w="9525">
            <a:solidFill>
              <a:srgbClr val="00B5C8"/>
            </a:solidFill>
          </a:ln>
        </p:spPr>
      </p:sp>
      <p:sp>
        <p:nvSpPr>
          <p:cNvPr id="25" name="AL2"/>
          <p:cNvSpPr/>
          <p:nvPr/>
        </p:nvSpPr>
        <p:spPr>
          <a:xfrm>
            <a:off x="4614880" y="15000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5C8"/>
                </a:solidFill>
                <a:latin typeface="Calibri" pitchFamily="34" charset="0"/>
              </a:rPr>
              <a:t>Cold side</a:t>
            </a:r>
          </a:p>
        </p:txBody>
      </p:sp>
      <p:sp>
        <p:nvSpPr>
          <p:cNvPr id="26" name="Arr3"/>
          <p:cNvSpPr/>
          <p:nvPr/>
        </p:nvSpPr>
        <p:spPr>
          <a:xfrm>
            <a:off x="4522000" y="2558640"/>
            <a:ext cx="54864" cy="74136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</a:ln>
        </p:spPr>
      </p:sp>
      <p:sp>
        <p:nvSpPr>
          <p:cNvPr id="27" name="Ah3"/>
          <p:cNvSpPr/>
          <p:nvPr/>
        </p:nvSpPr>
        <p:spPr>
          <a:xfrm rot="10800000">
            <a:off x="4431000" y="3205000"/>
            <a:ext cx="182880" cy="182880"/>
          </a:xfrm>
          <a:prstGeom prst="triangle">
            <a:avLst/>
          </a:prstGeom>
          <a:solidFill>
            <a:srgbClr val="4A235A"/>
          </a:solidFill>
          <a:ln w="9525">
            <a:solidFill>
              <a:srgbClr val="4A235A"/>
            </a:solidFill>
          </a:ln>
        </p:spPr>
      </p:sp>
      <p:sp>
        <p:nvSpPr>
          <p:cNvPr id="28" name="AL3"/>
          <p:cNvSpPr/>
          <p:nvPr/>
        </p:nvSpPr>
        <p:spPr>
          <a:xfrm>
            <a:off x="4614880" y="2700000"/>
            <a:ext cx="730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235A"/>
                </a:solidFill>
                <a:latin typeface="Calibri" pitchFamily="34" charset="0"/>
              </a:rPr>
              <a:t>Ground loop</a:t>
            </a:r>
          </a:p>
        </p:txBody>
      </p:sp>
      <p:sp>
        <p:nvSpPr>
          <p:cNvPr id="29" name="Arr4"/>
          <p:cNvSpPr/>
          <p:nvPr/>
        </p:nvSpPr>
        <p:spPr>
          <a:xfrm>
            <a:off x="5394960" y="2257000"/>
            <a:ext cx="128124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</a:ln>
        </p:spPr>
      </p:sp>
      <p:sp>
        <p:nvSpPr>
          <p:cNvPr id="30" name="Ah4"/>
          <p:cNvSpPr/>
          <p:nvPr/>
        </p:nvSpPr>
        <p:spPr>
          <a:xfrm rot="5400000">
            <a:off x="6576200" y="2195000"/>
            <a:ext cx="182880" cy="182880"/>
          </a:xfrm>
          <a:prstGeom prst="triangle">
            <a:avLst/>
          </a:prstGeom>
          <a:solidFill>
            <a:srgbClr val="1E8449"/>
          </a:solidFill>
          <a:ln w="9525">
            <a:solidFill>
              <a:srgbClr val="1E8449"/>
            </a:solidFill>
          </a:ln>
        </p:spPr>
      </p:sp>
      <p:sp>
        <p:nvSpPr>
          <p:cNvPr id="31" name="AL4"/>
          <p:cNvSpPr/>
          <p:nvPr/>
        </p:nvSpPr>
        <p:spPr>
          <a:xfrm>
            <a:off x="5394960" y="2070000"/>
            <a:ext cx="1281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8449"/>
                </a:solidFill>
                <a:latin typeface="Calibri" pitchFamily="34" charset="0"/>
              </a:rPr>
              <a:t>Chilled water</a:t>
            </a:r>
          </a:p>
        </p:txBody>
      </p:sp>
      <p:sp>
        <p:nvSpPr>
          <p:cNvPr id="32" name="Arr5"/>
          <p:cNvSpPr/>
          <p:nvPr/>
        </p:nvSpPr>
        <p:spPr>
          <a:xfrm>
            <a:off x="3100000" y="2257000"/>
            <a:ext cx="649040" cy="54864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</a:ln>
        </p:spPr>
      </p:sp>
      <p:sp>
        <p:nvSpPr>
          <p:cNvPr id="33" name="Arr5b"/>
          <p:cNvSpPr/>
          <p:nvPr/>
        </p:nvSpPr>
        <p:spPr>
          <a:xfrm>
            <a:off x="3100000" y="2257000"/>
            <a:ext cx="54864" cy="1116864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</a:ln>
        </p:spPr>
      </p:sp>
      <p:sp>
        <p:nvSpPr>
          <p:cNvPr id="34" name="Arr5c"/>
          <p:cNvSpPr/>
          <p:nvPr/>
        </p:nvSpPr>
        <p:spPr>
          <a:xfrm>
            <a:off x="3100000" y="3373864"/>
            <a:ext cx="649040" cy="54864"/>
          </a:xfrm>
          <a:prstGeom prst="rect">
            <a:avLst/>
          </a:prstGeom>
          <a:solidFill>
            <a:srgbClr val="AED6F1"/>
          </a:solidFill>
          <a:ln w="12700">
            <a:solidFill>
              <a:srgbClr val="AED6F1"/>
            </a:solidFill>
          </a:ln>
        </p:spPr>
      </p:sp>
      <p:sp>
        <p:nvSpPr>
          <p:cNvPr id="35" name="AL5"/>
          <p:cNvSpPr/>
          <p:nvPr/>
        </p:nvSpPr>
        <p:spPr>
          <a:xfrm>
            <a:off x="2400000" y="2800000"/>
            <a:ext cx="73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5E"/>
                </a:solidFill>
                <a:latin typeface="Calibri" pitchFamily="34" charset="0"/>
              </a:rPr>
              <a:t>Return loop</a:t>
            </a:r>
          </a:p>
        </p:txBody>
      </p:sp>
      <p:sp>
        <p:nvSpPr>
          <p:cNvPr id="36" name="RegenBox"/>
          <p:cNvSpPr/>
          <p:nvPr/>
        </p:nvSpPr>
        <p:spPr>
          <a:xfrm>
            <a:off x="2250000" y="1353312"/>
            <a:ext cx="1280160" cy="329184"/>
          </a:xfrm>
          <a:prstGeom prst="roundRect">
            <a:avLst>
              <a:gd name="adj" fmla="val 10000"/>
            </a:avLst>
          </a:prstGeom>
          <a:solidFill>
            <a:srgbClr val="FEF9E7"/>
          </a:solidFill>
          <a:ln w="9525">
            <a:solidFill>
              <a:srgbClr val="D35400"/>
            </a:solidFill>
            <a:prstDash val="dash"/>
          </a:ln>
        </p:spPr>
      </p:sp>
      <p:sp>
        <p:nvSpPr>
          <p:cNvPr id="37" name="RegenTxt"/>
          <p:cNvSpPr/>
          <p:nvPr/>
        </p:nvSpPr>
        <p:spPr>
          <a:xfrm>
            <a:off x="2250000" y="13533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</a:rPr>
              <a:t>↻ Solar Regen</a:t>
            </a:r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</a:rPr>
              <a:t>Active Nov–Feb</a:t>
            </a:r>
          </a:p>
        </p:txBody>
      </p:sp>
      <p:sp>
        <p:nvSpPr>
          <p:cNvPr id="50" name="LegBg"/>
          <p:cNvSpPr/>
          <p:nvPr/>
        </p:nvSpPr>
        <p:spPr>
          <a:xfrm>
            <a:off x="822960" y="3060000"/>
            <a:ext cx="1645920" cy="840000"/>
          </a:xfrm>
          <a:prstGeom prst="rect">
            <a:avLst/>
          </a:prstGeom>
          <a:solidFill>
            <a:srgbClr val="F8F9FA"/>
          </a:solidFill>
          <a:ln w="9525">
            <a:solidFill>
              <a:srgbClr val="D5D8DC"/>
            </a:solidFill>
          </a:ln>
        </p:spPr>
      </p:sp>
      <p:sp>
        <p:nvSpPr>
          <p:cNvPr id="51" name="LegTxt"/>
          <p:cNvSpPr/>
          <p:nvPr/>
        </p:nvSpPr>
        <p:spPr>
          <a:xfrm>
            <a:off x="860000" y="3080000"/>
            <a:ext cx="1570000" cy="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B2A5E"/>
                </a:solidFill>
                <a:latin typeface="Calibri" pitchFamily="34" charset="0"/>
              </a:rPr>
              <a:t>LEGEND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D35400"/>
                </a:solidFill>
                <a:latin typeface="Calibri" pitchFamily="34" charset="0"/>
              </a:rPr>
              <a:t>—— Hot water / solar loop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00B5C8"/>
                </a:solidFill>
                <a:latin typeface="Calibri" pitchFamily="34" charset="0"/>
              </a:rPr>
              <a:t>—— Cold side circuit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4A235A"/>
                </a:solidFill>
                <a:latin typeface="Calibri" pitchFamily="34" charset="0"/>
              </a:rPr>
              <a:t>—— Ground loop</a:t>
            </a:r>
          </a:p>
          <a:p>
            <a:pPr indent="0" marL="0">
              <a:buNone/>
            </a:pPr>
            <a:r>
              <a:rPr lang="en-US" sz="800" dirty="0">
                <a:solidFill>
                  <a:srgbClr val="1E8449"/>
                </a:solidFill>
                <a:latin typeface="Calibri" pitchFamily="34" charset="0"/>
              </a:rPr>
              <a:t>—— Chilled water supply</a:t>
            </a:r>
          </a:p>
        </p:txBody>
      </p:sp>
      <p:sp>
        <p:nvSpPr>
          <p:cNvPr id="60" name="NoteBg"/>
          <p:cNvSpPr/>
          <p:nvPr/>
        </p:nvSpPr>
        <p:spPr>
          <a:xfrm>
            <a:off x="777240" y="4100000"/>
            <a:ext cx="7315200" cy="182880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</a:ln>
        </p:spPr>
      </p:sp>
      <p:sp>
        <p:nvSpPr>
          <p:cNvPr id="61" name="NoteTxt"/>
          <p:cNvSpPr/>
          <p:nvPr/>
        </p:nvSpPr>
        <p:spPr>
          <a:xfrm>
            <a:off x="822960" y="4100000"/>
            <a:ext cx="7269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Closed-loop design: eliminates cooling-related water consumption. Solar regeneration prevents ground thermal drift (&lt;+0.8°C over 20 yrs).</a:t>
            </a:r>
          </a:p>
        </p:txBody>
      </p:sp>
      <p:sp>
        <p:nvSpPr>
          <p:cNvPr id="62" name="SN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" y="-45720"/>
            <a:ext cx="3474720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274320"/>
            <a:ext cx="1828800" cy="3200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"/>
            <a:ext cx="1874520" cy="34747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77240" y="73152"/>
            <a:ext cx="621792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804672" y="73152"/>
            <a:ext cx="6172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Performance Results</a:t>
            </a:r>
            <a:endParaRPr lang="en-US" sz="2200" dirty="0"/>
          </a:p>
        </p:txBody>
      </p:sp>
      <p:sp>
        <p:nvSpPr>
          <p:cNvPr id="7" name="Shape 2"/>
          <p:cNvSpPr/>
          <p:nvPr/>
        </p:nvSpPr>
        <p:spPr>
          <a:xfrm>
            <a:off x="777240" y="640080"/>
            <a:ext cx="8229600" cy="914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68680" y="822960"/>
            <a:ext cx="1920240" cy="132588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868680" y="822960"/>
            <a:ext cx="1920240" cy="91440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86868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3000" dirty="0"/>
          </a:p>
        </p:txBody>
      </p:sp>
      <p:sp>
        <p:nvSpPr>
          <p:cNvPr id="11" name="Text 6"/>
          <p:cNvSpPr/>
          <p:nvPr/>
        </p:nvSpPr>
        <p:spPr>
          <a:xfrm>
            <a:off x="868680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SA-GSHP SCOP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68680" y="1801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2.5 ASHP (80% advantage)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926080" y="822960"/>
            <a:ext cx="1920240" cy="132588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2926080" y="822960"/>
            <a:ext cx="1920240" cy="91440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926080" y="9144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44.4%</a:t>
            </a:r>
            <a:endParaRPr lang="en-US" sz="3000" dirty="0"/>
          </a:p>
        </p:txBody>
      </p:sp>
      <p:sp>
        <p:nvSpPr>
          <p:cNvPr id="16" name="Text 11"/>
          <p:cNvSpPr/>
          <p:nvPr/>
        </p:nvSpPr>
        <p:spPr>
          <a:xfrm>
            <a:off x="2926080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Saved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926080" y="180136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12,444 kWh · 373 BHD/yr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868680" y="2331720"/>
            <a:ext cx="1920240" cy="132588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68680" y="2331720"/>
            <a:ext cx="1920240" cy="91440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6868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+0.8°C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868680" y="3044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Temp Drift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68680" y="3310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+4.2°C unmanaged ✔ ≤1°C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926080" y="2331720"/>
            <a:ext cx="1920240" cy="132588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926080" y="2331720"/>
            <a:ext cx="1920240" cy="91440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92608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kW</a:t>
            </a:r>
            <a:endParaRPr lang="en-US" sz="3000" dirty="0"/>
          </a:p>
        </p:txBody>
      </p:sp>
      <p:sp>
        <p:nvSpPr>
          <p:cNvPr id="26" name="Text 21"/>
          <p:cNvSpPr/>
          <p:nvPr/>
        </p:nvSpPr>
        <p:spPr>
          <a:xfrm>
            <a:off x="2926080" y="304495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Cut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926080" y="33101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reduction vs ASHP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868680" y="39136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Performance Comparison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4187952"/>
          <a:ext cx="3977640" cy="841248"/>
        </p:xfrm>
        <a:graphic>
          <a:graphicData uri="http://schemas.openxmlformats.org/drawingml/2006/table">
            <a:tbl>
              <a:tblPr/>
              <a:tblGrid>
                <a:gridCol w="1325880"/>
                <a:gridCol w="1325880"/>
                <a:gridCol w="1325880"/>
              </a:tblGrid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SA-GSHP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electricity (kWh)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15,556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lifespan (yrs)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804672"/>
            <a:ext cx="4023360" cy="281635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4937760" y="3639312"/>
            <a:ext cx="4023360" cy="566928"/>
          </a:xfrm>
          <a:prstGeom prst="rect">
            <a:avLst/>
          </a:prstGeom>
          <a:solidFill>
            <a:srgbClr val="D6EAF8"/>
          </a:solidFill>
          <a:ln w="6350">
            <a:solidFill>
              <a:srgbClr val="A8C6E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4983480" y="364845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– 20-year ground temperature simulation: Unmanaged GSHP rises to 34.2°C vs SA-GSHP limited to 30.8°C with solar thermal regeneration active (Nov–Feb)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" y="-45720"/>
            <a:ext cx="3474720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274320"/>
            <a:ext cx="1828800" cy="3200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"/>
            <a:ext cx="1874520" cy="34747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77240" y="73152"/>
            <a:ext cx="621792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804672" y="73152"/>
            <a:ext cx="6172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Techno-Economic Analysis</a:t>
            </a:r>
            <a:endParaRPr lang="en-US" sz="2200" dirty="0"/>
          </a:p>
        </p:txBody>
      </p:sp>
      <p:sp>
        <p:nvSpPr>
          <p:cNvPr id="7" name="Shape 2"/>
          <p:cNvSpPr/>
          <p:nvPr/>
        </p:nvSpPr>
        <p:spPr>
          <a:xfrm>
            <a:off x="777240" y="640080"/>
            <a:ext cx="8229600" cy="914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914400" y="822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Breakdown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43000"/>
          <a:ext cx="4160520" cy="1920240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ASHP (BHD)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SA-GSHP (BHD)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pump unit(s)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Borehole drilling (4 × 100 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HDPE piping &amp; grouting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thermal collectors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 &amp; controls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CAPEX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914400" y="3154680"/>
            <a:ext cx="4160520" cy="150876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914400" y="3154680"/>
            <a:ext cx="4160520" cy="914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987552" y="32186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25-Year Life Cycle Cost (LCC)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987552" y="3520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ASHP: </a:t>
            </a:r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15,524 BHD   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SA-GSHP: </a:t>
            </a:r>
            <a:pPr indent="0" marL="0">
              <a:buNone/>
            </a:pPr>
            <a:r>
              <a:rPr lang="en-US" sz="1300" b="1" dirty="0">
                <a:solidFill>
                  <a:srgbClr val="00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15,921 BHD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987552" y="3858768"/>
            <a:ext cx="4023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Near-cost-parity at current 0.030 BHD/kWh tariff.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SA-GSHP decisively superior at normalised tariff ≥ 0.040 BHD/kWh.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257800" y="82296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Drilling Subsidy Sensitivity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257800" y="1188720"/>
            <a:ext cx="3279267" cy="3657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5285232" y="1188720"/>
            <a:ext cx="32335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yrs</a:t>
            </a:r>
            <a:endParaRPr lang="en-US" sz="1150" dirty="0"/>
          </a:p>
        </p:txBody>
      </p:sp>
      <p:sp>
        <p:nvSpPr>
          <p:cNvPr id="18" name="Text 12"/>
          <p:cNvSpPr/>
          <p:nvPr/>
        </p:nvSpPr>
        <p:spPr>
          <a:xfrm>
            <a:off x="5257800" y="1554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subsidy, 0.030 BHD/kWh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5257800" y="1938528"/>
            <a:ext cx="2975229" cy="3657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5285232" y="1938528"/>
            <a:ext cx="292950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 yrs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257800" y="2304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subsidy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257800" y="2688336"/>
            <a:ext cx="2801493" cy="3657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285232" y="2688336"/>
            <a:ext cx="275577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12.9 yrs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257800" y="30540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subsidy, 0.030 BHD/kWh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257800" y="3438144"/>
            <a:ext cx="1498473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285232" y="3438144"/>
            <a:ext cx="145275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 yrs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5257800" y="38039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subsidy, 0.040 BHD/kWh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257800" y="4187952"/>
            <a:ext cx="1628775" cy="365760"/>
          </a:xfrm>
          <a:prstGeom prst="rect">
            <a:avLst/>
          </a:prstGeom>
          <a:solidFill>
            <a:srgbClr val="007B8A"/>
          </a:solidFill>
          <a:ln w="12700">
            <a:solidFill>
              <a:srgbClr val="007B8A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285232" y="4187952"/>
            <a:ext cx="15830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yrs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257800" y="455371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subsidy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257800" y="4828032"/>
            <a:ext cx="3657600" cy="256032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285232" y="4828032"/>
            <a:ext cx="3630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Target 6–8 yr payback: achieved with 25% subsidy + 0.040 BHD/kWh tariff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" y="-45720"/>
            <a:ext cx="3474720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274320"/>
            <a:ext cx="1828800" cy="3200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"/>
            <a:ext cx="1874520" cy="34747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77240" y="73152"/>
            <a:ext cx="621792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804672" y="73152"/>
            <a:ext cx="6172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Impact</a:t>
            </a:r>
            <a:endParaRPr lang="en-US" sz="2200" dirty="0"/>
          </a:p>
        </p:txBody>
      </p:sp>
      <p:sp>
        <p:nvSpPr>
          <p:cNvPr id="7" name="Shape 2"/>
          <p:cNvSpPr/>
          <p:nvPr/>
        </p:nvSpPr>
        <p:spPr>
          <a:xfrm>
            <a:off x="777240" y="640080"/>
            <a:ext cx="8229600" cy="914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914400" y="822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CO₂ Comparison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52144"/>
          <a:ext cx="4846320" cy="2048256"/>
        </p:xfrm>
        <a:graphic>
          <a:graphicData uri="http://schemas.openxmlformats.org/drawingml/2006/table">
            <a:tbl>
              <a:tblPr/>
              <a:tblGrid>
                <a:gridCol w="1615440"/>
                <a:gridCol w="1615440"/>
                <a:gridCol w="16154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SA-GSHP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B8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CO₂ (kg/yr)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17,360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saving (kg/yr)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25-yr operational CO₂ (t)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Embodied CO₂ (t)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lifecycle CO₂ (t)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lifecycle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7B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 t (39%)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8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914400" y="3291840"/>
            <a:ext cx="4846320" cy="146304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914400" y="3291840"/>
            <a:ext cx="4846320" cy="91440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1005840" y="336499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Water Conservation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005840" y="37033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configuration eliminates cooling-related water use entirely — 5.25–8.75 million litres saved per installation over 25 years. At 10,000 installations, equivalent to the annual output of a medium-scale desalination plant.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5989320" y="914400"/>
            <a:ext cx="1417320" cy="160020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5989320" y="914400"/>
            <a:ext cx="1417320" cy="91440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5989320" y="102412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t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5989320" y="169164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CO₂ prevented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installation (25 yrs)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7543800" y="914400"/>
            <a:ext cx="1417320" cy="160020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7543800" y="914400"/>
            <a:ext cx="1417320" cy="91440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543800" y="102412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2600" dirty="0"/>
          </a:p>
        </p:txBody>
      </p:sp>
      <p:sp>
        <p:nvSpPr>
          <p:cNvPr id="21" name="Text 15"/>
          <p:cNvSpPr/>
          <p:nvPr/>
        </p:nvSpPr>
        <p:spPr>
          <a:xfrm>
            <a:off x="7543800" y="169164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lifecycle GHG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vs ASHP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989320" y="2834640"/>
            <a:ext cx="1417320" cy="160020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989320" y="2834640"/>
            <a:ext cx="1417320" cy="91440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989320" y="294436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MW</a:t>
            </a:r>
            <a:endParaRPr lang="en-US" sz="2600" dirty="0"/>
          </a:p>
        </p:txBody>
      </p:sp>
      <p:sp>
        <p:nvSpPr>
          <p:cNvPr id="25" name="Text 19"/>
          <p:cNvSpPr/>
          <p:nvPr/>
        </p:nvSpPr>
        <p:spPr>
          <a:xfrm>
            <a:off x="5989320" y="36118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cut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5% market penetration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543800" y="2834640"/>
            <a:ext cx="1417320" cy="160020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543800" y="2834640"/>
            <a:ext cx="1417320" cy="91440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543800" y="2944368"/>
            <a:ext cx="1417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8.75M L</a:t>
            </a:r>
            <a:endParaRPr lang="en-US" sz="2600" dirty="0"/>
          </a:p>
        </p:txBody>
      </p:sp>
      <p:sp>
        <p:nvSpPr>
          <p:cNvPr id="29" name="Text 23"/>
          <p:cNvSpPr/>
          <p:nvPr/>
        </p:nvSpPr>
        <p:spPr>
          <a:xfrm>
            <a:off x="7543800" y="361188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installation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14400" y="491947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emission factor: 0.62 kg CO₂/kWh (IEA, 2024). Refrigerant: R-407C.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7160" y="-45720"/>
            <a:ext cx="3474720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85800" y="274320"/>
            <a:ext cx="1828800" cy="32004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54864"/>
            <a:ext cx="1874520" cy="347472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777240" y="73152"/>
            <a:ext cx="621792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804672" y="73152"/>
            <a:ext cx="6172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Commercialisation</a:t>
            </a:r>
            <a:endParaRPr lang="en-US" sz="2200" dirty="0"/>
          </a:p>
        </p:txBody>
      </p:sp>
      <p:sp>
        <p:nvSpPr>
          <p:cNvPr id="7" name="Shape 2"/>
          <p:cNvSpPr/>
          <p:nvPr/>
        </p:nvSpPr>
        <p:spPr>
          <a:xfrm>
            <a:off x="777240" y="640080"/>
            <a:ext cx="8229600" cy="914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822960"/>
            <a:ext cx="5943600" cy="370332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777240" y="4544568"/>
            <a:ext cx="5943600" cy="228600"/>
          </a:xfrm>
          <a:prstGeom prst="rect">
            <a:avLst/>
          </a:prstGeom>
          <a:solidFill>
            <a:srgbClr val="D6EAF8"/>
          </a:solidFill>
          <a:ln w="6350">
            <a:solidFill>
              <a:srgbClr val="A8C6E0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822960" y="4553712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– Business Model Canvas for SA-GSHP commercialisation, Kingdom of Bahrain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6903720" y="82296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Strategy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6903720" y="1188720"/>
            <a:ext cx="205740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903720" y="1188720"/>
            <a:ext cx="2057400" cy="73152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949440" y="12435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949440" y="1472184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Social Housing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949440" y="170992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 model, 15-yr performance contracts, government pilot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903720" y="2359152"/>
            <a:ext cx="205740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903720" y="2359152"/>
            <a:ext cx="2057400" cy="73152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949440" y="2414016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949440" y="2642616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New-Build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6949440" y="2880360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LEED / Pearl green building certification pathway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6903720" y="3529584"/>
            <a:ext cx="2057400" cy="1005840"/>
          </a:xfrm>
          <a:prstGeom prst="rect">
            <a:avLst/>
          </a:prstGeom>
          <a:solidFill>
            <a:srgbClr val="D6EAF8"/>
          </a:solidFill>
          <a:ln w="12700">
            <a:solidFill>
              <a:srgbClr val="A8C6E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903720" y="3529584"/>
            <a:ext cx="2057400" cy="73152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949440" y="35844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949440" y="38130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B2C ESCO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949440" y="405079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Financed products after verified performance track record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6903720" y="4727448"/>
            <a:ext cx="2057400" cy="29260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922008" y="4727448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150M+ BHD/yr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mitsFu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g"/>
          <p:cNvSpPr/>
          <p:nvPr/>
        </p:nvSpPr>
        <p:spPr>
          <a:xfrm>
            <a:off x="777240" y="73152"/>
            <a:ext cx="731520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</a:ln>
        </p:spPr>
      </p:sp>
      <p:sp>
        <p:nvSpPr>
          <p:cNvPr id="3" name="TTxt"/>
          <p:cNvSpPr/>
          <p:nvPr/>
        </p:nvSpPr>
        <p:spPr>
          <a:xfrm>
            <a:off x="804672" y="73152"/>
            <a:ext cx="7287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Limitations &amp; Future Work</a:t>
            </a:r>
          </a:p>
        </p:txBody>
      </p:sp>
      <p:sp>
        <p:nvSpPr>
          <p:cNvPr id="4" name="OBar"/>
          <p:cNvSpPr/>
          <p:nvPr/>
        </p:nvSpPr>
        <p:spPr>
          <a:xfrm>
            <a:off x="777240" y="640080"/>
            <a:ext cx="731520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</p:spPr>
      </p:sp>
      <p:sp>
        <p:nvSpPr>
          <p:cNvPr id="5" name="LimHdr"/>
          <p:cNvSpPr/>
          <p:nvPr/>
        </p:nvSpPr>
        <p:spPr>
          <a:xfrm>
            <a:off x="777240" y="768096"/>
            <a:ext cx="3840480" cy="292608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</a:ln>
        </p:spPr>
      </p:sp>
      <p:sp>
        <p:nvSpPr>
          <p:cNvPr id="6" name="LimHdrT"/>
          <p:cNvSpPr/>
          <p:nvPr/>
        </p:nvSpPr>
        <p:spPr>
          <a:xfrm>
            <a:off x="822960" y="768096"/>
            <a:ext cx="3794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⚠ Study Limitations</a:t>
            </a:r>
          </a:p>
        </p:txBody>
      </p:sp>
      <p:sp>
        <p:nvSpPr>
          <p:cNvPr id="7" name="L1Bg"/>
          <p:cNvSpPr/>
          <p:nvPr/>
        </p:nvSpPr>
        <p:spPr>
          <a:xfrm>
            <a:off x="777240" y="1097280"/>
            <a:ext cx="3840480" cy="475000"/>
          </a:xfrm>
          <a:prstGeom prst="rect">
            <a:avLst/>
          </a:prstGeom>
          <a:solidFill>
            <a:srgbClr val="FDEDEC"/>
          </a:solidFill>
          <a:ln w="9525">
            <a:solidFill>
              <a:srgbClr val="F1948A"/>
            </a:solidFill>
          </a:ln>
        </p:spPr>
      </p:sp>
      <p:sp>
        <p:nvSpPr>
          <p:cNvPr id="8" name="L1Bar"/>
          <p:cNvSpPr/>
          <p:nvPr/>
        </p:nvSpPr>
        <p:spPr>
          <a:xfrm>
            <a:off x="777240" y="1097280"/>
            <a:ext cx="54864" cy="4750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</a:ln>
        </p:spPr>
      </p:sp>
      <p:sp>
        <p:nvSpPr>
          <p:cNvPr id="9" name="L1Txt"/>
          <p:cNvSpPr/>
          <p:nvPr/>
        </p:nvSpPr>
        <p:spPr>
          <a:xfrm>
            <a:off x="868680" y="1110000"/>
            <a:ext cx="373032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B21"/>
                </a:solidFill>
                <a:latin typeface="Calibri" pitchFamily="34" charset="0"/>
              </a:rPr>
              <a:t>Single-Site TMY Weather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</a:rPr>
              <a:t>Simulation uses TMY data for Manama only; performance at other GCC sites (Riyadh, Abu Dhabi) not validated.</a:t>
            </a:r>
          </a:p>
        </p:txBody>
      </p:sp>
      <p:sp>
        <p:nvSpPr>
          <p:cNvPr id="10" name="L2Bg"/>
          <p:cNvSpPr/>
          <p:nvPr/>
        </p:nvSpPr>
        <p:spPr>
          <a:xfrm>
            <a:off x="777240" y="1609280"/>
            <a:ext cx="3840480" cy="475000"/>
          </a:xfrm>
          <a:prstGeom prst="rect">
            <a:avLst/>
          </a:prstGeom>
          <a:solidFill>
            <a:srgbClr val="FDEDEC"/>
          </a:solidFill>
          <a:ln w="9525">
            <a:solidFill>
              <a:srgbClr val="F1948A"/>
            </a:solidFill>
          </a:ln>
        </p:spPr>
      </p:sp>
      <p:sp>
        <p:nvSpPr>
          <p:cNvPr id="11" name="L2Bar"/>
          <p:cNvSpPr/>
          <p:nvPr/>
        </p:nvSpPr>
        <p:spPr>
          <a:xfrm>
            <a:off x="777240" y="1609280"/>
            <a:ext cx="54864" cy="4750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</a:ln>
        </p:spPr>
      </p:sp>
      <p:sp>
        <p:nvSpPr>
          <p:cNvPr id="12" name="L2Txt"/>
          <p:cNvSpPr/>
          <p:nvPr/>
        </p:nvSpPr>
        <p:spPr>
          <a:xfrm>
            <a:off x="868680" y="1622000"/>
            <a:ext cx="373032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B21"/>
                </a:solidFill>
                <a:latin typeface="Calibri" pitchFamily="34" charset="0"/>
              </a:rPr>
              <a:t>Steady-State Drilling Cost Model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</a:rPr>
              <a:t>CAPEX estimates assume fixed BHD 35/m drilling rate; actual costs depend on local geology not fully characterised in Bahrain.</a:t>
            </a:r>
          </a:p>
        </p:txBody>
      </p:sp>
      <p:sp>
        <p:nvSpPr>
          <p:cNvPr id="13" name="L3Bg"/>
          <p:cNvSpPr/>
          <p:nvPr/>
        </p:nvSpPr>
        <p:spPr>
          <a:xfrm>
            <a:off x="777240" y="2121280"/>
            <a:ext cx="3840480" cy="475000"/>
          </a:xfrm>
          <a:prstGeom prst="rect">
            <a:avLst/>
          </a:prstGeom>
          <a:solidFill>
            <a:srgbClr val="FDEDEC"/>
          </a:solidFill>
          <a:ln w="9525">
            <a:solidFill>
              <a:srgbClr val="F1948A"/>
            </a:solidFill>
          </a:ln>
        </p:spPr>
      </p:sp>
      <p:sp>
        <p:nvSpPr>
          <p:cNvPr id="14" name="L3Bar"/>
          <p:cNvSpPr/>
          <p:nvPr/>
        </p:nvSpPr>
        <p:spPr>
          <a:xfrm>
            <a:off x="777240" y="2121280"/>
            <a:ext cx="54864" cy="4750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</a:ln>
        </p:spPr>
      </p:sp>
      <p:sp>
        <p:nvSpPr>
          <p:cNvPr id="15" name="L3Txt"/>
          <p:cNvSpPr/>
          <p:nvPr/>
        </p:nvSpPr>
        <p:spPr>
          <a:xfrm>
            <a:off x="868680" y="2134000"/>
            <a:ext cx="373032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B21"/>
                </a:solidFill>
                <a:latin typeface="Calibri" pitchFamily="34" charset="0"/>
              </a:rPr>
              <a:t>Single Building Archetype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</a:rPr>
              <a:t>Results optimised for 300 m² residential villa only; applicability to commercial or high-rise buildings requires separate parametric study.</a:t>
            </a:r>
          </a:p>
        </p:txBody>
      </p:sp>
      <p:sp>
        <p:nvSpPr>
          <p:cNvPr id="16" name="L4Bg"/>
          <p:cNvSpPr/>
          <p:nvPr/>
        </p:nvSpPr>
        <p:spPr>
          <a:xfrm>
            <a:off x="777240" y="2633280"/>
            <a:ext cx="3840480" cy="475000"/>
          </a:xfrm>
          <a:prstGeom prst="rect">
            <a:avLst/>
          </a:prstGeom>
          <a:solidFill>
            <a:srgbClr val="FDEDEC"/>
          </a:solidFill>
          <a:ln w="9525">
            <a:solidFill>
              <a:srgbClr val="F1948A"/>
            </a:solidFill>
          </a:ln>
        </p:spPr>
      </p:sp>
      <p:sp>
        <p:nvSpPr>
          <p:cNvPr id="17" name="L4Bar"/>
          <p:cNvSpPr/>
          <p:nvPr/>
        </p:nvSpPr>
        <p:spPr>
          <a:xfrm>
            <a:off x="777240" y="2633280"/>
            <a:ext cx="54864" cy="475000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</a:ln>
        </p:spPr>
      </p:sp>
      <p:sp>
        <p:nvSpPr>
          <p:cNvPr id="18" name="L4Txt"/>
          <p:cNvSpPr/>
          <p:nvPr/>
        </p:nvSpPr>
        <p:spPr>
          <a:xfrm>
            <a:off x="868680" y="2646000"/>
            <a:ext cx="373032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922B21"/>
                </a:solidFill>
                <a:latin typeface="Calibri" pitchFamily="34" charset="0"/>
              </a:rPr>
              <a:t>No Physical Prototype Validation</a:t>
            </a:r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</a:rPr>
              <a:t>All results are simulation-based; a field-installed pilot installation is required to confirm real-world SCOP and borehole drift behaviour.</a:t>
            </a:r>
          </a:p>
        </p:txBody>
      </p:sp>
      <p:sp>
        <p:nvSpPr>
          <p:cNvPr id="20" name="FWHdr"/>
          <p:cNvSpPr/>
          <p:nvPr/>
        </p:nvSpPr>
        <p:spPr>
          <a:xfrm>
            <a:off x="4709040" y="768096"/>
            <a:ext cx="3687960" cy="292608"/>
          </a:xfrm>
          <a:prstGeom prst="rect">
            <a:avLst/>
          </a:prstGeom>
          <a:solidFill>
            <a:srgbClr val="00B5C8"/>
          </a:solidFill>
          <a:ln w="12700">
            <a:solidFill>
              <a:srgbClr val="007A8A"/>
            </a:solidFill>
          </a:ln>
        </p:spPr>
      </p:sp>
      <p:sp>
        <p:nvSpPr>
          <p:cNvPr id="21" name="FWHdrT"/>
          <p:cNvSpPr/>
          <p:nvPr/>
        </p:nvSpPr>
        <p:spPr>
          <a:xfrm>
            <a:off x="4754760" y="768096"/>
            <a:ext cx="3641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🔭 Future Research Directions</a:t>
            </a:r>
          </a:p>
        </p:txBody>
      </p:sp>
      <p:sp>
        <p:nvSpPr>
          <p:cNvPr id="22" name="F1Bg"/>
          <p:cNvSpPr/>
          <p:nvPr/>
        </p:nvSpPr>
        <p:spPr>
          <a:xfrm>
            <a:off x="4709040" y="1097280"/>
            <a:ext cx="3687960" cy="384048"/>
          </a:xfrm>
          <a:prstGeom prst="rect">
            <a:avLst/>
          </a:prstGeom>
          <a:solidFill>
            <a:srgbClr val="E8F8F5"/>
          </a:solidFill>
          <a:ln w="9525">
            <a:solidFill>
              <a:srgbClr val="A2D9CE"/>
            </a:solidFill>
          </a:ln>
        </p:spPr>
      </p:sp>
      <p:sp>
        <p:nvSpPr>
          <p:cNvPr id="23" name="F1Num"/>
          <p:cNvSpPr/>
          <p:nvPr/>
        </p:nvSpPr>
        <p:spPr>
          <a:xfrm>
            <a:off x="4709040" y="1097280"/>
            <a:ext cx="292608" cy="38404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</a:ln>
        </p:spPr>
      </p:sp>
      <p:sp>
        <p:nvSpPr>
          <p:cNvPr id="24" name="F1NumT"/>
          <p:cNvSpPr/>
          <p:nvPr/>
        </p:nvSpPr>
        <p:spPr>
          <a:xfrm>
            <a:off x="4709040" y="1097280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25" name="F1Txt"/>
          <p:cNvSpPr/>
          <p:nvPr/>
        </p:nvSpPr>
        <p:spPr>
          <a:xfrm>
            <a:off x="5047000" y="1110000"/>
            <a:ext cx="333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</a:rPr>
              <a:t>Pilot Installation in Bahrain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</a:rPr>
              <a:t>Instrument a residential SA-GSHP to validate TRNSYS outputs in real-world conditions.</a:t>
            </a:r>
          </a:p>
        </p:txBody>
      </p:sp>
      <p:sp>
        <p:nvSpPr>
          <p:cNvPr id="26" name="F2Bg"/>
          <p:cNvSpPr/>
          <p:nvPr/>
        </p:nvSpPr>
        <p:spPr>
          <a:xfrm>
            <a:off x="4709040" y="1517328"/>
            <a:ext cx="3687960" cy="384048"/>
          </a:xfrm>
          <a:prstGeom prst="rect">
            <a:avLst/>
          </a:prstGeom>
          <a:solidFill>
            <a:srgbClr val="E8F8F5"/>
          </a:solidFill>
          <a:ln w="9525">
            <a:solidFill>
              <a:srgbClr val="A2D9CE"/>
            </a:solidFill>
          </a:ln>
        </p:spPr>
      </p:sp>
      <p:sp>
        <p:nvSpPr>
          <p:cNvPr id="27" name="F2Num"/>
          <p:cNvSpPr/>
          <p:nvPr/>
        </p:nvSpPr>
        <p:spPr>
          <a:xfrm>
            <a:off x="4709040" y="1517328"/>
            <a:ext cx="292608" cy="38404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</a:ln>
        </p:spPr>
      </p:sp>
      <p:sp>
        <p:nvSpPr>
          <p:cNvPr id="28" name="F2NumT"/>
          <p:cNvSpPr/>
          <p:nvPr/>
        </p:nvSpPr>
        <p:spPr>
          <a:xfrm>
            <a:off x="4709040" y="1517328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29" name="F2Txt"/>
          <p:cNvSpPr/>
          <p:nvPr/>
        </p:nvSpPr>
        <p:spPr>
          <a:xfrm>
            <a:off x="5047000" y="1530000"/>
            <a:ext cx="333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</a:rPr>
              <a:t>Multi-Site GCC Parametric Study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</a:rPr>
              <a:t>Extend model to Riyadh, Abu Dhabi, and Kuwait City to assess regional applicability.</a:t>
            </a:r>
          </a:p>
        </p:txBody>
      </p:sp>
      <p:sp>
        <p:nvSpPr>
          <p:cNvPr id="30" name="F3Bg"/>
          <p:cNvSpPr/>
          <p:nvPr/>
        </p:nvSpPr>
        <p:spPr>
          <a:xfrm>
            <a:off x="4709040" y="1937376"/>
            <a:ext cx="3687960" cy="384048"/>
          </a:xfrm>
          <a:prstGeom prst="rect">
            <a:avLst/>
          </a:prstGeom>
          <a:solidFill>
            <a:srgbClr val="E8F8F5"/>
          </a:solidFill>
          <a:ln w="9525">
            <a:solidFill>
              <a:srgbClr val="A2D9CE"/>
            </a:solidFill>
          </a:ln>
        </p:spPr>
      </p:sp>
      <p:sp>
        <p:nvSpPr>
          <p:cNvPr id="31" name="F3Num"/>
          <p:cNvSpPr/>
          <p:nvPr/>
        </p:nvSpPr>
        <p:spPr>
          <a:xfrm>
            <a:off x="4709040" y="1937376"/>
            <a:ext cx="292608" cy="38404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</a:ln>
        </p:spPr>
      </p:sp>
      <p:sp>
        <p:nvSpPr>
          <p:cNvPr id="32" name="F3NumT"/>
          <p:cNvSpPr/>
          <p:nvPr/>
        </p:nvSpPr>
        <p:spPr>
          <a:xfrm>
            <a:off x="4709040" y="1937376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33" name="F3Txt"/>
          <p:cNvSpPr/>
          <p:nvPr/>
        </p:nvSpPr>
        <p:spPr>
          <a:xfrm>
            <a:off x="5047000" y="1950000"/>
            <a:ext cx="333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</a:rPr>
              <a:t>PVT Hybrid Collector Integration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</a:rPr>
              <a:t>Replace flat-plate collectors with PV-thermal (PVT) panels for simultaneous electricity and thermal regeneration.</a:t>
            </a:r>
          </a:p>
        </p:txBody>
      </p:sp>
      <p:sp>
        <p:nvSpPr>
          <p:cNvPr id="34" name="F4Bg"/>
          <p:cNvSpPr/>
          <p:nvPr/>
        </p:nvSpPr>
        <p:spPr>
          <a:xfrm>
            <a:off x="4709040" y="2357424"/>
            <a:ext cx="3687960" cy="384048"/>
          </a:xfrm>
          <a:prstGeom prst="rect">
            <a:avLst/>
          </a:prstGeom>
          <a:solidFill>
            <a:srgbClr val="E8F8F5"/>
          </a:solidFill>
          <a:ln w="9525">
            <a:solidFill>
              <a:srgbClr val="A2D9CE"/>
            </a:solidFill>
          </a:ln>
        </p:spPr>
      </p:sp>
      <p:sp>
        <p:nvSpPr>
          <p:cNvPr id="35" name="F4Num"/>
          <p:cNvSpPr/>
          <p:nvPr/>
        </p:nvSpPr>
        <p:spPr>
          <a:xfrm>
            <a:off x="4709040" y="2357424"/>
            <a:ext cx="292608" cy="38404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</a:ln>
        </p:spPr>
      </p:sp>
      <p:sp>
        <p:nvSpPr>
          <p:cNvPr id="36" name="F4NumT"/>
          <p:cNvSpPr/>
          <p:nvPr/>
        </p:nvSpPr>
        <p:spPr>
          <a:xfrm>
            <a:off x="4709040" y="2357424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37" name="F4Txt"/>
          <p:cNvSpPr/>
          <p:nvPr/>
        </p:nvSpPr>
        <p:spPr>
          <a:xfrm>
            <a:off x="5047000" y="2370000"/>
            <a:ext cx="333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</a:rPr>
              <a:t>AI-Based Predictive Control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</a:rPr>
              <a:t>Implement ML-driven Model Predictive Control (MPC) to optimise solar regeneration scheduling in real time.</a:t>
            </a:r>
          </a:p>
        </p:txBody>
      </p:sp>
      <p:sp>
        <p:nvSpPr>
          <p:cNvPr id="38" name="F5Bg"/>
          <p:cNvSpPr/>
          <p:nvPr/>
        </p:nvSpPr>
        <p:spPr>
          <a:xfrm>
            <a:off x="4709040" y="2777472"/>
            <a:ext cx="3687960" cy="384048"/>
          </a:xfrm>
          <a:prstGeom prst="rect">
            <a:avLst/>
          </a:prstGeom>
          <a:solidFill>
            <a:srgbClr val="E8F8F5"/>
          </a:solidFill>
          <a:ln w="9525">
            <a:solidFill>
              <a:srgbClr val="A2D9CE"/>
            </a:solidFill>
          </a:ln>
        </p:spPr>
      </p:sp>
      <p:sp>
        <p:nvSpPr>
          <p:cNvPr id="39" name="F5Num"/>
          <p:cNvSpPr/>
          <p:nvPr/>
        </p:nvSpPr>
        <p:spPr>
          <a:xfrm>
            <a:off x="4709040" y="2777472"/>
            <a:ext cx="292608" cy="38404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</a:ln>
        </p:spPr>
      </p:sp>
      <p:sp>
        <p:nvSpPr>
          <p:cNvPr id="40" name="F5NumT"/>
          <p:cNvSpPr/>
          <p:nvPr/>
        </p:nvSpPr>
        <p:spPr>
          <a:xfrm>
            <a:off x="4709040" y="2777472"/>
            <a:ext cx="292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</a:rPr>
              <a:t>05</a:t>
            </a:r>
          </a:p>
        </p:txBody>
      </p:sp>
      <p:sp>
        <p:nvSpPr>
          <p:cNvPr id="41" name="F5Txt"/>
          <p:cNvSpPr/>
          <p:nvPr/>
        </p:nvSpPr>
        <p:spPr>
          <a:xfrm>
            <a:off x="5047000" y="2790000"/>
            <a:ext cx="333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5E"/>
                </a:solidFill>
                <a:latin typeface="Calibri" pitchFamily="34" charset="0"/>
              </a:rPr>
              <a:t>District Cooling Scalability</a:t>
            </a:r>
          </a:p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</a:rPr>
              <a:t>Assess technical and economic feasibility of scaling SA-GSHP to district-level cooling networks.</a:t>
            </a:r>
          </a:p>
        </p:txBody>
      </p:sp>
      <p:sp>
        <p:nvSpPr>
          <p:cNvPr id="50" name="BarBg"/>
          <p:cNvSpPr/>
          <p:nvPr/>
        </p:nvSpPr>
        <p:spPr>
          <a:xfrm>
            <a:off x="777240" y="3700000"/>
            <a:ext cx="7315200" cy="18288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</a:ln>
        </p:spPr>
      </p:sp>
      <p:sp>
        <p:nvSpPr>
          <p:cNvPr id="51" name="BarTxt"/>
          <p:cNvSpPr/>
          <p:nvPr/>
        </p:nvSpPr>
        <p:spPr>
          <a:xfrm>
            <a:off x="822960" y="3700000"/>
            <a:ext cx="7269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</a:rPr>
              <a:t>These limitations represent opportunities: each can become a distinct follow-on research contribution in the GCC renewable cooling space.</a:t>
            </a:r>
          </a:p>
        </p:txBody>
      </p:sp>
      <p:sp>
        <p:nvSpPr>
          <p:cNvPr id="52" name="SN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enc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Bg"/>
          <p:cNvSpPr/>
          <p:nvPr/>
        </p:nvSpPr>
        <p:spPr>
          <a:xfrm>
            <a:off x="777240" y="73152"/>
            <a:ext cx="7315200" cy="566928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</a:ln>
        </p:spPr>
      </p:sp>
      <p:sp>
        <p:nvSpPr>
          <p:cNvPr id="3" name="TTxt"/>
          <p:cNvSpPr/>
          <p:nvPr/>
        </p:nvSpPr>
        <p:spPr>
          <a:xfrm>
            <a:off x="804672" y="73152"/>
            <a:ext cx="728776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References</a:t>
            </a:r>
          </a:p>
        </p:txBody>
      </p:sp>
      <p:sp>
        <p:nvSpPr>
          <p:cNvPr id="4" name="OBar"/>
          <p:cNvSpPr/>
          <p:nvPr/>
        </p:nvSpPr>
        <p:spPr>
          <a:xfrm>
            <a:off x="777240" y="640080"/>
            <a:ext cx="731520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</a:ln>
        </p:spPr>
      </p:sp>
      <p:sp>
        <p:nvSpPr>
          <p:cNvPr id="10" name="LRef"/>
          <p:cNvSpPr/>
          <p:nvPr/>
        </p:nvSpPr>
        <p:spPr>
          <a:xfrm>
            <a:off x="777240" y="750000"/>
            <a:ext cx="3840480" cy="3700000"/>
          </a:xfrm>
          <a:prstGeom prst="rect">
            <a:avLst/>
          </a:prstGeom>
          <a:noFill/>
          <a:ln/>
        </p:spPr>
        <p:txBody>
          <a:bodyPr wrap="square" rtlCol="0" anchor="t" lIns="91440" rIns="91440" tIns="91440" bIns="91440"/>
          <a:lstStyle/>
          <a:p>
            <a:pPr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</a:rPr>
              <a:t>[1]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Alahmad, M. &amp; Alfaer, M. (2022).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Ground Source Heat Pumps in Arid Climates: A Review.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Energy and Buildings, 254, 111590.</a:t>
            </a:r>
          </a:p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</a:rPr>
              <a:t>[2]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Klagsbrunn, M. &amp; Niers, R. (2022).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ASHP Efficiency Degradation at High Ambient Temperatures.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Applied Thermal Engineering, 201, 117732.</a:t>
            </a:r>
          </a:p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</a:rPr>
              <a:t>[3]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Belliardi, M. et al. (2023).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Solar-Assisted GSHP Simulation Benchmarking via TRNSYS 18.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Renewable Energy, 198, 450–462.</a:t>
            </a:r>
          </a:p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</a:rPr>
              <a:t>[4]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Bai, B. &amp; Nam, Y. (2022).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Ground Thermal Imbalance in Hot Climates: Long-Term Borehole Drift Analysis.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Geothermics, 101, 102357.</a:t>
            </a:r>
          </a:p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</a:rPr>
              <a:t>[5]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Cimmino, M. &amp; Bernier, M. (2014).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Experimental Validation of g-Functions for a Field of Eight Boreholes.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ASHRAE Transactions, 120(1), 436–445.</a:t>
            </a:r>
          </a:p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Calibri" pitchFamily="34" charset="0"/>
              </a:rPr>
              <a:t>[6]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Electricity &amp; Water Authority, Bahrain (2023).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Annual Statistical Report 2023.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Manama: EWA Publications.</a:t>
            </a:r>
          </a:p>
        </p:txBody>
      </p:sp>
      <p:sp>
        <p:nvSpPr>
          <p:cNvPr id="20" name="RRef"/>
          <p:cNvSpPr/>
          <p:nvPr/>
        </p:nvSpPr>
        <p:spPr>
          <a:xfrm>
            <a:off x="4709040" y="750000"/>
            <a:ext cx="3687960" cy="3700000"/>
          </a:xfrm>
          <a:prstGeom prst="rect">
            <a:avLst/>
          </a:prstGeom>
          <a:noFill/>
          <a:ln/>
        </p:spPr>
        <p:txBody>
          <a:bodyPr wrap="square" rtlCol="0" anchor="t" lIns="91440" rIns="91440" tIns="91440" bIns="91440"/>
          <a:lstStyle/>
          <a:p>
            <a:pPr indent="0" marL="0">
              <a:buNone/>
            </a:pPr>
            <a:r>
              <a:rPr lang="en-US" sz="900" b="1" dirty="0">
                <a:solidFill>
                  <a:srgbClr val="00B5C8"/>
                </a:solidFill>
                <a:latin typeface="Calibri" pitchFamily="34" charset="0"/>
              </a:rPr>
              <a:t>[7]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Sanner, B. et al. (2003).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Current Status of Ground Source Heat Pumps and Underground Thermal Energy Storage in Europe.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Geothermics, 32(4–6), 579–588.</a:t>
            </a:r>
          </a:p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00B5C8"/>
                </a:solidFill>
                <a:latin typeface="Calibri" pitchFamily="34" charset="0"/>
              </a:rPr>
              <a:t>[8]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Kjellsson, E. et al. (2010).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Optimisation of Solar Collectors Combined with Ground Source Heat Pumps.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Energy, 35(6), 2523–2531.</a:t>
            </a:r>
          </a:p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00B5C8"/>
                </a:solidFill>
                <a:latin typeface="Calibri" pitchFamily="34" charset="0"/>
              </a:rPr>
              <a:t>[9]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Atam, E. &amp; Helsen, L. (2016).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Ground-Coupled Heat Pumps: Part 1—Literature Review.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Renewable and Sustainable Energy Reviews, 54, 1230–1239.</a:t>
            </a:r>
          </a:p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00B5C8"/>
                </a:solidFill>
                <a:latin typeface="Calibri" pitchFamily="34" charset="0"/>
              </a:rPr>
              <a:t>[10]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Naicker, S. S. &amp; Rees, S. J. (2018).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Performance Analysis of a Large Geothermal Heating and Cooling System.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Renewable Energy, 122, 429–442.</a:t>
            </a:r>
          </a:p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00B5C8"/>
                </a:solidFill>
                <a:latin typeface="Calibri" pitchFamily="34" charset="0"/>
              </a:rPr>
              <a:t>[11]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Al-Ajmi, F. et al. (2006).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Estimating Air Infiltration through Dampers of Intermittently Operated HVAC Systems.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Building and Environment, 41(11), 1557–1564.</a:t>
            </a:r>
          </a:p>
          <a:p>
            <a:pPr indent="0" marL="0">
              <a:buNone/>
            </a:pPr>
            <a:r>
              <a:rPr lang="en-US" sz="200" dirty="0">
                <a:solidFill>
                  <a:srgbClr val="FFFFFF"/>
                </a:solidFill>
                <a:latin typeface="Calibri" pitchFamily="34" charset="0"/>
              </a:rPr>
              <a:t> </a:t>
            </a:r>
          </a:p>
          <a:p>
            <a:pPr indent="0" marL="0">
              <a:buNone/>
            </a:pPr>
            <a:r>
              <a:rPr lang="en-US" sz="900" b="1" dirty="0">
                <a:solidFill>
                  <a:srgbClr val="00B5C8"/>
                </a:solidFill>
                <a:latin typeface="Calibri" pitchFamily="34" charset="0"/>
              </a:rPr>
              <a:t>[12] 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Magraner, T. et al. (2010). </a:t>
            </a:r>
            <a:r>
              <a:rPr lang="en-US" sz="900" i="1" dirty="0">
                <a:solidFill>
                  <a:srgbClr val="222222"/>
                </a:solidFill>
                <a:latin typeface="Calibri" pitchFamily="34" charset="0"/>
              </a:rPr>
              <a:t>Comparison of Design Methods for Hybrid Ground Coupled Heat Pump Systems.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</a:rPr>
              <a:t> HVAC&amp;R Research, 16(2), 169–191.</a:t>
            </a:r>
          </a:p>
        </p:txBody>
      </p:sp>
      <p:sp>
        <p:nvSpPr>
          <p:cNvPr id="30" name="Divider"/>
          <p:cNvSpPr/>
          <p:nvPr/>
        </p:nvSpPr>
        <p:spPr>
          <a:xfrm>
            <a:off x="4672800" y="750000"/>
            <a:ext cx="36576" cy="3700000"/>
          </a:xfrm>
          <a:prstGeom prst="rect">
            <a:avLst/>
          </a:prstGeom>
          <a:solidFill>
            <a:srgbClr val="D5D8DC"/>
          </a:solidFill>
          <a:ln w="6350">
            <a:solidFill>
              <a:srgbClr val="D5D8DC"/>
            </a:solidFill>
          </a:ln>
        </p:spPr>
      </p:sp>
      <p:sp>
        <p:nvSpPr>
          <p:cNvPr id="40" name="BarBg"/>
          <p:cNvSpPr/>
          <p:nvPr/>
        </p:nvSpPr>
        <p:spPr>
          <a:xfrm>
            <a:off x="777240" y="4550000"/>
            <a:ext cx="7315200" cy="18288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</a:ln>
        </p:spPr>
      </p:sp>
      <p:sp>
        <p:nvSpPr>
          <p:cNvPr id="41" name="BarTxt"/>
          <p:cNvSpPr/>
          <p:nvPr/>
        </p:nvSpPr>
        <p:spPr>
          <a:xfrm>
            <a:off x="822960" y="4550000"/>
            <a:ext cx="7269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Full bibliography available in the submitted thesis. All sources accessed 2024–2025.</a:t>
            </a:r>
          </a:p>
        </p:txBody>
      </p:sp>
      <p:sp>
        <p:nvSpPr>
          <p:cNvPr id="42" name="SN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2926080"/>
            <a:ext cx="5029200" cy="5029200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0"/>
            <a:ext cx="914400" cy="914400"/>
          </a:xfrm>
          <a:prstGeom prst="rect">
            <a:avLst/>
          </a:prstGeom>
          <a:solidFill>
            <a:srgbClr val="1B2A5E"/>
          </a:solidFill>
          <a:ln w="12700">
            <a:solidFill>
              <a:srgbClr val="1B2A5E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73152"/>
            <a:ext cx="2606040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01168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768096"/>
            <a:ext cx="8321040" cy="731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987552"/>
            <a:ext cx="329184" cy="329184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987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5840" y="91440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SA-GSHP achieved SCOP of 4.5, exceeding the ≥4.0 target — an 80% advantage over the ASHP baseline.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1645920"/>
            <a:ext cx="329184" cy="329184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16459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05840" y="1572768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thermal regeneration limited 20-year ground temperature drift to +0.8°C — within the ≤1.0°C design threshold.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304288"/>
            <a:ext cx="329184" cy="329184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304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05840" y="2231136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25-year LCC confirms near-cost-parity at current tariffs; SA-GSHP becomes decisively superior as subsidies normalise.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2962656"/>
            <a:ext cx="329184" cy="329184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2962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05840" y="2889504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drilling subsidy + 0.040 BHD/kWh tariff reduces SPBP to 6.9 years — commercially viable target met.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3621024"/>
            <a:ext cx="329184" cy="329184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6210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05840" y="3547872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 net tonnes of CO₂ prevented per installation over 25 years; cooling-related water consumption eliminated.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279392"/>
            <a:ext cx="329184" cy="329184"/>
          </a:xfrm>
          <a:prstGeom prst="ellipse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2793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" y="4206240"/>
            <a:ext cx="7863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ESCO model validated: 5% market penetration delivers 63 MW demand reduction; subsidy is fiscally self-liquidating within a decade.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548640" y="4773168"/>
            <a:ext cx="8321040" cy="292608"/>
          </a:xfrm>
          <a:prstGeom prst="rect">
            <a:avLst/>
          </a:prstGeom>
          <a:solidFill>
            <a:srgbClr val="00B5C8"/>
          </a:solidFill>
          <a:ln w="12700">
            <a:solidFill>
              <a:srgbClr val="00B5C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4773168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targeted policy support, SA-GSHP is a technically, economically, and commercially viable pathway for sustainable cooling in Bahrain &amp; the GCC.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778240" y="48920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Appendix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D35400"/>
                </a:solidFill>
              </a:defRPr>
            </a:pPr>
            <a:r>
              <a:t>EnergyPlus + Python Simulation Pipeline</a:t>
            </a:r>
            <a:br/>
            <a:r>
              <a:t>Validation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EnergyPlus Building Simulation — Initialization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9144000" cy="73152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31520"/>
            <a:ext cx="6217920" cy="3497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3205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Fig. A1 — EnergyPlus building simulation startup and initialization sequence.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EnergyPlus Simulation — Solar &amp; HVAC Initialization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9144000" cy="73152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02" y="731520"/>
            <a:ext cx="7918195" cy="3497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3205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Fig. A2 — Solar calculations, shading combinations, and HVAC initialization.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EnergyPlus Completion — Hourly Cooling Load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9144000" cy="73152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4" y="731520"/>
            <a:ext cx="7324731" cy="3497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3205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Fig. A3 — EnergyPlus completion with annual cooling load of 28,837 kWh and peak load of 6.5 kW.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Heat Pump Performance — COP vs. Entering Water Temperature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9144000" cy="73152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158" y="731520"/>
            <a:ext cx="6223682" cy="3497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3205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Fig. A4 — Heat pump COP degradation curve with entering water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SA-GSHP Annual Performance &amp; Borehole Thermal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9144000" cy="73152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31520"/>
            <a:ext cx="6217920" cy="3497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3205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Fig. A5 — Year 1 SA-GSHP performance and 20-year borehole temperature drift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Economic, Environmental &amp; Validation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9144000" cy="73152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565" y="731520"/>
            <a:ext cx="3908869" cy="3497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3205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Fig. A6 — Life-cycle cost, CO₂ analysis, and automated validation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Complete Simulation Pipeline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9144000" cy="73152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573" y="731520"/>
            <a:ext cx="3772852" cy="34975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43205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Fig. A7 — Full pipeline execution summary with all generated output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777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2026-05-09T14:29:56Z</dcterms:created>
  <dcterms:modified xsi:type="dcterms:W3CDTF">2026-05-09T14:29:56Z</dcterms:modified>
</cp:coreProperties>
</file>