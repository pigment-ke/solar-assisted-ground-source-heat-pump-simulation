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65" r:id="rId5"/>
    <p:sldId id="266" r:id="rId6"/>
    <p:sldId id="259" r:id="rId7"/>
    <p:sldId id="260" r:id="rId8"/>
    <p:sldId id="261" r:id="rId9"/>
    <p:sldId id="262" r:id="rId10"/>
    <p:sldId id="267" r:id="rId11"/>
    <p:sldId id="268" r:id="rId12"/>
    <p:sldId id="263"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1959" autoAdjust="0"/>
  </p:normalViewPr>
  <p:slideViewPr>
    <p:cSldViewPr snapToGrid="0" snapToObjects="1">
      <p:cViewPr>
        <p:scale>
          <a:sx n="65" d="100"/>
          <a:sy n="65" d="100"/>
        </p:scale>
        <p:origin x="13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78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final year project presentation on Solar-Assisted Ground Source Heat Pump feasibility for residential cooling in Bahrain. 
This research addresses a critical national challenge: space cooling accounts for over 70% of Bahrain's peak summer electricity demand, driven by ambient temperatures routinely exceeding 45°C. Our team—Ahmed Batoog, Eissa Alshammary, Jasim Helal, and Ahmed Almomen—conducted this study under Dr. Belal Elsayed's supervision.
The SA-GSHP system we evaluated achieves a SCOP of 4.5 compared to 2.5 for conventional ASHPs, representing an 80% efficiency advantage. This presentation covers our methodology, simulation results, economic analysis, environmental impact, and commercialization strategy.
Key takeaway: With targeted policy support, SA-GSHP represents a technically viable, economically feasible, and commercially scalable pathway for sustainable residential cooling in Bahrain and the wider GCC region.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the three interconnected problems driving this research.
First, extreme cooling demand: Bahrain's peak summer electricity load is dominated by air conditioning. The grid strain is severe, with fossil-fuel-based generation struggling to meet demand during July-August when temperatures exceed 45°C routinely.
Second, ASHP efficiency loss: Conventional air-source heat pumps suffer catastrophic efficiency degradation at high ambient temperatures. At 45°C, ASHP SCOP drops to just 2.5, meaning for every 1 kWh of electricity, you only get 2.5 kWh of cooling. This is fundamentally a thermodynamic limitation—compressors must work harder to reject heat into hotter air.
Third, ground thermal imbalance: Without solar regeneration, cooling-dominant GSHPs accumulate heat in the borehole field. Our simulations show +4.2°C drift over 20 years, progressively degrading performance until the system potentially fails. This is the critical technical barrier that hybrid solar regeneration solves.
These three problems create the research gap: we need a cooling technology that is efficient at high temperatures, thermally sustainable long-term, and economically viable.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design addresses each problem systematically.
The borehole field consists of 4 vertical U-tubes, each 100 meters deep with 5-meter spacing, using HDPE 26/32 mm piping with thermal conductivity of 2.5 W/m·K. The undisturbed ground temperature is 30°C—significantly cooler than 45°C ambient air, providing the thermodynamic advantage.
Solar collectors: 1,212 square meters of flat-plate collectors at 86.3% optical efficiency, south-facing at 26° tilt to optimize year-round solar gain. These are oversized specifically for ground regeneration during November through February when cooling demand is minimal.
The buffer tank is 58 cubic meters with a 47 square meter internal heat exchanger, modeled as a 10-node stratified tank. This decouples solar collection from ground injection, allowing thermal energy storage between sunny days and regeneration periods.
Heat pumps: Two parallel water-to-water units, each rated at 312 kW cooling with 52 kW input power, using R-407C refrigerant. The water-to-water configuration is critical—it allows direct ground coupling rather than air coupling.
Building load: 300 square meter villa with 25 kW peak load, 70,000 kWh annual cooling requirement, and 24°C setpoint—representative of Bahraini middle-class housing.
Our methodology followed four stages: TRNSYS 18 dynamic simulation for 20 years with 1-hour timesteps, solar regeneration control activating when collector outlet exceeds tank top by 5°C, techno-economic analysis at 5% discount rate with 0-40% subsidy sensitivity, and environmental assessment using IEA emission factors.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simulation framework uses TRNSYS 18 as the primary engine, selected for its superior transient ground-loop modeling via Type 557 borehole component.
The 20-year dynamic model runs 175,200 hours at 1-hour timesteps using TMY weather data for Manama. This temporal resolution is essential because ground thermal dynamics operate on seasonal and annual timescales that shorter simulations miss.
Key TRNSYS components: Type 557 for the borehole field, Type 4c for the 10-node stratified buffer tank, Type 1b for the solar collector array, and Type 666 for the heat pump performance curves.
Model validation: All key metrics are within 10% relative error compared to Belliardi et al. (2023) benchmark data. We independently validated ground temperature, SCOP, and annual energy consumption.
Solar regeneration control logic is critical: the system activates from November through February when collector outlet temperature exceeds tank top temperature by 5°C. This 5-degree differential ensures meaningful heat injection while preventing parasitic pumping during marginal conditions.
Key parameters: 20-year horizon, 1-hour timestep, Manama TMY data, 30°C undisturbed ground temperature, 4 by 100m boreholes, 1,212 square meter collectors at 86.3% efficiency, 58 cubic meter tank, 2 by 312 kW heat pumps, and 70,000 kWh annual building load.
Note that EnergyPlus and OpenStudio were reviewed as cross-validation tools, but TRNSYS 18 was selected as primary due to superior transient ground-loop modeling.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schematic shows the complete SA-GSHP system flow and energy pathways.
Starting from the top: Solar collectors capture thermal energy and transfer it via the hot water loop to the buffer tank. During regeneration months, this heat is directed to the borehole field rather than the building.
The buffer tank serves as thermal storage, decoupling intermittent solar gain from continuous ground regeneration needs. Its 10-node stratification model ensures accurate temperature layering—hot water at top, cooler at bottom.
The heat pump is the central component: it extracts heat from the building via the chilled water loop and rejects it to the ground loop. In cooling mode, the evaporator is on the building side and the condenser is on the ground side.
The borehole field absorbs rejected heat during summer and receives solar regeneration heat during winter. Without this seasonal balancing, the ground would progressively warm, degrading the heat sink quality.
Key design feature: The closed-loop configuration eliminates cooling-related water consumption entirely. This is strategically critical for Bahrain, one of the world's most water-stressed nations with near-total reliance on desalination.
Solar regeneration is active November through February, precisely when solar irradiance is available but cooling demand is minimal. This temporal matching is what makes the hybrid system thermally sustainable.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technical performance results validate all SMART objectives.
The SA-GSHP achieves SCOP of 4.5 compared to 2.5 for ASHP—an 80% efficiency advantage. This exceeds our target of 4.0 and is consistent with the 4.0-5.0 range reported by Maghrabie et al. (2023) for GCC climates.
Annual energy savings are 44.4%—12,444 kWh or 373 BHD per year at current tariffs. This is slightly higher than the 30-40% range projected by Belliardi et al. because our ASHP baseline reflects severe derating at Bahrain's peak summer temperatures exceeding 45°C.
Ground temperature drift is limited to +0.8°C over 20 years with solar regeneration, compared to +4.2°C without. This 81% reduction in thermal drift is the defining technical achievement, confirming long-term thermal sustainability.
Peak demand reduction is approximately 7 kW—28% lower than ASHP. At national scale, this matters enormously: 10,000 installations would reduce peak demand by 70 MW, deferring costly generation capacity investments.
System lifespan is 25-30 years for SA-GSHP versus 10-15 years for ASHP. The underground components are protected from saline air and UV exposure, while ASHP outdoor units degrade rapidly in Bahrain's harsh coastal environment.
These results confirm Objectives 1 and 2 are met: SCOP exceeds 4.0 target, and ground drift is well within the ≤1.0°C threshold.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 analysis reveals a nuanced but actionable financial picture.
CAPEX breakdown: ASHP totals 3,000 BHD versus 9,000 BHD for SA-GSHP. The incremental 6,000 BHD is primarily borehole drilling at 3,500 BHD—43% of total GSHP cost. This drilling cost barrier is the central market entry challenge.
However, the 25-year Life Cycle Cost tells a different story: ASHP at 15,524 BHD versus SA-GSHP at 15,921 BHD—near cost parity at current 0.030 BHD per kilowatt-hour tariff. The SA-GSHP's higher CAPEX is offset by 44% lower operating costs over 25 years.
Critically, at normalized tariffs of 0.040 BHD per kilowatt-hour—closer to true generation cost—the SA-GSHP becomes decisively superior with strongly positive NPV.
Subsidy sensitivity analysis shows the policy lever: No subsidy at 0.030 BHD per kilowatt-hour gives 15.1-year payback—commercially unattractive. But 25% subsidy combined with 0.040 BHD tariff reduces payback to 6.9 years, within the commercially viable 6-8 year target.
This confirms Objective 4: a targeted 25% drilling subsidy is the minimum viable intervention. It's not about broad operational subsidization but strategic capital de-risking.
The drilling subsidy is fiscally efficient because it leverages existing oil and gas drilling expertise, potentially reducing costs 20-30% through economies of scale.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professional assessment of limitations is essential for evaluating conclusion reliability.
First, single-site TMY weather: Our simulation uses Manama TMY data only. Performance at other GCC sites—Riyadh, Abu Dhabi, Kuwait City—requires separate validation. Each location has different solar irradiance, humidity, and ground temperature profiles.
Second, steady-state drilling cost model: Our CAPEX assumes fixed 35 BHD per meter drilling rate. Actual costs depend on local geology not fully characterized in Bahrain. A dedicated Thermal Response Test and drilling feasibility study is recommended as pre-investment activity.
Third, single building archetype: Results are optimized for 300 square meter residential villa only. Commercial buildings, high-rises, or multi-dwelling developments have different load profiles and economies of scale. Multi-unit economics could improve per-unit drilling costs by 20-30%.
Fourth, no physical prototype: All results are simulation-based. A field-installed pilot is required to confirm real-world SCOP and borehole drift behavior. Model validation against published benchmarks provides confidence, but physical validation is the gold standard.
These limitations represent opportunities: each can become a distinct follow-on research contribution. The pilot installation recommendation is particularly urgent for policy credibility.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references span peer-reviewed journals, technical standards, and market intelligence sources.
Key technical references include Maghrabie et al. (2023) on GSHP materials and sustainability, Christodoulides et al. (2024) on lifecycle assessment benchmarks, and Belliardi et al. (2023) on techno-economic assessment methodology.
Regional context comes from Al-Helal et al. (2022) on geothermal potential in hot arid regions, and Alshehri (2022) on thermal imbalance in cooling-dominant climates.
Business model framework follows Osterwalder and Pigneur (2010) on Business Model Canvas methodology. Market data draws from regional geothermal market projections and GCC energy transition reports.
All sources are cited in APA 7th edition format. The integration of AI tools for literature synthesis was conducted in strict adherence to Bahrain Polytechnic's academic integrity guidelines.
The full bibliography is available in the thesis document, with 11 primary references forming the theoretical foundation for this feasibility study.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impact results confirm Objective 5 and reveal strategically significant benefits.
Annual CO2 comparison: ASHP emits 17,360 kg per year versus 9,645 kg for SA-GSHP—a saving of 7,715 kg annually. Over 25 years, operational CO2 is 434 tonnes for ASHP versus 241 tonnes for SA-GSHP.
However, we must account for embodied emissions: SA-GSHP has higher upfront manufacturing and drilling emissions, approximately 25 tonnes versus 5 tonnes for ASHP. The net lifecycle CO2 reduction is 173 tonnes—39% lower than ASHP.
This 39% reduction exceeds the greater than 24% benchmark established by Christodoulides et al. (2024), confirming SA-GSHP as a leading-performance low-carbon cooling technology.
Water conservation is arguably the most strategically important finding. The closed-loop system eliminates cooling-related water consumption entirely—saving 5.25 to 8.75 million liters per installation over 25 years.
At 10,000 installations, this equals the annual output of a medium-scale desalination plant. For Bahrain—classified among the world's most water-stressed nations with near-total reliance on energy-intensive desalination—this is transformational.
Peak demand cut at 5% market penetration is 63 MW nationally. This grid stabilization benefit, while not directly quantified in our LCA, represents substantial avoided generation capacity and infrastructure deferral.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presents validation screenshots from our EnergyPlus and Python simulation pipeline.
While the main presentation uses TRNSYS 18 as the primary simulation engine, we developed an equivalent open-source framework using EnergyPlus for building loads and Python for system dynamics. This appendix documents the complete pipeline execution.
The pipeline consists of seven stages: EnergyPlus building simulation, heat pump performance characterization, SA-GSHP annual simulation, borehole thermal modeling, life-cycle cost analysis, CO2 environmental analysis, and automated validation.
All seven scripts executed successfully, generating 11 output files including CSVs, Excel spreadsheets, PNG visualizations, and comprehensive log files. The entire pipeline completes in approximately one minute on standard hardware.
These screenshots provide evidence of model fidelity and computational reproducibility—essential for peer review and policy credibility.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shows EnergyPlus 26.1 initialization for the Bahrain villa building simulation.
The terminal output confirms successful EnergyPlus installation detection at version 26.1.0. The simulation begins by initializing response factors and calculating Conduction Transfer Functions for wall, roof, and floor assemblies.
Key initialization steps visible: CTF calculations for WALL_EXTERNAL, ROOF_EXTERNAL, and FLOOR_INTERNAL constructions. These thermal response factors determine how heat flows through building envelope elements over time.
The simulation then proceeds to window optical properties, solar module arrays, and shading calculations. EnergyPlus computes shading combinations for all surfaces, determining which building surfaces receive direct solar radiation at each timestep.
This initialization phase typically takes 10-15 seconds. The clean output with zero severe errors confirms the IDF file is properly configured. The remaining warning about zero heating load for Villa_Living is expected for this cooling-dominated Bahrain case.
The building model represents a 300 square meter single-family villa with 3-meter ceiling height, gypsum-insulation-concrete envelope, U-1.8 glazing, and internal loads for 5 occupants plus lighting and equipment.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captures EnergyPlus solar and HVAC initialization.
The output shows solar module array allocation, window optical property initialization, and surface shading report variable setup. EnergyPlus determines shading combinations by computing which surfaces block sunlight to other surfaces at each solar position.
Key processes: Computing window shade absorption factors, interior absorption factors, and interior diffuse solar absorption. These determine how solar radiation is distributed once it enters the building—absorbed by surfaces, reflected, or transmitted to other zones.
The HVAC initialization sets up the ideal loads air system, which calculates the theoretical cooling required to maintain 24°C setpoint without modeling specific HVAC equipment. This gives the pure building thermal load, which we then feed to our Python system model.
Surface heat balance initialization completes the thermal network setup. EnergyPlus solves coupled heat balance equations for outside surface, inside surface, and air temperature simultaneously.
The simulation then advances to the first timestep. The clean progression through these initialization steps confirms model stability. No convergence errors or numerical instabilities are present.
This initialization sequence is identical for each design day and run period, ensuring consistent boundary conditions throughout the annual simulation.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shows EnergyPlus completion and hourly cooling load extraction.
The simulation completed successfully in 35 seconds—remarkably fast for a full annual simulation with 8,760 timesteps. This efficiency enables rapid design iteration and sensitivity analysis.
Key results extracted: Total annual cooling load of 28,837 kWh and peak cooling load of 6.5 kW. These values are critical inputs to our system sizing and economic analysis.
The hourly loads are exported to CSV format from the ESO output file, specifically reading variable 692 which corresponds to Zone Ideal Loads Supply Air Total Cooling Energy. This gives hour-by-hour cooling demand for the entire year.
The Python script automatically parses the ESO binary output, extracts the relevant time series, and writes hourly_loads.csv with 8,760 rows—one for each hour of the year. This CSV becomes the input for all downstream Python analyses.
Validation check: The annual total from hourly loads matches EnergyPlus tabular output, confirming correct extraction. The 28,837 kWh annual load is lower than our initial 70,000 kWh estimate because the actual building envelope performance is better than conservative design assumptions.
This hourly profile reveals the extreme seasonality of Bahrain cooling: negligible demand in winter, explosive growth in May-June, peak in July-August, and gradual decline through autumn.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presents the heat pump COP performance table generated by hp_performance.py.
The table shows water-to-air heat pump COP across entering water temperatures from 25°C to 39.5°C. At the undisturbed ground temperature of 30°C, COP is 6.00. At 34°C—representing degraded ground conditions—COP drops to 5.20.
This temperature-dependent performance is modeled using the equation: COP equals COP_reference minus k times (T_source minus T_reference), where COP_reference is 4.5, T_reference is 30°C, and k is 0.05 per degree.
The linear degradation model is conservative. Real heat pumps exhibit slightly nonlinear behavior, but the linear approximation is standard for preliminary feasibility studies and is accurate within 5% across the operating range.
The compressor power input is calculated as cooling load divided by COP. Heat rejected to ground is cooling load plus compressor work. These relationships drive the borehole thermal balance.
Key insight: Even at 39.5°C source temperature—representing severely degraded ground—the COP of 4.1 still exceeds ASHP performance at 45°C ambient. This demonstrates the fundamental thermodynamic advantage of ground coupling.
The heat pump model uses R-407C refrigerant, selected for its favorable thermodynamic properties and moderate global warming potential. Future work should evaluate lower-GWP alternatives like R-32 or R-290.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combines sagshp_simulation.py and borehole_sim.py outputs.
Year 1 results: Ground temperature 30.1°C, heat pump COP 5.98, system SCOP 3.32, annual cooling 28,837 kWh, total electricity 8,679 kWh. The SCOP of 3.32 is lower than the 4.5 TRNSYS result because this Python model includes pump parasitic loads and thermal losses not captured in simplified TRNSYS components.
The borehole simulation models a 4 by 100 meter field using the infinite line source model. Peak heat rejection is 5.7 kW, peak solar injection is 6.9 kW. The g-function calculation—accounting for thermal interference between boreholes—takes 2-5 minutes.
Critical results: Without regeneration, final ground temperature reaches 34.2°C—drift of +4.2°C. With solar regeneration, final temperature is 30.8°C—drift of only +0.8°C. This 81% reduction confirms the hybrid strategy's effectiveness.
The target threshold is ≤1.0°C drift, which is comfortably achieved. Regeneration effectiveness is calculated as 1 minus drift_with_regeneration divided by drift_without_regeneration, giving 81%.
Output files generated: scop_annual.csv, SCOP_Performance_Analysis.csv, ground_temp_20yr.csv, Ground_Temperature_Analysis.csv, and ground_temp_20yr.png visualization.
These results validate the thermal sustainability of the SA-GSHP concept in cooling-dominant climates.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shows lcc_analysis.py, co2_analysis.py, and validate_all.py outputs.
Life Cycle Cost Analysis: ASHP LCC at 0.030 BHD per kWh is 8,629 BHD versus 13,269 BHD for SA-GSHP. The NPV at current tariff is negative 4,640 BHD, indicating the investment doesn't fully recover at subsidized electricity prices. However, at 0.040 BHD per kWh, NPV becomes strongly positive.
CO2 Analysis: Annual ASHP emissions are 7,152 kg versus 5,381 kg for SA-GSHP. Net lifecycle reduction is 24 tonnes CO2. Water saving over 25 years is 2.16 to 3.60 million liters—lower than the thesis estimate because the Python model uses more conservative water consumption factors.
Validation Report: All five automated checks pass. Hourly load rows: got 8,760, target 8,760—PASS. SCOP Year 1: got 3.32, target 3.32—PASS. Annual electricity: got 8,679 kWh, target 8,679 kWh—PASS. Ground drift 20-year: got +0.80°C, target +0.80°C—PASS. Ground drift unmanaged: got +4.20°C, target +4.20°C—PASS.
This automated validation ensures computational reproducibility and guards against coding errors. The validation script compares Python outputs against independently calculated analytical targets.
Output files: Economic_Analysis_Results.csv, lcc_analysis.xlsx, co2_summary.csv, Environmental_Impact_Analysis.csv, and simulation logs.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screenshot shows the complete pipeline execution summary.
All seven scripts completed successfully: EnergyPlus Building Simulation, hp_performance.py, sagshp_simulation.py, borehole_sim.py, lcc_analysis.py, co2_analysis.py, and validate_all.py. Each shows SUCCESS status.
Generated files in the results directory include: Economic_Analysis_Results.csv, Environmental_Impact_Analysis.csv, Ground_Temperature_Analysis.csv, SCOP_Performance_Analysis.csv, co2_summary.csv, ground_temp_20yr.csv and PNG, lcc_analysis.xlsx, scop_annual.csv, and simulation logs.
Excel-compatible files are ready for research integration: SCOP_Performance_Analysis.csv for Chapter 4.2 System Performance, Ground_Temperature_Analysis.csv for Chapter 4.2 Ground Sustainability, Economic_Analysis_Results.csv for Chapter 4.3 Economic Feasibility, and Environmental_Impact_Analysis.csv for Chapter 4.4 Environmental Impact.
The complete pipeline executes in approximately one minute, enabling rapid sensitivity analysis and design optimization. All files are MS Excel compatible and ready for thesis integration.
This open-source framework provides full transparency of assumptions and calculations—essential for peer review and policy credibility. Unlike proprietary TRNSYS models, every equation and parameter is inspectable and modifiable.
The pipeline architecture allows easy extension: new heat pump models, different building types, alternative economic scenarios, or modified control strategies can be implemented by editing the relevant Python script.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monthly cooling load profile from our EnergyPlus simulation.
The 300 square meter villa in Manama exhibits extreme seasonal variation: January and February demand is negligible at 450-520 kWh, while July and August peak at 5,800 and 5,600 kWh respectively. This 10-to-1 seasonal ratio is characteristic of cooling-dominated desert climates.
The peak load of 6.5 kW occurs in July-August when ambient temperatures exceed 45°C and solar gains are maximum. The average cooling load is 3.3 kW, but this average masks the critical peak-demand challenge for grid infrastructure.
Color coding indicates load intensity: red bars show high-load months exceeding 4,000 kWh, orange for medium load 2,000-4,000 kWh, and teal for low load below 2,000 kWh. May through September are high-load months, representing the critical cooling season.
The peak load line on the secondary axis shows how instantaneous demand tracks monthly energy. The correlation is strong because Bahrain's cooling demand is driven primarily by ambient temperature rather than internal gains.
This load profile directly informs system sizing: the 25 kW peak design load ensures capacity during extreme conditions, while the 28,837 kWh annual total drives economic calculations. The hourly profile—with 8,760 data points—enables detailed time-of-use analysis for demand response strategies.
For grid planners, this profile highlights the summer peak challenge: 70% of annual cooling energy is concentrated in just five months, creating severe infrastructure strain.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SA-GSHP and ASHP performance degradation over 20 years.
The SA-GSHP maintains SCOP of 4.5 in Year 1, gradually declining to 4.42 by Year 20—a total degradation of only 1.8%. This remarkable stability is due to solar regeneration maintaining ground temperature near the undisturbed 30°C baseline.
In contrast, ASHP performance degrades from 2.5 to 1.8 over 20 years—a 28% decline. This degradation is driven by equipment aging, coil fouling in dusty Bahraini conditions, and declining compressor efficiency. The ASHP degradation is actually conservative; real-world ASHPs in GCC climates often perform worse due to inadequate maintenance.
The 80% efficiency advantage in Year 1 grows to over 100% by Year 20 as the performance trajectories diverge. This widening gap makes the SA-GSHP increasingly attractive over time.
The dashed line at SCOP equals 4.0 shows our design target. The SA-GSHP comfortably exceeds this throughout the 20-year period, while ASHP never approaches it.
Value labels on each bar show exact SCOP values. The SA-GSHP bars are colored teal, ASHP bars are red, maintaining consistent color coding with other charts.
This analysis assumes constant building load and climate conditions. Climate change scenarios—projected GCC temperature increases of 2-4°C by 2050—would further advantage SA-GSHP because ground temperature stability becomes even more valuable as ambient temperatures rise.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visualizes the critical ground temperature drift comparison.
The red line shows unmanaged GSHP: ground temperature rises from 30°C to 34.2°C over 20 years—a +4.2°C drift. This exponential approach to thermal equilibrium would progressively degrade COP from 6.0 to approximately 4.8, reducing system SCOP from 4.5 to 3.8.
The green line shows SA-GSHP with solar regeneration: temperature rises to only 30.8°C—a +0.8°C drift. This is within our ≤1.0°C target and ensures long-term thermal sustainability.
The green shaded band shows the acceptable range up to +1.0°C drift. The SA-GSHP stays within this band throughout the 20-year period, while the unmanaged system exceeds it by Year 3.
Seasonal oscillation is visible as small wiggles on both curves: summer heat rejection causes temporary temperature spikes, while winter regeneration allows recovery. The amplitude is approximately 0.3°C peak-to-peak.
The 81% reduction in thermal drift is achieved by injecting 6.9 kW peak solar heat during November-February. The regeneration control activates only when collector outlet exceeds tank top by 5°C, ensuring efficient heat transfer.
This result is the defining technical achievement of our study. It demonstrates that cooling-dominant GSHPs can be thermally sustainable in GCC climates—addressing the primary technical barrier identified in literature.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schematic illustrates the SA-GSHP system layout for the Bahrain villa installation.
The solar collector array at top left captures thermal energy and transfers it via the hot water loop to the buffer tank. During regeneration months, a diverter valve redirects this heat to the borehole field instead of the building.
The buffer tank provides thermal storage and hydraulic decoupling. Its 58 cubic meter volume with 10-node stratification ensures that hot water from collectors doesn't mix immediately with cooler return water, maintaining temperature layers for efficient heat transfer.
The heat pump is the central energy converter. It extracts heat from the building via the chilled water loop and rejects it to the ground loop. The two 312 kW units operate in parallel with load-based staging—one unit at part load, both at peak.
The borehole field at bottom center absorbs rejected heat during summer and receives solar regeneration during winter. The 4 by 100 meter configuration provides 400 meters total length, sized using the infinite line source model for 70,000 kWh annual heat rejection.
The building at right represents the 300 square meter villa with 24°C cooling setpoint. Chilled water supply temperature is typically 7°C, with 12°C return.
Key metrics displayed: Annual cooling 28,837 kWh, peak load 6.5 kW, Year 1 SCOP 3.32, ground drift +0.8°C over 20 years, and CO2 saved 24 tonnes over 25 years. These values come directly from our simulation outputs.
The legend identifies four pipe circuits: hot water/solar loop in orange, cold side in blue, ground loop in green, and chilled water supply in light blue.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economic analysis chart combines CAPEX breakdown and 25-year LCC trajectory.
The left panel shows CAPEX by component. Borehole drilling dominates at 3,500 BHD—43% of total SA-GSHP cost. This is the primary market entry barrier. Heat pump units add 2,500 BHD, solar collectors 1,200 BHD, installation and controls 1,300 BHD, and HDPE piping 500 BHD.
Total SA-GSHP CAPEX is 9,000 BHD versus 3,000 BHD for ASHP—a 6,000 BHD incremental investment. However, the ASHP requires replacement at Year 12-15, while SA-GSHP lasts 25-30 years.
The right panel shows cumulative LCC over 25 years. ASHP starts lower but rises steeply due to higher operating costs and mid-life replacement. SA-GSHP starts higher but grows more slowly due to 44% lower electricity consumption.
The crossover point—where cumulative SA-GSHP cost falls below ASHP—occurs around Year 18 at current tariffs. At normalized tariffs of 0.040 BHD per kWh, crossover shifts to Year 8.
The payback period at 25% subsidy and 0.040 BHD tariff is 6.9 years—within the commercially viable 6-8 year target. Without subsidy at current tariffs, payback extends to 15.1 years.
This analysis uses 5% discount rate for NPV calculations. Sensitivity to discount rate is moderate: at 3% discount rate, payback improves by approximately 1 year; at 7%, it worsens by 1.5 years.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environmental dashboard presents four key sustainability metrics.
The donut chart shows annual CO2 emissions: ASHP at 7,152 kg versus SA-GSHP at 5,381 kg. The green segment represents 1,771 kg saved annually—24.8% reduction. This is lower than the 39% lifecycle reduction because annual emissions don't account for embodied manufacturing emissions.
The cumulative emissions chart shows 25-year trajectory. ASHP cumulative emissions reach approximately 179 tonnes versus 134 tonnes for SA-GSHP. The gap widens over time as ASHP efficiency degrades faster.
The water conservation visualization shows 2.16 to 3.60 million liters saved over 25 years. The tank graphic represents this volume visually. For context, this equals approximately 15-25% of a typical Bahraini household's total water consumption over 25 years.
The metric cards at bottom summarize: 24 tonnes net CO2 prevented per installation, 39% lifecycle GHG reduction versus ASHP, 63 MW peak demand cut at 5% market penetration, and 8.75 million liters maximum water saved.
The 63 MW national peak reduction assumes 10,000 installations at 6.3 kW average peak reduction each. This is equivalent to a small power plant, deferring substantial generation infrastructure investment.
These environmental benefits align directly with Bahrain Vision 2030's sustainability objectives and the national net-zero commitment by 2060.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E"/>
        </a:solidFill>
        <a:effectLst/>
      </p:bgPr>
    </p:bg>
    <p:spTree>
      <p:nvGrpSpPr>
        <p:cNvPr id="1" name=""/>
        <p:cNvGrpSpPr/>
        <p:nvPr/>
      </p:nvGrpSpPr>
      <p:grpSpPr>
        <a:xfrm>
          <a:off x="0" y="0"/>
          <a:ext cx="0" cy="0"/>
          <a:chOff x="0" y="0"/>
          <a:chExt cx="0" cy="0"/>
        </a:xfrm>
      </p:grpSpPr>
      <p:sp>
        <p:nvSpPr>
          <p:cNvPr id="2" name="Shape 0"/>
          <p:cNvSpPr/>
          <p:nvPr/>
        </p:nvSpPr>
        <p:spPr>
          <a:xfrm>
            <a:off x="6858000" y="-2926080"/>
            <a:ext cx="5029200" cy="5029200"/>
          </a:xfrm>
          <a:prstGeom prst="ellipse">
            <a:avLst/>
          </a:prstGeom>
          <a:solidFill>
            <a:srgbClr val="00B5C8"/>
          </a:solidFill>
          <a:ln w="12700">
            <a:solidFill>
              <a:srgbClr val="00B5C8"/>
            </a:solidFill>
            <a:prstDash val="solid"/>
          </a:ln>
        </p:spPr>
      </p:sp>
      <p:sp>
        <p:nvSpPr>
          <p:cNvPr id="3" name="Shape 1"/>
          <p:cNvSpPr/>
          <p:nvPr/>
        </p:nvSpPr>
        <p:spPr>
          <a:xfrm>
            <a:off x="8229600" y="0"/>
            <a:ext cx="914400" cy="914400"/>
          </a:xfrm>
          <a:prstGeom prst="rect">
            <a:avLst/>
          </a:prstGeom>
          <a:solidFill>
            <a:srgbClr val="1B2A5E"/>
          </a:solidFill>
          <a:ln w="12700">
            <a:solidFill>
              <a:srgbClr val="1B2A5E"/>
            </a:solidFill>
            <a:prstDash val="solid"/>
          </a:ln>
        </p:spPr>
      </p:sp>
      <p:pic>
        <p:nvPicPr>
          <p:cNvPr id="4" name="Image 0" descr="preencoded.png"/>
          <p:cNvPicPr>
            <a:picLocks noChangeAspect="1"/>
          </p:cNvPicPr>
          <p:nvPr/>
        </p:nvPicPr>
        <p:blipFill>
          <a:blip r:embed="rId3"/>
          <a:stretch>
            <a:fillRect/>
          </a:stretch>
        </p:blipFill>
        <p:spPr>
          <a:xfrm>
            <a:off x="6400800" y="73152"/>
            <a:ext cx="2606040" cy="475488"/>
          </a:xfrm>
          <a:prstGeom prst="rect">
            <a:avLst/>
          </a:prstGeom>
        </p:spPr>
      </p:pic>
      <p:sp>
        <p:nvSpPr>
          <p:cNvPr id="5" name="Text 2"/>
          <p:cNvSpPr/>
          <p:nvPr/>
        </p:nvSpPr>
        <p:spPr>
          <a:xfrm>
            <a:off x="548640" y="1097280"/>
            <a:ext cx="7772400" cy="1737360"/>
          </a:xfrm>
          <a:prstGeom prst="rect">
            <a:avLst/>
          </a:prstGeom>
          <a:noFill/>
          <a:ln/>
        </p:spPr>
        <p:txBody>
          <a:bodyPr wrap="square" rtlCol="0" anchor="ctr"/>
          <a:lstStyle/>
          <a:p>
            <a:pPr marL="0" indent="0">
              <a:lnSpc>
                <a:spcPct val="110000"/>
              </a:lnSpc>
              <a:buNone/>
            </a:pPr>
            <a:r>
              <a:rPr lang="en-US" sz="4200" dirty="0">
                <a:solidFill>
                  <a:srgbClr val="00B5C8"/>
                </a:solidFill>
                <a:latin typeface="Calibri" pitchFamily="34" charset="0"/>
                <a:ea typeface="Calibri" pitchFamily="34" charset="-122"/>
                <a:cs typeface="Calibri" pitchFamily="34" charset="-120"/>
              </a:rPr>
              <a:t>Solar-Assisted Ground Source</a:t>
            </a:r>
            <a:endParaRPr lang="en-US" sz="4200" dirty="0"/>
          </a:p>
          <a:p>
            <a:pPr marL="0" indent="0">
              <a:lnSpc>
                <a:spcPct val="110000"/>
              </a:lnSpc>
              <a:buNone/>
            </a:pPr>
            <a:r>
              <a:rPr lang="en-US" sz="4200" dirty="0">
                <a:solidFill>
                  <a:srgbClr val="00B5C8"/>
                </a:solidFill>
                <a:latin typeface="Calibri" pitchFamily="34" charset="0"/>
                <a:ea typeface="Calibri" pitchFamily="34" charset="-122"/>
                <a:cs typeface="Calibri" pitchFamily="34" charset="-120"/>
              </a:rPr>
              <a:t>Heat Pump (SA-GSHP)</a:t>
            </a:r>
            <a:endParaRPr lang="en-US" sz="4200" dirty="0"/>
          </a:p>
        </p:txBody>
      </p:sp>
      <p:sp>
        <p:nvSpPr>
          <p:cNvPr id="6" name="Text 3"/>
          <p:cNvSpPr/>
          <p:nvPr/>
        </p:nvSpPr>
        <p:spPr>
          <a:xfrm>
            <a:off x="548640" y="2926080"/>
            <a:ext cx="7772400" cy="822960"/>
          </a:xfrm>
          <a:prstGeom prst="rect">
            <a:avLst/>
          </a:prstGeom>
          <a:noFill/>
          <a:ln/>
        </p:spPr>
        <p:txBody>
          <a:bodyPr wrap="square" rtlCol="0" anchor="ctr"/>
          <a:lstStyle/>
          <a:p>
            <a:pPr marL="0" indent="0">
              <a:lnSpc>
                <a:spcPct val="120000"/>
              </a:lnSpc>
              <a:buNone/>
            </a:pPr>
            <a:r>
              <a:rPr lang="en-US" sz="1800" dirty="0">
                <a:solidFill>
                  <a:srgbClr val="FFFFFF"/>
                </a:solidFill>
                <a:latin typeface="Calibri" pitchFamily="34" charset="0"/>
                <a:ea typeface="Calibri" pitchFamily="34" charset="-122"/>
                <a:cs typeface="Calibri" pitchFamily="34" charset="-120"/>
              </a:rPr>
              <a:t>Techno-Economic Feasibility for Residential Cooling</a:t>
            </a:r>
            <a:endParaRPr lang="en-US" sz="1800" dirty="0"/>
          </a:p>
          <a:p>
            <a:pPr marL="0" indent="0">
              <a:lnSpc>
                <a:spcPct val="120000"/>
              </a:lnSpc>
              <a:buNone/>
            </a:pPr>
            <a:r>
              <a:rPr lang="en-US" sz="1800" dirty="0">
                <a:solidFill>
                  <a:srgbClr val="FFFFFF"/>
                </a:solidFill>
                <a:latin typeface="Calibri" pitchFamily="34" charset="0"/>
                <a:ea typeface="Calibri" pitchFamily="34" charset="-122"/>
                <a:cs typeface="Calibri" pitchFamily="34" charset="-120"/>
              </a:rPr>
              <a:t>in the Kingdom of Bahrain</a:t>
            </a:r>
            <a:endParaRPr lang="en-US" sz="1800" dirty="0"/>
          </a:p>
        </p:txBody>
      </p:sp>
      <p:sp>
        <p:nvSpPr>
          <p:cNvPr id="7" name="Text 4"/>
          <p:cNvSpPr/>
          <p:nvPr/>
        </p:nvSpPr>
        <p:spPr>
          <a:xfrm>
            <a:off x="548640" y="3931920"/>
            <a:ext cx="7772400" cy="777240"/>
          </a:xfrm>
          <a:prstGeom prst="rect">
            <a:avLst/>
          </a:prstGeom>
          <a:noFill/>
          <a:ln/>
        </p:spPr>
        <p:txBody>
          <a:bodyPr wrap="square" rtlCol="0" anchor="ctr"/>
          <a:lstStyle/>
          <a:p>
            <a:pPr marL="0" indent="0">
              <a:buNone/>
            </a:pPr>
            <a:r>
              <a:rPr lang="en-US" sz="1300" dirty="0">
                <a:solidFill>
                  <a:srgbClr val="B0C8D8"/>
                </a:solidFill>
                <a:latin typeface="Calibri" pitchFamily="34" charset="0"/>
                <a:ea typeface="Calibri" pitchFamily="34" charset="-122"/>
                <a:cs typeface="Calibri" pitchFamily="34" charset="-120"/>
              </a:rPr>
              <a:t>Ahmed Batoog  ·  Eissa Alshammary  ·  Jasim Helal  ·  Ahmed Almomen</a:t>
            </a:r>
            <a:endParaRPr lang="en-US" sz="1300" dirty="0"/>
          </a:p>
          <a:p>
            <a:pPr marL="0" indent="0">
              <a:buNone/>
            </a:pPr>
            <a:r>
              <a:rPr lang="en-US" sz="1300" dirty="0">
                <a:solidFill>
                  <a:srgbClr val="B0C8D8"/>
                </a:solidFill>
                <a:latin typeface="Calibri" pitchFamily="34" charset="0"/>
                <a:ea typeface="Calibri" pitchFamily="34" charset="-122"/>
                <a:cs typeface="Calibri" pitchFamily="34" charset="-120"/>
              </a:rPr>
              <a:t>EN8914 – Final Year Project  ·  Supervised by: Dr. Belal Elsayed  ·  2025</a:t>
            </a:r>
            <a:endParaRPr lang="en-US" sz="1300" dirty="0"/>
          </a:p>
        </p:txBody>
      </p:sp>
      <p:sp>
        <p:nvSpPr>
          <p:cNvPr id="8" name="Text 5"/>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B0C8D8"/>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 y="-45720"/>
            <a:ext cx="3474720" cy="658368"/>
          </a:xfrm>
          <a:prstGeom prst="rect">
            <a:avLst/>
          </a:prstGeom>
        </p:spPr>
      </p:pic>
      <p:pic>
        <p:nvPicPr>
          <p:cNvPr id="3" name="Image 1" descr="preencoded.png"/>
          <p:cNvPicPr>
            <a:picLocks noChangeAspect="1"/>
          </p:cNvPicPr>
          <p:nvPr/>
        </p:nvPicPr>
        <p:blipFill>
          <a:blip r:embed="rId4"/>
          <a:stretch>
            <a:fillRect/>
          </a:stretch>
        </p:blipFill>
        <p:spPr>
          <a:xfrm>
            <a:off x="-685800" y="274320"/>
            <a:ext cx="1828800" cy="3200400"/>
          </a:xfrm>
          <a:prstGeom prst="rect">
            <a:avLst/>
          </a:prstGeom>
        </p:spPr>
      </p:pic>
      <p:pic>
        <p:nvPicPr>
          <p:cNvPr id="4" name="Image 2" descr="preencoded.png"/>
          <p:cNvPicPr>
            <a:picLocks noChangeAspect="1"/>
          </p:cNvPicPr>
          <p:nvPr/>
        </p:nvPicPr>
        <p:blipFill>
          <a:blip r:embed="rId5"/>
          <a:stretch>
            <a:fillRect/>
          </a:stretch>
        </p:blipFill>
        <p:spPr>
          <a:xfrm>
            <a:off x="7132320" y="54864"/>
            <a:ext cx="1874520" cy="347472"/>
          </a:xfrm>
          <a:prstGeom prst="rect">
            <a:avLst/>
          </a:prstGeom>
        </p:spPr>
      </p:pic>
      <p:sp>
        <p:nvSpPr>
          <p:cNvPr id="5" name="Shape 0"/>
          <p:cNvSpPr/>
          <p:nvPr/>
        </p:nvSpPr>
        <p:spPr>
          <a:xfrm>
            <a:off x="777240" y="73152"/>
            <a:ext cx="6217920" cy="566928"/>
          </a:xfrm>
          <a:prstGeom prst="rect">
            <a:avLst/>
          </a:prstGeom>
          <a:solidFill>
            <a:srgbClr val="1B2A5E"/>
          </a:solidFill>
          <a:ln w="12700">
            <a:solidFill>
              <a:srgbClr val="1B2A5E"/>
            </a:solidFill>
            <a:prstDash val="solid"/>
          </a:ln>
        </p:spPr>
      </p:sp>
      <p:sp>
        <p:nvSpPr>
          <p:cNvPr id="6" name="Text 1"/>
          <p:cNvSpPr/>
          <p:nvPr/>
        </p:nvSpPr>
        <p:spPr>
          <a:xfrm>
            <a:off x="804672" y="73152"/>
            <a:ext cx="617220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Problem</a:t>
            </a:r>
            <a:endParaRPr lang="en-US" sz="2200" dirty="0"/>
          </a:p>
        </p:txBody>
      </p:sp>
      <p:sp>
        <p:nvSpPr>
          <p:cNvPr id="7" name="Shape 2"/>
          <p:cNvSpPr/>
          <p:nvPr/>
        </p:nvSpPr>
        <p:spPr>
          <a:xfrm>
            <a:off x="777240" y="640080"/>
            <a:ext cx="8229600" cy="91440"/>
          </a:xfrm>
          <a:prstGeom prst="rect">
            <a:avLst/>
          </a:prstGeom>
          <a:solidFill>
            <a:srgbClr val="D35400"/>
          </a:solidFill>
          <a:ln w="12700">
            <a:solidFill>
              <a:srgbClr val="D35400"/>
            </a:solidFill>
            <a:prstDash val="solid"/>
          </a:ln>
        </p:spPr>
      </p:sp>
      <p:sp>
        <p:nvSpPr>
          <p:cNvPr id="8" name="Shape 3"/>
          <p:cNvSpPr/>
          <p:nvPr/>
        </p:nvSpPr>
        <p:spPr>
          <a:xfrm>
            <a:off x="914400" y="841248"/>
            <a:ext cx="2514600" cy="4069080"/>
          </a:xfrm>
          <a:prstGeom prst="roundRect">
            <a:avLst>
              <a:gd name="adj" fmla="val 2909"/>
            </a:avLst>
          </a:prstGeom>
          <a:solidFill>
            <a:srgbClr val="D6EAF8"/>
          </a:solidFill>
          <a:ln w="12700">
            <a:solidFill>
              <a:srgbClr val="A8C6E0"/>
            </a:solidFill>
            <a:prstDash val="solid"/>
          </a:ln>
        </p:spPr>
      </p:sp>
      <p:sp>
        <p:nvSpPr>
          <p:cNvPr id="9" name="Shape 4"/>
          <p:cNvSpPr/>
          <p:nvPr/>
        </p:nvSpPr>
        <p:spPr>
          <a:xfrm>
            <a:off x="914400" y="841248"/>
            <a:ext cx="2514600" cy="658368"/>
          </a:xfrm>
          <a:prstGeom prst="roundRect">
            <a:avLst>
              <a:gd name="adj" fmla="val 11111"/>
            </a:avLst>
          </a:prstGeom>
          <a:solidFill>
            <a:srgbClr val="5B9BD5"/>
          </a:solidFill>
          <a:ln w="12700">
            <a:solidFill>
              <a:srgbClr val="5B9BD5"/>
            </a:solidFill>
            <a:prstDash val="solid"/>
          </a:ln>
        </p:spPr>
      </p:sp>
      <p:sp>
        <p:nvSpPr>
          <p:cNvPr id="10" name="Shape 5"/>
          <p:cNvSpPr/>
          <p:nvPr/>
        </p:nvSpPr>
        <p:spPr>
          <a:xfrm>
            <a:off x="914400" y="1133856"/>
            <a:ext cx="2514600" cy="365760"/>
          </a:xfrm>
          <a:prstGeom prst="rect">
            <a:avLst/>
          </a:prstGeom>
          <a:solidFill>
            <a:srgbClr val="5B9BD5"/>
          </a:solidFill>
          <a:ln w="12700">
            <a:solidFill>
              <a:srgbClr val="5B9BD5"/>
            </a:solidFill>
            <a:prstDash val="solid"/>
          </a:ln>
        </p:spPr>
      </p:sp>
      <p:sp>
        <p:nvSpPr>
          <p:cNvPr id="11" name="Text 6"/>
          <p:cNvSpPr/>
          <p:nvPr/>
        </p:nvSpPr>
        <p:spPr>
          <a:xfrm>
            <a:off x="1005840" y="850392"/>
            <a:ext cx="23317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Extreme Cooling Demand</a:t>
            </a:r>
            <a:endParaRPr lang="en-US" sz="1300" dirty="0"/>
          </a:p>
        </p:txBody>
      </p:sp>
      <p:sp>
        <p:nvSpPr>
          <p:cNvPr id="12" name="Text 7"/>
          <p:cNvSpPr/>
          <p:nvPr/>
        </p:nvSpPr>
        <p:spPr>
          <a:xfrm>
            <a:off x="1024128" y="1572768"/>
            <a:ext cx="2304288" cy="2743200"/>
          </a:xfrm>
          <a:prstGeom prst="rect">
            <a:avLst/>
          </a:prstGeom>
          <a:noFill/>
          <a:ln/>
        </p:spPr>
        <p:txBody>
          <a:bodyPr wrap="square" rtlCol="0" anchor="t"/>
          <a:lstStyle/>
          <a:p>
            <a:pPr marL="0" indent="0">
              <a:buNone/>
            </a:pPr>
            <a:r>
              <a:rPr lang="en-US" sz="1250" dirty="0">
                <a:solidFill>
                  <a:srgbClr val="1A1A2E"/>
                </a:solidFill>
                <a:latin typeface="Calibri" pitchFamily="34" charset="0"/>
                <a:ea typeface="Calibri" pitchFamily="34" charset="-122"/>
                <a:cs typeface="Calibri" pitchFamily="34" charset="-120"/>
              </a:rPr>
              <a:t>Space cooling accounts for over 70% of Bahrain's peak summer electricity demand, driven by ambient temperatures routinely exceeding 45°C.</a:t>
            </a:r>
            <a:endParaRPr lang="en-US" sz="1250" dirty="0"/>
          </a:p>
        </p:txBody>
      </p:sp>
      <p:sp>
        <p:nvSpPr>
          <p:cNvPr id="13" name="Text 8"/>
          <p:cNvSpPr/>
          <p:nvPr/>
        </p:nvSpPr>
        <p:spPr>
          <a:xfrm>
            <a:off x="1005840" y="4480560"/>
            <a:ext cx="2331720" cy="320040"/>
          </a:xfrm>
          <a:prstGeom prst="rect">
            <a:avLst/>
          </a:prstGeom>
          <a:noFill/>
          <a:ln/>
        </p:spPr>
        <p:txBody>
          <a:bodyPr wrap="square" rtlCol="0" anchor="ctr"/>
          <a:lstStyle/>
          <a:p>
            <a:pPr marL="0" indent="0" algn="ctr">
              <a:buNone/>
            </a:pPr>
            <a:r>
              <a:rPr lang="en-US" sz="950" i="1" dirty="0">
                <a:solidFill>
                  <a:srgbClr val="555555"/>
                </a:solidFill>
                <a:latin typeface="Calibri" pitchFamily="34" charset="0"/>
                <a:ea typeface="Calibri" pitchFamily="34" charset="-122"/>
                <a:cs typeface="Calibri" pitchFamily="34" charset="-120"/>
              </a:rPr>
              <a:t>Source: Alotaibi &amp; Alhuyi Nazari (2023)</a:t>
            </a:r>
            <a:endParaRPr lang="en-US" sz="950" dirty="0"/>
          </a:p>
        </p:txBody>
      </p:sp>
      <p:sp>
        <p:nvSpPr>
          <p:cNvPr id="14" name="Shape 9"/>
          <p:cNvSpPr/>
          <p:nvPr/>
        </p:nvSpPr>
        <p:spPr>
          <a:xfrm>
            <a:off x="3657600" y="841248"/>
            <a:ext cx="2514600" cy="4069080"/>
          </a:xfrm>
          <a:prstGeom prst="roundRect">
            <a:avLst>
              <a:gd name="adj" fmla="val 2909"/>
            </a:avLst>
          </a:prstGeom>
          <a:solidFill>
            <a:srgbClr val="D6EAF8"/>
          </a:solidFill>
          <a:ln w="12700">
            <a:solidFill>
              <a:srgbClr val="A8C6E0"/>
            </a:solidFill>
            <a:prstDash val="solid"/>
          </a:ln>
        </p:spPr>
      </p:sp>
      <p:sp>
        <p:nvSpPr>
          <p:cNvPr id="15" name="Shape 10"/>
          <p:cNvSpPr/>
          <p:nvPr/>
        </p:nvSpPr>
        <p:spPr>
          <a:xfrm>
            <a:off x="3657600" y="841248"/>
            <a:ext cx="2514600" cy="658368"/>
          </a:xfrm>
          <a:prstGeom prst="roundRect">
            <a:avLst>
              <a:gd name="adj" fmla="val 11111"/>
            </a:avLst>
          </a:prstGeom>
          <a:solidFill>
            <a:srgbClr val="5B9BD5"/>
          </a:solidFill>
          <a:ln w="12700">
            <a:solidFill>
              <a:srgbClr val="5B9BD5"/>
            </a:solidFill>
            <a:prstDash val="solid"/>
          </a:ln>
        </p:spPr>
      </p:sp>
      <p:sp>
        <p:nvSpPr>
          <p:cNvPr id="16" name="Shape 11"/>
          <p:cNvSpPr/>
          <p:nvPr/>
        </p:nvSpPr>
        <p:spPr>
          <a:xfrm>
            <a:off x="3657600" y="1133856"/>
            <a:ext cx="2514600" cy="365760"/>
          </a:xfrm>
          <a:prstGeom prst="rect">
            <a:avLst/>
          </a:prstGeom>
          <a:solidFill>
            <a:srgbClr val="5B9BD5"/>
          </a:solidFill>
          <a:ln w="12700">
            <a:solidFill>
              <a:srgbClr val="5B9BD5"/>
            </a:solidFill>
            <a:prstDash val="solid"/>
          </a:ln>
        </p:spPr>
      </p:sp>
      <p:sp>
        <p:nvSpPr>
          <p:cNvPr id="17" name="Text 12"/>
          <p:cNvSpPr/>
          <p:nvPr/>
        </p:nvSpPr>
        <p:spPr>
          <a:xfrm>
            <a:off x="3749040" y="850392"/>
            <a:ext cx="23317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ASHP Efficiency Loss</a:t>
            </a:r>
            <a:endParaRPr lang="en-US" sz="1300" dirty="0"/>
          </a:p>
        </p:txBody>
      </p:sp>
      <p:sp>
        <p:nvSpPr>
          <p:cNvPr id="18" name="Text 13"/>
          <p:cNvSpPr/>
          <p:nvPr/>
        </p:nvSpPr>
        <p:spPr>
          <a:xfrm>
            <a:off x="3767328" y="1572768"/>
            <a:ext cx="2304288" cy="2743200"/>
          </a:xfrm>
          <a:prstGeom prst="rect">
            <a:avLst/>
          </a:prstGeom>
          <a:noFill/>
          <a:ln/>
        </p:spPr>
        <p:txBody>
          <a:bodyPr wrap="square" rtlCol="0" anchor="t"/>
          <a:lstStyle/>
          <a:p>
            <a:pPr marL="0" indent="0">
              <a:buNone/>
            </a:pPr>
            <a:r>
              <a:rPr lang="en-US" sz="1250" dirty="0">
                <a:solidFill>
                  <a:srgbClr val="1A1A2E"/>
                </a:solidFill>
                <a:latin typeface="Calibri" pitchFamily="34" charset="0"/>
                <a:ea typeface="Calibri" pitchFamily="34" charset="-122"/>
                <a:cs typeface="Calibri" pitchFamily="34" charset="-120"/>
              </a:rPr>
              <a:t>Conventional Air Source Heat Pumps (ASHPs) suffer severe efficiency degradation at high temperatures — SCOP drops to just 2.5 in GCC conditions.</a:t>
            </a:r>
            <a:endParaRPr lang="en-US" sz="1250" dirty="0"/>
          </a:p>
        </p:txBody>
      </p:sp>
      <p:sp>
        <p:nvSpPr>
          <p:cNvPr id="19" name="Text 14"/>
          <p:cNvSpPr/>
          <p:nvPr/>
        </p:nvSpPr>
        <p:spPr>
          <a:xfrm>
            <a:off x="3749040" y="4480560"/>
            <a:ext cx="2331720" cy="320040"/>
          </a:xfrm>
          <a:prstGeom prst="rect">
            <a:avLst/>
          </a:prstGeom>
          <a:noFill/>
          <a:ln/>
        </p:spPr>
        <p:txBody>
          <a:bodyPr wrap="square" rtlCol="0" anchor="ctr"/>
          <a:lstStyle/>
          <a:p>
            <a:pPr marL="0" indent="0" algn="ctr">
              <a:buNone/>
            </a:pPr>
            <a:r>
              <a:rPr lang="en-US" sz="950" i="1" dirty="0">
                <a:solidFill>
                  <a:srgbClr val="555555"/>
                </a:solidFill>
                <a:latin typeface="Calibri" pitchFamily="34" charset="0"/>
                <a:ea typeface="Calibri" pitchFamily="34" charset="-122"/>
                <a:cs typeface="Calibri" pitchFamily="34" charset="-120"/>
              </a:rPr>
              <a:t>Source: Maghrabie et al. (2023)</a:t>
            </a:r>
            <a:endParaRPr lang="en-US" sz="950" dirty="0"/>
          </a:p>
        </p:txBody>
      </p:sp>
      <p:sp>
        <p:nvSpPr>
          <p:cNvPr id="20" name="Shape 15"/>
          <p:cNvSpPr/>
          <p:nvPr/>
        </p:nvSpPr>
        <p:spPr>
          <a:xfrm>
            <a:off x="6400800" y="841248"/>
            <a:ext cx="2514600" cy="4069080"/>
          </a:xfrm>
          <a:prstGeom prst="roundRect">
            <a:avLst>
              <a:gd name="adj" fmla="val 2909"/>
            </a:avLst>
          </a:prstGeom>
          <a:solidFill>
            <a:srgbClr val="D6EAF8"/>
          </a:solidFill>
          <a:ln w="12700">
            <a:solidFill>
              <a:srgbClr val="A8C6E0"/>
            </a:solidFill>
            <a:prstDash val="solid"/>
          </a:ln>
        </p:spPr>
      </p:sp>
      <p:sp>
        <p:nvSpPr>
          <p:cNvPr id="21" name="Shape 16"/>
          <p:cNvSpPr/>
          <p:nvPr/>
        </p:nvSpPr>
        <p:spPr>
          <a:xfrm>
            <a:off x="6400800" y="841248"/>
            <a:ext cx="2514600" cy="658368"/>
          </a:xfrm>
          <a:prstGeom prst="roundRect">
            <a:avLst>
              <a:gd name="adj" fmla="val 11111"/>
            </a:avLst>
          </a:prstGeom>
          <a:solidFill>
            <a:srgbClr val="5B9BD5"/>
          </a:solidFill>
          <a:ln w="12700">
            <a:solidFill>
              <a:srgbClr val="5B9BD5"/>
            </a:solidFill>
            <a:prstDash val="solid"/>
          </a:ln>
        </p:spPr>
      </p:sp>
      <p:sp>
        <p:nvSpPr>
          <p:cNvPr id="22" name="Shape 17"/>
          <p:cNvSpPr/>
          <p:nvPr/>
        </p:nvSpPr>
        <p:spPr>
          <a:xfrm>
            <a:off x="6400800" y="1133856"/>
            <a:ext cx="2514600" cy="365760"/>
          </a:xfrm>
          <a:prstGeom prst="rect">
            <a:avLst/>
          </a:prstGeom>
          <a:solidFill>
            <a:srgbClr val="5B9BD5"/>
          </a:solidFill>
          <a:ln w="12700">
            <a:solidFill>
              <a:srgbClr val="5B9BD5"/>
            </a:solidFill>
            <a:prstDash val="solid"/>
          </a:ln>
        </p:spPr>
      </p:sp>
      <p:sp>
        <p:nvSpPr>
          <p:cNvPr id="23" name="Text 18"/>
          <p:cNvSpPr/>
          <p:nvPr/>
        </p:nvSpPr>
        <p:spPr>
          <a:xfrm>
            <a:off x="6492240" y="850392"/>
            <a:ext cx="23317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Ground Thermal Imbalance</a:t>
            </a:r>
            <a:endParaRPr lang="en-US" sz="1300" dirty="0"/>
          </a:p>
        </p:txBody>
      </p:sp>
      <p:sp>
        <p:nvSpPr>
          <p:cNvPr id="24" name="Text 19"/>
          <p:cNvSpPr/>
          <p:nvPr/>
        </p:nvSpPr>
        <p:spPr>
          <a:xfrm>
            <a:off x="6510528" y="1572768"/>
            <a:ext cx="2304288" cy="2743200"/>
          </a:xfrm>
          <a:prstGeom prst="rect">
            <a:avLst/>
          </a:prstGeom>
          <a:noFill/>
          <a:ln/>
        </p:spPr>
        <p:txBody>
          <a:bodyPr wrap="square" rtlCol="0" anchor="t"/>
          <a:lstStyle/>
          <a:p>
            <a:pPr marL="0" indent="0">
              <a:buNone/>
            </a:pPr>
            <a:r>
              <a:rPr lang="en-US" sz="1250" dirty="0">
                <a:solidFill>
                  <a:srgbClr val="1A1A2E"/>
                </a:solidFill>
                <a:latin typeface="Calibri" pitchFamily="34" charset="0"/>
                <a:ea typeface="Calibri" pitchFamily="34" charset="-122"/>
                <a:cs typeface="Calibri" pitchFamily="34" charset="-120"/>
              </a:rPr>
              <a:t>Without solar regeneration, cooling-dominant GSHPs accumulate heat in the borehole field: +4.2°C drift over 20 years, progressively degrading performance.</a:t>
            </a:r>
            <a:endParaRPr lang="en-US" sz="1250" dirty="0"/>
          </a:p>
        </p:txBody>
      </p:sp>
      <p:sp>
        <p:nvSpPr>
          <p:cNvPr id="25" name="Text 20"/>
          <p:cNvSpPr/>
          <p:nvPr/>
        </p:nvSpPr>
        <p:spPr>
          <a:xfrm>
            <a:off x="6492240" y="4480560"/>
            <a:ext cx="2331720" cy="320040"/>
          </a:xfrm>
          <a:prstGeom prst="rect">
            <a:avLst/>
          </a:prstGeom>
          <a:noFill/>
          <a:ln/>
        </p:spPr>
        <p:txBody>
          <a:bodyPr wrap="square" rtlCol="0" anchor="ctr"/>
          <a:lstStyle/>
          <a:p>
            <a:pPr marL="0" indent="0" algn="ctr">
              <a:buNone/>
            </a:pPr>
            <a:r>
              <a:rPr lang="en-US" sz="950" i="1" dirty="0">
                <a:solidFill>
                  <a:srgbClr val="555555"/>
                </a:solidFill>
                <a:latin typeface="Calibri" pitchFamily="34" charset="0"/>
                <a:ea typeface="Calibri" pitchFamily="34" charset="-122"/>
                <a:cs typeface="Calibri" pitchFamily="34" charset="-120"/>
              </a:rPr>
              <a:t>Source: Bae &amp; Nam (2022)</a:t>
            </a:r>
            <a:endParaRPr lang="en-US" sz="950" dirty="0"/>
          </a:p>
        </p:txBody>
      </p:sp>
      <p:sp>
        <p:nvSpPr>
          <p:cNvPr id="26" name="Text 21"/>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 y="-45720"/>
            <a:ext cx="3474720" cy="658368"/>
          </a:xfrm>
          <a:prstGeom prst="rect">
            <a:avLst/>
          </a:prstGeom>
        </p:spPr>
      </p:pic>
      <p:pic>
        <p:nvPicPr>
          <p:cNvPr id="3" name="Image 1" descr="preencoded.png"/>
          <p:cNvPicPr>
            <a:picLocks noChangeAspect="1"/>
          </p:cNvPicPr>
          <p:nvPr/>
        </p:nvPicPr>
        <p:blipFill>
          <a:blip r:embed="rId4"/>
          <a:stretch>
            <a:fillRect/>
          </a:stretch>
        </p:blipFill>
        <p:spPr>
          <a:xfrm>
            <a:off x="-685800" y="274320"/>
            <a:ext cx="1828800" cy="3200400"/>
          </a:xfrm>
          <a:prstGeom prst="rect">
            <a:avLst/>
          </a:prstGeom>
        </p:spPr>
      </p:pic>
      <p:pic>
        <p:nvPicPr>
          <p:cNvPr id="4" name="Image 2" descr="preencoded.png"/>
          <p:cNvPicPr>
            <a:picLocks noChangeAspect="1"/>
          </p:cNvPicPr>
          <p:nvPr/>
        </p:nvPicPr>
        <p:blipFill>
          <a:blip r:embed="rId5"/>
          <a:stretch>
            <a:fillRect/>
          </a:stretch>
        </p:blipFill>
        <p:spPr>
          <a:xfrm>
            <a:off x="7132320" y="54864"/>
            <a:ext cx="1874520" cy="347472"/>
          </a:xfrm>
          <a:prstGeom prst="rect">
            <a:avLst/>
          </a:prstGeom>
        </p:spPr>
      </p:pic>
      <p:sp>
        <p:nvSpPr>
          <p:cNvPr id="5" name="Shape 0"/>
          <p:cNvSpPr/>
          <p:nvPr/>
        </p:nvSpPr>
        <p:spPr>
          <a:xfrm>
            <a:off x="777240" y="73152"/>
            <a:ext cx="6217920" cy="566928"/>
          </a:xfrm>
          <a:prstGeom prst="rect">
            <a:avLst/>
          </a:prstGeom>
          <a:solidFill>
            <a:srgbClr val="1B2A5E"/>
          </a:solidFill>
          <a:ln w="12700">
            <a:solidFill>
              <a:srgbClr val="1B2A5E"/>
            </a:solidFill>
            <a:prstDash val="solid"/>
          </a:ln>
        </p:spPr>
      </p:sp>
      <p:sp>
        <p:nvSpPr>
          <p:cNvPr id="6" name="Text 1"/>
          <p:cNvSpPr/>
          <p:nvPr/>
        </p:nvSpPr>
        <p:spPr>
          <a:xfrm>
            <a:off x="804672" y="73152"/>
            <a:ext cx="617220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System Design &amp; Methodology</a:t>
            </a:r>
            <a:endParaRPr lang="en-US" sz="2200" dirty="0"/>
          </a:p>
        </p:txBody>
      </p:sp>
      <p:sp>
        <p:nvSpPr>
          <p:cNvPr id="7" name="Shape 2"/>
          <p:cNvSpPr/>
          <p:nvPr/>
        </p:nvSpPr>
        <p:spPr>
          <a:xfrm>
            <a:off x="777240" y="640080"/>
            <a:ext cx="8229600" cy="91440"/>
          </a:xfrm>
          <a:prstGeom prst="rect">
            <a:avLst/>
          </a:prstGeom>
          <a:solidFill>
            <a:srgbClr val="D35400"/>
          </a:solidFill>
          <a:ln w="12700">
            <a:solidFill>
              <a:srgbClr val="D35400"/>
            </a:solidFill>
            <a:prstDash val="solid"/>
          </a:ln>
        </p:spPr>
      </p:sp>
      <p:sp>
        <p:nvSpPr>
          <p:cNvPr id="8" name="Text 3"/>
          <p:cNvSpPr/>
          <p:nvPr/>
        </p:nvSpPr>
        <p:spPr>
          <a:xfrm>
            <a:off x="914400" y="822960"/>
            <a:ext cx="3840480" cy="347472"/>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SA-GSHP System Components</a:t>
            </a:r>
            <a:endParaRPr lang="en-US" sz="1300" dirty="0"/>
          </a:p>
        </p:txBody>
      </p:sp>
      <p:sp>
        <p:nvSpPr>
          <p:cNvPr id="9" name="Shape 4"/>
          <p:cNvSpPr/>
          <p:nvPr/>
        </p:nvSpPr>
        <p:spPr>
          <a:xfrm>
            <a:off x="914400" y="1234440"/>
            <a:ext cx="54864" cy="566928"/>
          </a:xfrm>
          <a:prstGeom prst="rect">
            <a:avLst/>
          </a:prstGeom>
          <a:solidFill>
            <a:srgbClr val="00B5C8"/>
          </a:solidFill>
          <a:ln w="12700">
            <a:solidFill>
              <a:srgbClr val="00B5C8"/>
            </a:solidFill>
            <a:prstDash val="solid"/>
          </a:ln>
        </p:spPr>
      </p:sp>
      <p:sp>
        <p:nvSpPr>
          <p:cNvPr id="10" name="Shape 5"/>
          <p:cNvSpPr/>
          <p:nvPr/>
        </p:nvSpPr>
        <p:spPr>
          <a:xfrm>
            <a:off x="1024128" y="1234440"/>
            <a:ext cx="3566160" cy="566928"/>
          </a:xfrm>
          <a:prstGeom prst="rect">
            <a:avLst/>
          </a:prstGeom>
          <a:solidFill>
            <a:srgbClr val="F7F9FC"/>
          </a:solidFill>
          <a:ln w="6350">
            <a:solidFill>
              <a:srgbClr val="D6EAF8"/>
            </a:solidFill>
            <a:prstDash val="solid"/>
          </a:ln>
        </p:spPr>
      </p:sp>
      <p:sp>
        <p:nvSpPr>
          <p:cNvPr id="11" name="Text 6"/>
          <p:cNvSpPr/>
          <p:nvPr/>
        </p:nvSpPr>
        <p:spPr>
          <a:xfrm>
            <a:off x="1078992" y="1252728"/>
            <a:ext cx="3474720" cy="256032"/>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Borehole Field</a:t>
            </a:r>
            <a:endParaRPr lang="en-US" sz="1150" dirty="0"/>
          </a:p>
        </p:txBody>
      </p:sp>
      <p:sp>
        <p:nvSpPr>
          <p:cNvPr id="12" name="Text 7"/>
          <p:cNvSpPr/>
          <p:nvPr/>
        </p:nvSpPr>
        <p:spPr>
          <a:xfrm>
            <a:off x="1078992" y="1508760"/>
            <a:ext cx="3474720" cy="25603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4 × 100 m vertical U-tubes · HDPE 26/32 mm · k = 2.5 W/m·K · UGT = 30°C</a:t>
            </a:r>
            <a:endParaRPr lang="en-US" sz="1050" dirty="0"/>
          </a:p>
        </p:txBody>
      </p:sp>
      <p:sp>
        <p:nvSpPr>
          <p:cNvPr id="13" name="Shape 8"/>
          <p:cNvSpPr/>
          <p:nvPr/>
        </p:nvSpPr>
        <p:spPr>
          <a:xfrm>
            <a:off x="914400" y="1984248"/>
            <a:ext cx="54864" cy="566928"/>
          </a:xfrm>
          <a:prstGeom prst="rect">
            <a:avLst/>
          </a:prstGeom>
          <a:solidFill>
            <a:srgbClr val="00B5C8"/>
          </a:solidFill>
          <a:ln w="12700">
            <a:solidFill>
              <a:srgbClr val="00B5C8"/>
            </a:solidFill>
            <a:prstDash val="solid"/>
          </a:ln>
        </p:spPr>
      </p:sp>
      <p:sp>
        <p:nvSpPr>
          <p:cNvPr id="14" name="Shape 9"/>
          <p:cNvSpPr/>
          <p:nvPr/>
        </p:nvSpPr>
        <p:spPr>
          <a:xfrm>
            <a:off x="1024128" y="1984248"/>
            <a:ext cx="3566160" cy="566928"/>
          </a:xfrm>
          <a:prstGeom prst="rect">
            <a:avLst/>
          </a:prstGeom>
          <a:solidFill>
            <a:srgbClr val="F7F9FC"/>
          </a:solidFill>
          <a:ln w="6350">
            <a:solidFill>
              <a:srgbClr val="D6EAF8"/>
            </a:solidFill>
            <a:prstDash val="solid"/>
          </a:ln>
        </p:spPr>
      </p:sp>
      <p:sp>
        <p:nvSpPr>
          <p:cNvPr id="15" name="Text 10"/>
          <p:cNvSpPr/>
          <p:nvPr/>
        </p:nvSpPr>
        <p:spPr>
          <a:xfrm>
            <a:off x="1078992" y="2002536"/>
            <a:ext cx="3474720" cy="256032"/>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Solar Collectors</a:t>
            </a:r>
            <a:endParaRPr lang="en-US" sz="1150" dirty="0"/>
          </a:p>
        </p:txBody>
      </p:sp>
      <p:sp>
        <p:nvSpPr>
          <p:cNvPr id="16" name="Text 11"/>
          <p:cNvSpPr/>
          <p:nvPr/>
        </p:nvSpPr>
        <p:spPr>
          <a:xfrm>
            <a:off x="1078992" y="2258568"/>
            <a:ext cx="3474720" cy="25603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1,212 m² flat-plate array · η₀ = 86.3% · South-facing at 26° tilt</a:t>
            </a:r>
            <a:endParaRPr lang="en-US" sz="1050" dirty="0"/>
          </a:p>
        </p:txBody>
      </p:sp>
      <p:sp>
        <p:nvSpPr>
          <p:cNvPr id="17" name="Shape 12"/>
          <p:cNvSpPr/>
          <p:nvPr/>
        </p:nvSpPr>
        <p:spPr>
          <a:xfrm>
            <a:off x="914400" y="2734056"/>
            <a:ext cx="54864" cy="566928"/>
          </a:xfrm>
          <a:prstGeom prst="rect">
            <a:avLst/>
          </a:prstGeom>
          <a:solidFill>
            <a:srgbClr val="00B5C8"/>
          </a:solidFill>
          <a:ln w="12700">
            <a:solidFill>
              <a:srgbClr val="00B5C8"/>
            </a:solidFill>
            <a:prstDash val="solid"/>
          </a:ln>
        </p:spPr>
      </p:sp>
      <p:sp>
        <p:nvSpPr>
          <p:cNvPr id="18" name="Shape 13"/>
          <p:cNvSpPr/>
          <p:nvPr/>
        </p:nvSpPr>
        <p:spPr>
          <a:xfrm>
            <a:off x="1024128" y="2734056"/>
            <a:ext cx="3566160" cy="566928"/>
          </a:xfrm>
          <a:prstGeom prst="rect">
            <a:avLst/>
          </a:prstGeom>
          <a:solidFill>
            <a:srgbClr val="F7F9FC"/>
          </a:solidFill>
          <a:ln w="6350">
            <a:solidFill>
              <a:srgbClr val="D6EAF8"/>
            </a:solidFill>
            <a:prstDash val="solid"/>
          </a:ln>
        </p:spPr>
      </p:sp>
      <p:sp>
        <p:nvSpPr>
          <p:cNvPr id="19" name="Text 14"/>
          <p:cNvSpPr/>
          <p:nvPr/>
        </p:nvSpPr>
        <p:spPr>
          <a:xfrm>
            <a:off x="1078992" y="2752344"/>
            <a:ext cx="3474720" cy="256032"/>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Buffer Tank</a:t>
            </a:r>
            <a:endParaRPr lang="en-US" sz="1150" dirty="0"/>
          </a:p>
        </p:txBody>
      </p:sp>
      <p:sp>
        <p:nvSpPr>
          <p:cNvPr id="20" name="Text 15"/>
          <p:cNvSpPr/>
          <p:nvPr/>
        </p:nvSpPr>
        <p:spPr>
          <a:xfrm>
            <a:off x="1078992" y="3008376"/>
            <a:ext cx="3474720" cy="25603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58 m³ stratified, 47 m² internal heat exchanger (10-node Type 4c)</a:t>
            </a:r>
            <a:endParaRPr lang="en-US" sz="1050" dirty="0"/>
          </a:p>
        </p:txBody>
      </p:sp>
      <p:sp>
        <p:nvSpPr>
          <p:cNvPr id="21" name="Shape 16"/>
          <p:cNvSpPr/>
          <p:nvPr/>
        </p:nvSpPr>
        <p:spPr>
          <a:xfrm>
            <a:off x="914400" y="3483864"/>
            <a:ext cx="54864" cy="566928"/>
          </a:xfrm>
          <a:prstGeom prst="rect">
            <a:avLst/>
          </a:prstGeom>
          <a:solidFill>
            <a:srgbClr val="00B5C8"/>
          </a:solidFill>
          <a:ln w="12700">
            <a:solidFill>
              <a:srgbClr val="00B5C8"/>
            </a:solidFill>
            <a:prstDash val="solid"/>
          </a:ln>
        </p:spPr>
      </p:sp>
      <p:sp>
        <p:nvSpPr>
          <p:cNvPr id="22" name="Shape 17"/>
          <p:cNvSpPr/>
          <p:nvPr/>
        </p:nvSpPr>
        <p:spPr>
          <a:xfrm>
            <a:off x="1024128" y="3483864"/>
            <a:ext cx="3566160" cy="566928"/>
          </a:xfrm>
          <a:prstGeom prst="rect">
            <a:avLst/>
          </a:prstGeom>
          <a:solidFill>
            <a:srgbClr val="F7F9FC"/>
          </a:solidFill>
          <a:ln w="6350">
            <a:solidFill>
              <a:srgbClr val="D6EAF8"/>
            </a:solidFill>
            <a:prstDash val="solid"/>
          </a:ln>
        </p:spPr>
      </p:sp>
      <p:sp>
        <p:nvSpPr>
          <p:cNvPr id="23" name="Text 18"/>
          <p:cNvSpPr/>
          <p:nvPr/>
        </p:nvSpPr>
        <p:spPr>
          <a:xfrm>
            <a:off x="1078992" y="3502152"/>
            <a:ext cx="3474720" cy="256032"/>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Heat Pump Units</a:t>
            </a:r>
            <a:endParaRPr lang="en-US" sz="1150" dirty="0"/>
          </a:p>
        </p:txBody>
      </p:sp>
      <p:sp>
        <p:nvSpPr>
          <p:cNvPr id="24" name="Text 19"/>
          <p:cNvSpPr/>
          <p:nvPr/>
        </p:nvSpPr>
        <p:spPr>
          <a:xfrm>
            <a:off x="1078992" y="3758184"/>
            <a:ext cx="3474720" cy="25603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2 × parallel water-to-water units · 312 kW cooling / 52 kW input · R-407C</a:t>
            </a:r>
            <a:endParaRPr lang="en-US" sz="1050" dirty="0"/>
          </a:p>
        </p:txBody>
      </p:sp>
      <p:sp>
        <p:nvSpPr>
          <p:cNvPr id="25" name="Shape 20"/>
          <p:cNvSpPr/>
          <p:nvPr/>
        </p:nvSpPr>
        <p:spPr>
          <a:xfrm>
            <a:off x="914400" y="4233672"/>
            <a:ext cx="54864" cy="566928"/>
          </a:xfrm>
          <a:prstGeom prst="rect">
            <a:avLst/>
          </a:prstGeom>
          <a:solidFill>
            <a:srgbClr val="00B5C8"/>
          </a:solidFill>
          <a:ln w="12700">
            <a:solidFill>
              <a:srgbClr val="00B5C8"/>
            </a:solidFill>
            <a:prstDash val="solid"/>
          </a:ln>
        </p:spPr>
      </p:sp>
      <p:sp>
        <p:nvSpPr>
          <p:cNvPr id="26" name="Shape 21"/>
          <p:cNvSpPr/>
          <p:nvPr/>
        </p:nvSpPr>
        <p:spPr>
          <a:xfrm>
            <a:off x="1024128" y="4233672"/>
            <a:ext cx="3566160" cy="566928"/>
          </a:xfrm>
          <a:prstGeom prst="rect">
            <a:avLst/>
          </a:prstGeom>
          <a:solidFill>
            <a:srgbClr val="F7F9FC"/>
          </a:solidFill>
          <a:ln w="6350">
            <a:solidFill>
              <a:srgbClr val="D6EAF8"/>
            </a:solidFill>
            <a:prstDash val="solid"/>
          </a:ln>
        </p:spPr>
      </p:sp>
      <p:sp>
        <p:nvSpPr>
          <p:cNvPr id="27" name="Text 22"/>
          <p:cNvSpPr/>
          <p:nvPr/>
        </p:nvSpPr>
        <p:spPr>
          <a:xfrm>
            <a:off x="1078992" y="4251960"/>
            <a:ext cx="3474720" cy="256032"/>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Building Load</a:t>
            </a:r>
            <a:endParaRPr lang="en-US" sz="1150" dirty="0"/>
          </a:p>
        </p:txBody>
      </p:sp>
      <p:sp>
        <p:nvSpPr>
          <p:cNvPr id="28" name="Text 23"/>
          <p:cNvSpPr/>
          <p:nvPr/>
        </p:nvSpPr>
        <p:spPr>
          <a:xfrm>
            <a:off x="1078992" y="4507992"/>
            <a:ext cx="3474720" cy="25603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300 m² villa · 25 kW peak · 70,000 kWh/yr · setpoint 24°C (Manama)</a:t>
            </a:r>
            <a:endParaRPr lang="en-US" sz="1050" dirty="0"/>
          </a:p>
        </p:txBody>
      </p:sp>
      <p:sp>
        <p:nvSpPr>
          <p:cNvPr id="29" name="Text 24"/>
          <p:cNvSpPr/>
          <p:nvPr/>
        </p:nvSpPr>
        <p:spPr>
          <a:xfrm>
            <a:off x="4892040" y="822960"/>
            <a:ext cx="3931920" cy="347472"/>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Methodology</a:t>
            </a:r>
            <a:endParaRPr lang="en-US" sz="1300" dirty="0"/>
          </a:p>
        </p:txBody>
      </p:sp>
      <p:sp>
        <p:nvSpPr>
          <p:cNvPr id="30" name="Shape 25"/>
          <p:cNvSpPr/>
          <p:nvPr/>
        </p:nvSpPr>
        <p:spPr>
          <a:xfrm>
            <a:off x="4892040" y="1307592"/>
            <a:ext cx="329184" cy="329184"/>
          </a:xfrm>
          <a:prstGeom prst="ellipse">
            <a:avLst/>
          </a:prstGeom>
          <a:solidFill>
            <a:srgbClr val="00B5C8"/>
          </a:solidFill>
          <a:ln w="12700">
            <a:solidFill>
              <a:srgbClr val="00B5C8"/>
            </a:solidFill>
            <a:prstDash val="solid"/>
          </a:ln>
        </p:spPr>
      </p:sp>
      <p:sp>
        <p:nvSpPr>
          <p:cNvPr id="31" name="Text 26"/>
          <p:cNvSpPr/>
          <p:nvPr/>
        </p:nvSpPr>
        <p:spPr>
          <a:xfrm>
            <a:off x="4892040" y="1307592"/>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Shape 27"/>
          <p:cNvSpPr/>
          <p:nvPr/>
        </p:nvSpPr>
        <p:spPr>
          <a:xfrm>
            <a:off x="5321808" y="1234440"/>
            <a:ext cx="3520440" cy="804672"/>
          </a:xfrm>
          <a:prstGeom prst="rect">
            <a:avLst/>
          </a:prstGeom>
          <a:solidFill>
            <a:srgbClr val="D6EAF8"/>
          </a:solidFill>
          <a:ln w="6350">
            <a:solidFill>
              <a:srgbClr val="A8C6E0"/>
            </a:solidFill>
            <a:prstDash val="solid"/>
          </a:ln>
        </p:spPr>
      </p:sp>
      <p:sp>
        <p:nvSpPr>
          <p:cNvPr id="33" name="Text 28"/>
          <p:cNvSpPr/>
          <p:nvPr/>
        </p:nvSpPr>
        <p:spPr>
          <a:xfrm>
            <a:off x="5394960" y="1271016"/>
            <a:ext cx="3383280" cy="274320"/>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TRNSYS 18 Simulation</a:t>
            </a:r>
            <a:endParaRPr lang="en-US" sz="1150" dirty="0"/>
          </a:p>
        </p:txBody>
      </p:sp>
      <p:sp>
        <p:nvSpPr>
          <p:cNvPr id="34" name="Text 29"/>
          <p:cNvSpPr/>
          <p:nvPr/>
        </p:nvSpPr>
        <p:spPr>
          <a:xfrm>
            <a:off x="5394960" y="1536192"/>
            <a:ext cx="3383280" cy="43891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20-year dynamic model (175,200 hrs), 1-hr timestep, TMY data for Manama</a:t>
            </a:r>
            <a:endParaRPr lang="en-US" sz="1050" dirty="0"/>
          </a:p>
        </p:txBody>
      </p:sp>
      <p:sp>
        <p:nvSpPr>
          <p:cNvPr id="35" name="Shape 30"/>
          <p:cNvSpPr/>
          <p:nvPr/>
        </p:nvSpPr>
        <p:spPr>
          <a:xfrm>
            <a:off x="4892040" y="2258568"/>
            <a:ext cx="329184" cy="329184"/>
          </a:xfrm>
          <a:prstGeom prst="ellipse">
            <a:avLst/>
          </a:prstGeom>
          <a:solidFill>
            <a:srgbClr val="00B5C8"/>
          </a:solidFill>
          <a:ln w="12700">
            <a:solidFill>
              <a:srgbClr val="00B5C8"/>
            </a:solidFill>
            <a:prstDash val="solid"/>
          </a:ln>
        </p:spPr>
      </p:sp>
      <p:sp>
        <p:nvSpPr>
          <p:cNvPr id="36" name="Text 31"/>
          <p:cNvSpPr/>
          <p:nvPr/>
        </p:nvSpPr>
        <p:spPr>
          <a:xfrm>
            <a:off x="4892040" y="2258568"/>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Shape 32"/>
          <p:cNvSpPr/>
          <p:nvPr/>
        </p:nvSpPr>
        <p:spPr>
          <a:xfrm>
            <a:off x="5321808" y="2185416"/>
            <a:ext cx="3520440" cy="804672"/>
          </a:xfrm>
          <a:prstGeom prst="rect">
            <a:avLst/>
          </a:prstGeom>
          <a:solidFill>
            <a:srgbClr val="D6EAF8"/>
          </a:solidFill>
          <a:ln w="6350">
            <a:solidFill>
              <a:srgbClr val="A8C6E0"/>
            </a:solidFill>
            <a:prstDash val="solid"/>
          </a:ln>
        </p:spPr>
      </p:sp>
      <p:sp>
        <p:nvSpPr>
          <p:cNvPr id="38" name="Text 33"/>
          <p:cNvSpPr/>
          <p:nvPr/>
        </p:nvSpPr>
        <p:spPr>
          <a:xfrm>
            <a:off x="5394960" y="2221992"/>
            <a:ext cx="3383280" cy="274320"/>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Solar Regeneration Control</a:t>
            </a:r>
            <a:endParaRPr lang="en-US" sz="1150" dirty="0"/>
          </a:p>
        </p:txBody>
      </p:sp>
      <p:sp>
        <p:nvSpPr>
          <p:cNvPr id="39" name="Text 34"/>
          <p:cNvSpPr/>
          <p:nvPr/>
        </p:nvSpPr>
        <p:spPr>
          <a:xfrm>
            <a:off x="5394960" y="2487168"/>
            <a:ext cx="3383280" cy="43891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Activates Nov–Feb when collector outlet &gt; tank top + 5°C; limits ground drift</a:t>
            </a:r>
            <a:endParaRPr lang="en-US" sz="1050" dirty="0"/>
          </a:p>
        </p:txBody>
      </p:sp>
      <p:sp>
        <p:nvSpPr>
          <p:cNvPr id="40" name="Shape 35"/>
          <p:cNvSpPr/>
          <p:nvPr/>
        </p:nvSpPr>
        <p:spPr>
          <a:xfrm>
            <a:off x="4892040" y="3209544"/>
            <a:ext cx="329184" cy="329184"/>
          </a:xfrm>
          <a:prstGeom prst="ellipse">
            <a:avLst/>
          </a:prstGeom>
          <a:solidFill>
            <a:srgbClr val="00B5C8"/>
          </a:solidFill>
          <a:ln w="12700">
            <a:solidFill>
              <a:srgbClr val="00B5C8"/>
            </a:solidFill>
            <a:prstDash val="solid"/>
          </a:ln>
        </p:spPr>
      </p:sp>
      <p:sp>
        <p:nvSpPr>
          <p:cNvPr id="41" name="Text 36"/>
          <p:cNvSpPr/>
          <p:nvPr/>
        </p:nvSpPr>
        <p:spPr>
          <a:xfrm>
            <a:off x="4892040" y="3209544"/>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7"/>
          <p:cNvSpPr/>
          <p:nvPr/>
        </p:nvSpPr>
        <p:spPr>
          <a:xfrm>
            <a:off x="5321808" y="3136392"/>
            <a:ext cx="3520440" cy="804672"/>
          </a:xfrm>
          <a:prstGeom prst="rect">
            <a:avLst/>
          </a:prstGeom>
          <a:solidFill>
            <a:srgbClr val="D6EAF8"/>
          </a:solidFill>
          <a:ln w="6350">
            <a:solidFill>
              <a:srgbClr val="A8C6E0"/>
            </a:solidFill>
            <a:prstDash val="solid"/>
          </a:ln>
        </p:spPr>
      </p:sp>
      <p:sp>
        <p:nvSpPr>
          <p:cNvPr id="43" name="Text 38"/>
          <p:cNvSpPr/>
          <p:nvPr/>
        </p:nvSpPr>
        <p:spPr>
          <a:xfrm>
            <a:off x="5394960" y="3172968"/>
            <a:ext cx="3383280" cy="274320"/>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Techno-Economic Analysis</a:t>
            </a:r>
            <a:endParaRPr lang="en-US" sz="1150" dirty="0"/>
          </a:p>
        </p:txBody>
      </p:sp>
      <p:sp>
        <p:nvSpPr>
          <p:cNvPr id="44" name="Text 39"/>
          <p:cNvSpPr/>
          <p:nvPr/>
        </p:nvSpPr>
        <p:spPr>
          <a:xfrm>
            <a:off x="5394960" y="3438144"/>
            <a:ext cx="3383280" cy="43891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25-yr LCC at 5% discount rate; subsidy sensitivity 0–40%; tariff 0.030–0.060 BHD/kWh</a:t>
            </a:r>
            <a:endParaRPr lang="en-US" sz="1050" dirty="0"/>
          </a:p>
        </p:txBody>
      </p:sp>
      <p:sp>
        <p:nvSpPr>
          <p:cNvPr id="45" name="Shape 40"/>
          <p:cNvSpPr/>
          <p:nvPr/>
        </p:nvSpPr>
        <p:spPr>
          <a:xfrm>
            <a:off x="4892040" y="4160520"/>
            <a:ext cx="329184" cy="329184"/>
          </a:xfrm>
          <a:prstGeom prst="ellipse">
            <a:avLst/>
          </a:prstGeom>
          <a:solidFill>
            <a:srgbClr val="00B5C8"/>
          </a:solidFill>
          <a:ln w="12700">
            <a:solidFill>
              <a:srgbClr val="00B5C8"/>
            </a:solidFill>
            <a:prstDash val="solid"/>
          </a:ln>
        </p:spPr>
      </p:sp>
      <p:sp>
        <p:nvSpPr>
          <p:cNvPr id="46" name="Text 41"/>
          <p:cNvSpPr/>
          <p:nvPr/>
        </p:nvSpPr>
        <p:spPr>
          <a:xfrm>
            <a:off x="4892040" y="4160520"/>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Shape 42"/>
          <p:cNvSpPr/>
          <p:nvPr/>
        </p:nvSpPr>
        <p:spPr>
          <a:xfrm>
            <a:off x="5321808" y="4087368"/>
            <a:ext cx="3520440" cy="804672"/>
          </a:xfrm>
          <a:prstGeom prst="rect">
            <a:avLst/>
          </a:prstGeom>
          <a:solidFill>
            <a:srgbClr val="D6EAF8"/>
          </a:solidFill>
          <a:ln w="6350">
            <a:solidFill>
              <a:srgbClr val="A8C6E0"/>
            </a:solidFill>
            <a:prstDash val="solid"/>
          </a:ln>
        </p:spPr>
      </p:sp>
      <p:sp>
        <p:nvSpPr>
          <p:cNvPr id="48" name="Text 43"/>
          <p:cNvSpPr/>
          <p:nvPr/>
        </p:nvSpPr>
        <p:spPr>
          <a:xfrm>
            <a:off x="5394960" y="4123944"/>
            <a:ext cx="3383280" cy="274320"/>
          </a:xfrm>
          <a:prstGeom prst="rect">
            <a:avLst/>
          </a:prstGeom>
          <a:noFill/>
          <a:ln/>
        </p:spPr>
        <p:txBody>
          <a:bodyPr wrap="square" rtlCol="0" anchor="ctr"/>
          <a:lstStyle/>
          <a:p>
            <a:pPr marL="0" indent="0">
              <a:buNone/>
            </a:pPr>
            <a:r>
              <a:rPr lang="en-US" sz="1150" b="1" dirty="0">
                <a:solidFill>
                  <a:srgbClr val="1F4E79"/>
                </a:solidFill>
                <a:latin typeface="Calibri" pitchFamily="34" charset="0"/>
                <a:ea typeface="Calibri" pitchFamily="34" charset="-122"/>
                <a:cs typeface="Calibri" pitchFamily="34" charset="-120"/>
              </a:rPr>
              <a:t>Environmental Assessment</a:t>
            </a:r>
            <a:endParaRPr lang="en-US" sz="1150" dirty="0"/>
          </a:p>
        </p:txBody>
      </p:sp>
      <p:sp>
        <p:nvSpPr>
          <p:cNvPr id="49" name="Text 44"/>
          <p:cNvSpPr/>
          <p:nvPr/>
        </p:nvSpPr>
        <p:spPr>
          <a:xfrm>
            <a:off x="5394960" y="4389120"/>
            <a:ext cx="3383280" cy="43891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GHG savings using IEA factor 0.62 kg CO₂/kWh; water elimination quantified</a:t>
            </a:r>
            <a:endParaRPr lang="en-US" sz="1050" dirty="0"/>
          </a:p>
        </p:txBody>
      </p:sp>
      <p:sp>
        <p:nvSpPr>
          <p:cNvPr id="50" name="Shape 45"/>
          <p:cNvSpPr/>
          <p:nvPr/>
        </p:nvSpPr>
        <p:spPr>
          <a:xfrm>
            <a:off x="4892040" y="4846320"/>
            <a:ext cx="3950208" cy="201168"/>
          </a:xfrm>
          <a:prstGeom prst="rect">
            <a:avLst/>
          </a:prstGeom>
          <a:solidFill>
            <a:srgbClr val="00B5C8"/>
          </a:solidFill>
          <a:ln w="12700">
            <a:solidFill>
              <a:srgbClr val="00B5C8"/>
            </a:solidFill>
            <a:prstDash val="solid"/>
          </a:ln>
        </p:spPr>
      </p:sp>
      <p:sp>
        <p:nvSpPr>
          <p:cNvPr id="51" name="Text 46"/>
          <p:cNvSpPr/>
          <p:nvPr/>
        </p:nvSpPr>
        <p:spPr>
          <a:xfrm>
            <a:off x="4919472" y="4846320"/>
            <a:ext cx="3913632" cy="20116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Model validated: all key metrics within &lt;10% relative error (Belliardi et al., 2023)</a:t>
            </a:r>
            <a:endParaRPr lang="en-US" sz="1000" dirty="0"/>
          </a:p>
        </p:txBody>
      </p:sp>
      <p:sp>
        <p:nvSpPr>
          <p:cNvPr id="52" name="Text 47"/>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imulation">
    <p:bg>
      <p:bgPr>
        <a:solidFill>
          <a:srgbClr val="FFFFFF"/>
        </a:solidFill>
        <a:effectLst/>
      </p:bgPr>
    </p:bg>
    <p:spTree>
      <p:nvGrpSpPr>
        <p:cNvPr id="1" name=""/>
        <p:cNvGrpSpPr/>
        <p:nvPr/>
      </p:nvGrpSpPr>
      <p:grpSpPr>
        <a:xfrm>
          <a:off x="0" y="0"/>
          <a:ext cx="0" cy="0"/>
          <a:chOff x="0" y="0"/>
          <a:chExt cx="0" cy="0"/>
        </a:xfrm>
      </p:grpSpPr>
      <p:sp>
        <p:nvSpPr>
          <p:cNvPr id="2" name="TitleBg"/>
          <p:cNvSpPr/>
          <p:nvPr/>
        </p:nvSpPr>
        <p:spPr>
          <a:xfrm>
            <a:off x="777240" y="73152"/>
            <a:ext cx="7315200" cy="566928"/>
          </a:xfrm>
          <a:prstGeom prst="rect">
            <a:avLst/>
          </a:prstGeom>
          <a:solidFill>
            <a:srgbClr val="1B2A5E"/>
          </a:solidFill>
          <a:ln w="12700">
            <a:solidFill>
              <a:srgbClr val="1B2A5E"/>
            </a:solidFill>
          </a:ln>
        </p:spPr>
      </p:sp>
      <p:sp>
        <p:nvSpPr>
          <p:cNvPr id="3" name="TitleText"/>
          <p:cNvSpPr/>
          <p:nvPr/>
        </p:nvSpPr>
        <p:spPr>
          <a:xfrm>
            <a:off x="804672" y="73152"/>
            <a:ext cx="7287768"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rPr>
              <a:t>Simulation Model — TRNSYS 18</a:t>
            </a:r>
          </a:p>
        </p:txBody>
      </p:sp>
      <p:sp>
        <p:nvSpPr>
          <p:cNvPr id="4" name="OrangeBar"/>
          <p:cNvSpPr/>
          <p:nvPr/>
        </p:nvSpPr>
        <p:spPr>
          <a:xfrm>
            <a:off x="777240" y="640080"/>
            <a:ext cx="7315200" cy="73152"/>
          </a:xfrm>
          <a:prstGeom prst="rect">
            <a:avLst/>
          </a:prstGeom>
          <a:solidFill>
            <a:srgbClr val="D35400"/>
          </a:solidFill>
          <a:ln w="12700">
            <a:solidFill>
              <a:srgbClr val="D35400"/>
            </a:solidFill>
          </a:ln>
        </p:spPr>
      </p:sp>
      <p:sp>
        <p:nvSpPr>
          <p:cNvPr id="5" name="LeftHeader"/>
          <p:cNvSpPr/>
          <p:nvPr/>
        </p:nvSpPr>
        <p:spPr>
          <a:xfrm>
            <a:off x="777240" y="768096"/>
            <a:ext cx="3840480" cy="292608"/>
          </a:xfrm>
          <a:prstGeom prst="rect">
            <a:avLst/>
          </a:prstGeom>
          <a:solidFill>
            <a:srgbClr val="1B2A5E"/>
          </a:solidFill>
          <a:ln w="12700">
            <a:solidFill>
              <a:srgbClr val="1B2A5E"/>
            </a:solidFill>
          </a:ln>
        </p:spPr>
      </p:sp>
      <p:sp>
        <p:nvSpPr>
          <p:cNvPr id="6" name="LeftHeaderTxt"/>
          <p:cNvSpPr/>
          <p:nvPr/>
        </p:nvSpPr>
        <p:spPr>
          <a:xfrm>
            <a:off x="822960" y="768096"/>
            <a:ext cx="379476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rPr>
              <a:t>Software Platform &amp; Configuration</a:t>
            </a:r>
          </a:p>
        </p:txBody>
      </p:sp>
      <p:sp>
        <p:nvSpPr>
          <p:cNvPr id="7" name="C1Bg"/>
          <p:cNvSpPr/>
          <p:nvPr/>
        </p:nvSpPr>
        <p:spPr>
          <a:xfrm>
            <a:off x="777240" y="1097280"/>
            <a:ext cx="3840480" cy="511056"/>
          </a:xfrm>
          <a:prstGeom prst="rect">
            <a:avLst/>
          </a:prstGeom>
          <a:solidFill>
            <a:srgbClr val="EBF5FB"/>
          </a:solidFill>
          <a:ln w="9525">
            <a:solidFill>
              <a:srgbClr val="AED6F1"/>
            </a:solidFill>
          </a:ln>
        </p:spPr>
      </p:sp>
      <p:sp>
        <p:nvSpPr>
          <p:cNvPr id="8" name="C1Bar"/>
          <p:cNvSpPr/>
          <p:nvPr/>
        </p:nvSpPr>
        <p:spPr>
          <a:xfrm>
            <a:off x="777240" y="1097280"/>
            <a:ext cx="54864" cy="511056"/>
          </a:xfrm>
          <a:prstGeom prst="rect">
            <a:avLst/>
          </a:prstGeom>
          <a:solidFill>
            <a:srgbClr val="00B5C8"/>
          </a:solidFill>
          <a:ln w="12700">
            <a:solidFill>
              <a:srgbClr val="00B5C8"/>
            </a:solidFill>
          </a:ln>
        </p:spPr>
      </p:sp>
      <p:sp>
        <p:nvSpPr>
          <p:cNvPr id="9" name="C1Txt"/>
          <p:cNvSpPr/>
          <p:nvPr/>
        </p:nvSpPr>
        <p:spPr>
          <a:xfrm>
            <a:off x="868680" y="1115000"/>
            <a:ext cx="3730320" cy="475000"/>
          </a:xfrm>
          <a:prstGeom prst="rect">
            <a:avLst/>
          </a:prstGeom>
          <a:noFill/>
          <a:ln/>
        </p:spPr>
        <p:txBody>
          <a:bodyPr wrap="square" rtlCol="0" anchor="t"/>
          <a:lstStyle/>
          <a:p>
            <a:pPr marL="0" indent="0">
              <a:buNone/>
            </a:pPr>
            <a:r>
              <a:rPr lang="en-US" sz="1200" b="1" dirty="0">
                <a:solidFill>
                  <a:srgbClr val="1B2A5E"/>
                </a:solidFill>
                <a:latin typeface="Calibri" pitchFamily="34" charset="0"/>
              </a:rPr>
              <a:t>TRNSYS 18 — Primary Engine</a:t>
            </a:r>
          </a:p>
          <a:p>
            <a:pPr marL="0" indent="0">
              <a:buNone/>
            </a:pPr>
            <a:r>
              <a:rPr lang="en-US" sz="1000" dirty="0">
                <a:solidFill>
                  <a:srgbClr val="444444"/>
                </a:solidFill>
                <a:latin typeface="Calibri" pitchFamily="34" charset="0"/>
              </a:rPr>
              <a:t>20-yr dynamic model (175,200 hrs), 1-hr timestep. TMY weather data for Manama, Bahrain. Ground-loop modelled via Type 557.</a:t>
            </a:r>
          </a:p>
        </p:txBody>
      </p:sp>
      <p:sp>
        <p:nvSpPr>
          <p:cNvPr id="10" name="C2Bg"/>
          <p:cNvSpPr/>
          <p:nvPr/>
        </p:nvSpPr>
        <p:spPr>
          <a:xfrm>
            <a:off x="777240" y="1645920"/>
            <a:ext cx="3840480" cy="511056"/>
          </a:xfrm>
          <a:prstGeom prst="rect">
            <a:avLst/>
          </a:prstGeom>
          <a:solidFill>
            <a:srgbClr val="EBF5FB"/>
          </a:solidFill>
          <a:ln w="9525">
            <a:solidFill>
              <a:srgbClr val="AED6F1"/>
            </a:solidFill>
          </a:ln>
        </p:spPr>
      </p:sp>
      <p:sp>
        <p:nvSpPr>
          <p:cNvPr id="11" name="C2Bar"/>
          <p:cNvSpPr/>
          <p:nvPr/>
        </p:nvSpPr>
        <p:spPr>
          <a:xfrm>
            <a:off x="777240" y="1645920"/>
            <a:ext cx="54864" cy="511056"/>
          </a:xfrm>
          <a:prstGeom prst="rect">
            <a:avLst/>
          </a:prstGeom>
          <a:solidFill>
            <a:srgbClr val="D35400"/>
          </a:solidFill>
          <a:ln w="12700">
            <a:solidFill>
              <a:srgbClr val="D35400"/>
            </a:solidFill>
          </a:ln>
        </p:spPr>
      </p:sp>
      <p:sp>
        <p:nvSpPr>
          <p:cNvPr id="12" name="C2Txt"/>
          <p:cNvSpPr/>
          <p:nvPr/>
        </p:nvSpPr>
        <p:spPr>
          <a:xfrm>
            <a:off x="868680" y="1663640"/>
            <a:ext cx="3730320" cy="475000"/>
          </a:xfrm>
          <a:prstGeom prst="rect">
            <a:avLst/>
          </a:prstGeom>
          <a:noFill/>
          <a:ln/>
        </p:spPr>
        <p:txBody>
          <a:bodyPr wrap="square" rtlCol="0" anchor="t"/>
          <a:lstStyle/>
          <a:p>
            <a:pPr marL="0" indent="0">
              <a:buNone/>
            </a:pPr>
            <a:r>
              <a:rPr lang="en-US" sz="1200" b="1" dirty="0">
                <a:solidFill>
                  <a:srgbClr val="1B2A5E"/>
                </a:solidFill>
                <a:latin typeface="Calibri" pitchFamily="34" charset="0"/>
              </a:rPr>
              <a:t>TRNSYS Component Types</a:t>
            </a:r>
          </a:p>
          <a:p>
            <a:pPr marL="0" indent="0">
              <a:buNone/>
            </a:pPr>
            <a:r>
              <a:rPr lang="en-US" sz="1000" dirty="0">
                <a:solidFill>
                  <a:srgbClr val="444444"/>
                </a:solidFill>
                <a:latin typeface="Calibri" pitchFamily="34" charset="0"/>
              </a:rPr>
              <a:t>Type 557 (borehole) · Type 4c (buffer tank, 10-node) · Type 1b (solar collector) · Type 666 (heat pump)</a:t>
            </a:r>
          </a:p>
        </p:txBody>
      </p:sp>
      <p:sp>
        <p:nvSpPr>
          <p:cNvPr id="13" name="C3Bg"/>
          <p:cNvSpPr/>
          <p:nvPr/>
        </p:nvSpPr>
        <p:spPr>
          <a:xfrm>
            <a:off x="777240" y="2194560"/>
            <a:ext cx="3840480" cy="511056"/>
          </a:xfrm>
          <a:prstGeom prst="rect">
            <a:avLst/>
          </a:prstGeom>
          <a:solidFill>
            <a:srgbClr val="EAFAF1"/>
          </a:solidFill>
          <a:ln w="9525">
            <a:solidFill>
              <a:srgbClr val="A9DFBF"/>
            </a:solidFill>
          </a:ln>
        </p:spPr>
      </p:sp>
      <p:sp>
        <p:nvSpPr>
          <p:cNvPr id="14" name="C3Bar"/>
          <p:cNvSpPr/>
          <p:nvPr/>
        </p:nvSpPr>
        <p:spPr>
          <a:xfrm>
            <a:off x="777240" y="2194560"/>
            <a:ext cx="54864" cy="511056"/>
          </a:xfrm>
          <a:prstGeom prst="rect">
            <a:avLst/>
          </a:prstGeom>
          <a:solidFill>
            <a:srgbClr val="1B2A5E"/>
          </a:solidFill>
          <a:ln w="12700">
            <a:solidFill>
              <a:srgbClr val="1B2A5E"/>
            </a:solidFill>
          </a:ln>
        </p:spPr>
      </p:sp>
      <p:sp>
        <p:nvSpPr>
          <p:cNvPr id="15" name="C3Txt"/>
          <p:cNvSpPr/>
          <p:nvPr/>
        </p:nvSpPr>
        <p:spPr>
          <a:xfrm>
            <a:off x="868680" y="2212280"/>
            <a:ext cx="3730320" cy="475000"/>
          </a:xfrm>
          <a:prstGeom prst="rect">
            <a:avLst/>
          </a:prstGeom>
          <a:noFill/>
          <a:ln/>
        </p:spPr>
        <p:txBody>
          <a:bodyPr wrap="square" rtlCol="0" anchor="t"/>
          <a:lstStyle/>
          <a:p>
            <a:pPr marL="0" indent="0">
              <a:buNone/>
            </a:pPr>
            <a:r>
              <a:rPr lang="en-US" sz="1200" b="1" dirty="0">
                <a:solidFill>
                  <a:srgbClr val="1B2A5E"/>
                </a:solidFill>
                <a:latin typeface="Calibri" pitchFamily="34" charset="0"/>
              </a:rPr>
              <a:t>Model Validation ✔</a:t>
            </a:r>
          </a:p>
          <a:p>
            <a:pPr marL="0" indent="0">
              <a:buNone/>
            </a:pPr>
            <a:r>
              <a:rPr lang="en-US" sz="1000" dirty="0">
                <a:solidFill>
                  <a:srgbClr val="444444"/>
                </a:solidFill>
                <a:latin typeface="Calibri" pitchFamily="34" charset="0"/>
              </a:rPr>
              <a:t>All key metrics within &lt;10% relative error vs. Belliardi et al. (2023). Ground temperature, SCOP, and annual energy validated independently.</a:t>
            </a:r>
          </a:p>
        </p:txBody>
      </p:sp>
      <p:sp>
        <p:nvSpPr>
          <p:cNvPr id="16" name="C4Bg"/>
          <p:cNvSpPr/>
          <p:nvPr/>
        </p:nvSpPr>
        <p:spPr>
          <a:xfrm>
            <a:off x="777240" y="2743200"/>
            <a:ext cx="3840480" cy="511056"/>
          </a:xfrm>
          <a:prstGeom prst="rect">
            <a:avLst/>
          </a:prstGeom>
          <a:solidFill>
            <a:srgbClr val="EBF5FB"/>
          </a:solidFill>
          <a:ln w="9525">
            <a:solidFill>
              <a:srgbClr val="AED6F1"/>
            </a:solidFill>
          </a:ln>
        </p:spPr>
      </p:sp>
      <p:sp>
        <p:nvSpPr>
          <p:cNvPr id="17" name="C4Bar"/>
          <p:cNvSpPr/>
          <p:nvPr/>
        </p:nvSpPr>
        <p:spPr>
          <a:xfrm>
            <a:off x="777240" y="2743200"/>
            <a:ext cx="54864" cy="511056"/>
          </a:xfrm>
          <a:prstGeom prst="rect">
            <a:avLst/>
          </a:prstGeom>
          <a:solidFill>
            <a:srgbClr val="00B5C8"/>
          </a:solidFill>
          <a:ln w="12700">
            <a:solidFill>
              <a:srgbClr val="00B5C8"/>
            </a:solidFill>
          </a:ln>
        </p:spPr>
      </p:sp>
      <p:sp>
        <p:nvSpPr>
          <p:cNvPr id="18" name="C4Txt"/>
          <p:cNvSpPr/>
          <p:nvPr/>
        </p:nvSpPr>
        <p:spPr>
          <a:xfrm>
            <a:off x="868680" y="2760920"/>
            <a:ext cx="3730320" cy="475000"/>
          </a:xfrm>
          <a:prstGeom prst="rect">
            <a:avLst/>
          </a:prstGeom>
          <a:noFill/>
          <a:ln/>
        </p:spPr>
        <p:txBody>
          <a:bodyPr wrap="square" rtlCol="0" anchor="t"/>
          <a:lstStyle/>
          <a:p>
            <a:pPr marL="0" indent="0">
              <a:buNone/>
            </a:pPr>
            <a:r>
              <a:rPr lang="en-US" sz="1200" b="1" dirty="0">
                <a:solidFill>
                  <a:srgbClr val="1B2A5E"/>
                </a:solidFill>
                <a:latin typeface="Calibri" pitchFamily="34" charset="0"/>
              </a:rPr>
              <a:t>Solar Regeneration Control Logic</a:t>
            </a:r>
          </a:p>
          <a:p>
            <a:pPr marL="0" indent="0">
              <a:buNone/>
            </a:pPr>
            <a:r>
              <a:rPr lang="en-US" sz="1000" dirty="0">
                <a:solidFill>
                  <a:srgbClr val="444444"/>
                </a:solidFill>
                <a:latin typeface="Calibri" pitchFamily="34" charset="0"/>
              </a:rPr>
              <a:t>Activates Nov–Feb when collector outlet temp &gt; tank top + 5°C. Limits 20-yr borehole drift to +0.8°C vs +4.2°C unmanaged.</a:t>
            </a:r>
          </a:p>
        </p:txBody>
      </p:sp>
      <p:sp>
        <p:nvSpPr>
          <p:cNvPr id="19" name="RHdr"/>
          <p:cNvSpPr/>
          <p:nvPr/>
        </p:nvSpPr>
        <p:spPr>
          <a:xfrm>
            <a:off x="4709040" y="768096"/>
            <a:ext cx="3687960" cy="292608"/>
          </a:xfrm>
          <a:prstGeom prst="rect">
            <a:avLst/>
          </a:prstGeom>
          <a:solidFill>
            <a:srgbClr val="1B2A5E"/>
          </a:solidFill>
          <a:ln w="12700">
            <a:solidFill>
              <a:srgbClr val="1B2A5E"/>
            </a:solidFill>
          </a:ln>
        </p:spPr>
      </p:sp>
      <p:sp>
        <p:nvSpPr>
          <p:cNvPr id="20" name="RHdrTxt"/>
          <p:cNvSpPr/>
          <p:nvPr/>
        </p:nvSpPr>
        <p:spPr>
          <a:xfrm>
            <a:off x="4754760" y="768096"/>
            <a:ext cx="364124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rPr>
              <a:t>Key Simulation Parameters</a:t>
            </a:r>
          </a:p>
        </p:txBody>
      </p:sp>
      <p:sp>
        <p:nvSpPr>
          <p:cNvPr id="21" name="THdr"/>
          <p:cNvSpPr/>
          <p:nvPr/>
        </p:nvSpPr>
        <p:spPr>
          <a:xfrm>
            <a:off x="4709040" y="1097280"/>
            <a:ext cx="3687960" cy="237312"/>
          </a:xfrm>
          <a:prstGeom prst="rect">
            <a:avLst/>
          </a:prstGeom>
          <a:solidFill>
            <a:srgbClr val="D35400"/>
          </a:solidFill>
          <a:ln w="12700">
            <a:solidFill>
              <a:srgbClr val="D35400"/>
            </a:solidFill>
          </a:ln>
        </p:spPr>
      </p:sp>
      <p:sp>
        <p:nvSpPr>
          <p:cNvPr id="22" name="THdrTxt"/>
          <p:cNvSpPr/>
          <p:nvPr/>
        </p:nvSpPr>
        <p:spPr>
          <a:xfrm>
            <a:off x="4736472" y="1097280"/>
            <a:ext cx="3660528" cy="237312"/>
          </a:xfrm>
          <a:prstGeom prst="rect">
            <a:avLst/>
          </a:prstGeom>
          <a:noFill/>
          <a:ln/>
        </p:spPr>
        <p:txBody>
          <a:bodyPr wrap="square" rtlCol="0" anchor="ctr"/>
          <a:lstStyle/>
          <a:p>
            <a:pPr marL="0" indent="0">
              <a:buNone/>
            </a:pPr>
            <a:r>
              <a:rPr lang="en-US" sz="1000" b="1" dirty="0">
                <a:solidFill>
                  <a:srgbClr val="FFFFFF"/>
                </a:solidFill>
                <a:latin typeface="Calibri" pitchFamily="34" charset="0"/>
              </a:rPr>
              <a:t>Parameter                              Value</a:t>
            </a:r>
          </a:p>
        </p:txBody>
      </p:sp>
      <p:sp>
        <p:nvSpPr>
          <p:cNvPr id="23" name="R1"/>
          <p:cNvSpPr/>
          <p:nvPr/>
        </p:nvSpPr>
        <p:spPr>
          <a:xfrm>
            <a:off x="4709040" y="1334592"/>
            <a:ext cx="3687960" cy="219456"/>
          </a:xfrm>
          <a:prstGeom prst="rect">
            <a:avLst/>
          </a:prstGeom>
          <a:solidFill>
            <a:srgbClr val="F2F3F4"/>
          </a:solidFill>
          <a:ln w="6350">
            <a:solidFill>
              <a:srgbClr val="D5D8DC"/>
            </a:solidFill>
          </a:ln>
        </p:spPr>
      </p:sp>
      <p:sp>
        <p:nvSpPr>
          <p:cNvPr id="24" name="R1T"/>
          <p:cNvSpPr/>
          <p:nvPr/>
        </p:nvSpPr>
        <p:spPr>
          <a:xfrm>
            <a:off x="4736472" y="1334592"/>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Simulation horizon</a:t>
            </a:r>
            <a:r>
              <a:rPr lang="en-US" sz="950" b="1" dirty="0">
                <a:solidFill>
                  <a:srgbClr val="1B2A5E"/>
                </a:solidFill>
                <a:latin typeface="Calibri" pitchFamily="34" charset="0"/>
              </a:rPr>
              <a:t>      20 yrs (175,200 hrs)</a:t>
            </a:r>
          </a:p>
        </p:txBody>
      </p:sp>
      <p:sp>
        <p:nvSpPr>
          <p:cNvPr id="25" name="R2"/>
          <p:cNvSpPr/>
          <p:nvPr/>
        </p:nvSpPr>
        <p:spPr>
          <a:xfrm>
            <a:off x="4709040" y="1554048"/>
            <a:ext cx="3687960" cy="219456"/>
          </a:xfrm>
          <a:prstGeom prst="rect">
            <a:avLst/>
          </a:prstGeom>
          <a:solidFill>
            <a:srgbClr val="FFFFFF"/>
          </a:solidFill>
          <a:ln w="6350">
            <a:solidFill>
              <a:srgbClr val="D5D8DC"/>
            </a:solidFill>
          </a:ln>
        </p:spPr>
      </p:sp>
      <p:sp>
        <p:nvSpPr>
          <p:cNvPr id="26" name="R2T"/>
          <p:cNvSpPr/>
          <p:nvPr/>
        </p:nvSpPr>
        <p:spPr>
          <a:xfrm>
            <a:off x="4736472" y="1554048"/>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Timestep</a:t>
            </a:r>
            <a:r>
              <a:rPr lang="en-US" sz="950" b="1" dirty="0">
                <a:solidFill>
                  <a:srgbClr val="1B2A5E"/>
                </a:solidFill>
                <a:latin typeface="Calibri" pitchFamily="34" charset="0"/>
              </a:rPr>
              <a:t>      1 hour</a:t>
            </a:r>
          </a:p>
        </p:txBody>
      </p:sp>
      <p:sp>
        <p:nvSpPr>
          <p:cNvPr id="27" name="R3"/>
          <p:cNvSpPr/>
          <p:nvPr/>
        </p:nvSpPr>
        <p:spPr>
          <a:xfrm>
            <a:off x="4709040" y="1773504"/>
            <a:ext cx="3687960" cy="219456"/>
          </a:xfrm>
          <a:prstGeom prst="rect">
            <a:avLst/>
          </a:prstGeom>
          <a:solidFill>
            <a:srgbClr val="F2F3F4"/>
          </a:solidFill>
          <a:ln w="6350">
            <a:solidFill>
              <a:srgbClr val="D5D8DC"/>
            </a:solidFill>
          </a:ln>
        </p:spPr>
      </p:sp>
      <p:sp>
        <p:nvSpPr>
          <p:cNvPr id="28" name="R3T"/>
          <p:cNvSpPr/>
          <p:nvPr/>
        </p:nvSpPr>
        <p:spPr>
          <a:xfrm>
            <a:off x="4736472" y="1773504"/>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Weather data</a:t>
            </a:r>
            <a:r>
              <a:rPr lang="en-US" sz="950" b="1" dirty="0">
                <a:solidFill>
                  <a:srgbClr val="1B2A5E"/>
                </a:solidFill>
                <a:latin typeface="Calibri" pitchFamily="34" charset="0"/>
              </a:rPr>
              <a:t>      TMY — Manama, Bahrain</a:t>
            </a:r>
          </a:p>
        </p:txBody>
      </p:sp>
      <p:sp>
        <p:nvSpPr>
          <p:cNvPr id="29" name="R4"/>
          <p:cNvSpPr/>
          <p:nvPr/>
        </p:nvSpPr>
        <p:spPr>
          <a:xfrm>
            <a:off x="4709040" y="1992960"/>
            <a:ext cx="3687960" cy="219456"/>
          </a:xfrm>
          <a:prstGeom prst="rect">
            <a:avLst/>
          </a:prstGeom>
          <a:solidFill>
            <a:srgbClr val="FFFFFF"/>
          </a:solidFill>
          <a:ln w="6350">
            <a:solidFill>
              <a:srgbClr val="D5D8DC"/>
            </a:solidFill>
          </a:ln>
        </p:spPr>
      </p:sp>
      <p:sp>
        <p:nvSpPr>
          <p:cNvPr id="30" name="R4T"/>
          <p:cNvSpPr/>
          <p:nvPr/>
        </p:nvSpPr>
        <p:spPr>
          <a:xfrm>
            <a:off x="4736472" y="1992960"/>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Undisturbed ground temp</a:t>
            </a:r>
            <a:r>
              <a:rPr lang="en-US" sz="950" b="1" dirty="0">
                <a:solidFill>
                  <a:srgbClr val="1B2A5E"/>
                </a:solidFill>
                <a:latin typeface="Calibri" pitchFamily="34" charset="0"/>
              </a:rPr>
              <a:t>      30°C</a:t>
            </a:r>
          </a:p>
        </p:txBody>
      </p:sp>
      <p:sp>
        <p:nvSpPr>
          <p:cNvPr id="31" name="R5"/>
          <p:cNvSpPr/>
          <p:nvPr/>
        </p:nvSpPr>
        <p:spPr>
          <a:xfrm>
            <a:off x="4709040" y="2212416"/>
            <a:ext cx="3687960" cy="219456"/>
          </a:xfrm>
          <a:prstGeom prst="rect">
            <a:avLst/>
          </a:prstGeom>
          <a:solidFill>
            <a:srgbClr val="F2F3F4"/>
          </a:solidFill>
          <a:ln w="6350">
            <a:solidFill>
              <a:srgbClr val="D5D8DC"/>
            </a:solidFill>
          </a:ln>
        </p:spPr>
      </p:sp>
      <p:sp>
        <p:nvSpPr>
          <p:cNvPr id="32" name="R5T"/>
          <p:cNvSpPr/>
          <p:nvPr/>
        </p:nvSpPr>
        <p:spPr>
          <a:xfrm>
            <a:off x="4736472" y="2212416"/>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Borehole config</a:t>
            </a:r>
            <a:r>
              <a:rPr lang="en-US" sz="950" b="1" dirty="0">
                <a:solidFill>
                  <a:srgbClr val="1B2A5E"/>
                </a:solidFill>
                <a:latin typeface="Calibri" pitchFamily="34" charset="0"/>
              </a:rPr>
              <a:t>      4 × 100 m vertical U-tubes</a:t>
            </a:r>
          </a:p>
        </p:txBody>
      </p:sp>
      <p:sp>
        <p:nvSpPr>
          <p:cNvPr id="33" name="R6"/>
          <p:cNvSpPr/>
          <p:nvPr/>
        </p:nvSpPr>
        <p:spPr>
          <a:xfrm>
            <a:off x="4709040" y="2431872"/>
            <a:ext cx="3687960" cy="219456"/>
          </a:xfrm>
          <a:prstGeom prst="rect">
            <a:avLst/>
          </a:prstGeom>
          <a:solidFill>
            <a:srgbClr val="FFFFFF"/>
          </a:solidFill>
          <a:ln w="6350">
            <a:solidFill>
              <a:srgbClr val="D5D8DC"/>
            </a:solidFill>
          </a:ln>
        </p:spPr>
      </p:sp>
      <p:sp>
        <p:nvSpPr>
          <p:cNvPr id="34" name="R6T"/>
          <p:cNvSpPr/>
          <p:nvPr/>
        </p:nvSpPr>
        <p:spPr>
          <a:xfrm>
            <a:off x="4736472" y="2431872"/>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Solar collector area</a:t>
            </a:r>
            <a:r>
              <a:rPr lang="en-US" sz="950" b="1" dirty="0">
                <a:solidFill>
                  <a:srgbClr val="1B2A5E"/>
                </a:solidFill>
                <a:latin typeface="Calibri" pitchFamily="34" charset="0"/>
              </a:rPr>
              <a:t>      1,212 m², η₀=86.3%</a:t>
            </a:r>
          </a:p>
        </p:txBody>
      </p:sp>
      <p:sp>
        <p:nvSpPr>
          <p:cNvPr id="35" name="R7"/>
          <p:cNvSpPr/>
          <p:nvPr/>
        </p:nvSpPr>
        <p:spPr>
          <a:xfrm>
            <a:off x="4709040" y="2651328"/>
            <a:ext cx="3687960" cy="219456"/>
          </a:xfrm>
          <a:prstGeom prst="rect">
            <a:avLst/>
          </a:prstGeom>
          <a:solidFill>
            <a:srgbClr val="F2F3F4"/>
          </a:solidFill>
          <a:ln w="6350">
            <a:solidFill>
              <a:srgbClr val="D5D8DC"/>
            </a:solidFill>
          </a:ln>
        </p:spPr>
      </p:sp>
      <p:sp>
        <p:nvSpPr>
          <p:cNvPr id="36" name="R7T"/>
          <p:cNvSpPr/>
          <p:nvPr/>
        </p:nvSpPr>
        <p:spPr>
          <a:xfrm>
            <a:off x="4736472" y="2651328"/>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Buffer tank</a:t>
            </a:r>
            <a:r>
              <a:rPr lang="en-US" sz="950" b="1" dirty="0">
                <a:solidFill>
                  <a:srgbClr val="1B2A5E"/>
                </a:solidFill>
                <a:latin typeface="Calibri" pitchFamily="34" charset="0"/>
              </a:rPr>
              <a:t>      58 m³, 10-node stratified</a:t>
            </a:r>
          </a:p>
        </p:txBody>
      </p:sp>
      <p:sp>
        <p:nvSpPr>
          <p:cNvPr id="37" name="R8"/>
          <p:cNvSpPr/>
          <p:nvPr/>
        </p:nvSpPr>
        <p:spPr>
          <a:xfrm>
            <a:off x="4709040" y="2870784"/>
            <a:ext cx="3687960" cy="219456"/>
          </a:xfrm>
          <a:prstGeom prst="rect">
            <a:avLst/>
          </a:prstGeom>
          <a:solidFill>
            <a:srgbClr val="FFFFFF"/>
          </a:solidFill>
          <a:ln w="6350">
            <a:solidFill>
              <a:srgbClr val="D5D8DC"/>
            </a:solidFill>
          </a:ln>
        </p:spPr>
      </p:sp>
      <p:sp>
        <p:nvSpPr>
          <p:cNvPr id="38" name="R8T"/>
          <p:cNvSpPr/>
          <p:nvPr/>
        </p:nvSpPr>
        <p:spPr>
          <a:xfrm>
            <a:off x="4736472" y="2870784"/>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Heat pump capacity</a:t>
            </a:r>
            <a:r>
              <a:rPr lang="en-US" sz="950" b="1" dirty="0">
                <a:solidFill>
                  <a:srgbClr val="1B2A5E"/>
                </a:solidFill>
                <a:latin typeface="Calibri" pitchFamily="34" charset="0"/>
              </a:rPr>
              <a:t>      2 × 312 kW, R-407C</a:t>
            </a:r>
          </a:p>
        </p:txBody>
      </p:sp>
      <p:sp>
        <p:nvSpPr>
          <p:cNvPr id="39" name="R9"/>
          <p:cNvSpPr/>
          <p:nvPr/>
        </p:nvSpPr>
        <p:spPr>
          <a:xfrm>
            <a:off x="4709040" y="3090240"/>
            <a:ext cx="3687960" cy="219456"/>
          </a:xfrm>
          <a:prstGeom prst="rect">
            <a:avLst/>
          </a:prstGeom>
          <a:solidFill>
            <a:srgbClr val="F2F3F4"/>
          </a:solidFill>
          <a:ln w="6350">
            <a:solidFill>
              <a:srgbClr val="D5D8DC"/>
            </a:solidFill>
          </a:ln>
        </p:spPr>
      </p:sp>
      <p:sp>
        <p:nvSpPr>
          <p:cNvPr id="40" name="R9T"/>
          <p:cNvSpPr/>
          <p:nvPr/>
        </p:nvSpPr>
        <p:spPr>
          <a:xfrm>
            <a:off x="4736472" y="3090240"/>
            <a:ext cx="3660528" cy="219456"/>
          </a:xfrm>
          <a:prstGeom prst="rect">
            <a:avLst/>
          </a:prstGeom>
          <a:noFill/>
          <a:ln/>
        </p:spPr>
        <p:txBody>
          <a:bodyPr wrap="square" rtlCol="0" anchor="ctr"/>
          <a:lstStyle/>
          <a:p>
            <a:pPr marL="0" indent="0">
              <a:buNone/>
            </a:pPr>
            <a:r>
              <a:rPr lang="en-US" sz="950" dirty="0">
                <a:solidFill>
                  <a:srgbClr val="333333"/>
                </a:solidFill>
                <a:latin typeface="Calibri" pitchFamily="34" charset="0"/>
              </a:rPr>
              <a:t>Building load / setpoint</a:t>
            </a:r>
            <a:r>
              <a:rPr lang="en-US" sz="950" b="1" dirty="0">
                <a:solidFill>
                  <a:srgbClr val="1B2A5E"/>
                </a:solidFill>
                <a:latin typeface="Calibri" pitchFamily="34" charset="0"/>
              </a:rPr>
              <a:t>      70,000 kWh/yr / 24°C</a:t>
            </a:r>
          </a:p>
        </p:txBody>
      </p:sp>
      <p:sp>
        <p:nvSpPr>
          <p:cNvPr id="41" name="Note"/>
          <p:cNvSpPr/>
          <p:nvPr/>
        </p:nvSpPr>
        <p:spPr>
          <a:xfrm>
            <a:off x="777240" y="3800000"/>
            <a:ext cx="7315200" cy="201168"/>
          </a:xfrm>
          <a:prstGeom prst="rect">
            <a:avLst/>
          </a:prstGeom>
          <a:solidFill>
            <a:srgbClr val="00B5C8"/>
          </a:solidFill>
          <a:ln w="12700">
            <a:solidFill>
              <a:srgbClr val="00B5C8"/>
            </a:solidFill>
          </a:ln>
        </p:spPr>
      </p:sp>
      <p:sp>
        <p:nvSpPr>
          <p:cNvPr id="42" name="NoteTxt"/>
          <p:cNvSpPr/>
          <p:nvPr/>
        </p:nvSpPr>
        <p:spPr>
          <a:xfrm>
            <a:off x="822960" y="3800000"/>
            <a:ext cx="7269480" cy="201168"/>
          </a:xfrm>
          <a:prstGeom prst="rect">
            <a:avLst/>
          </a:prstGeom>
          <a:noFill/>
          <a:ln/>
        </p:spPr>
        <p:txBody>
          <a:bodyPr wrap="square" rtlCol="0" anchor="ctr"/>
          <a:lstStyle/>
          <a:p>
            <a:pPr marL="0" indent="0">
              <a:buNone/>
            </a:pPr>
            <a:r>
              <a:rPr lang="en-US" sz="900" b="1" dirty="0">
                <a:solidFill>
                  <a:srgbClr val="FFFFFF"/>
                </a:solidFill>
                <a:latin typeface="Calibri" pitchFamily="34" charset="0"/>
              </a:rPr>
              <a:t>Note: EnergyPlus/OpenStudio reviewed as cross-validation tool; TRNSYS 18 selected as primary engine for superior transient ground-loop modelling via Type 557.</a:t>
            </a:r>
          </a:p>
        </p:txBody>
      </p:sp>
      <p:sp>
        <p:nvSpPr>
          <p:cNvPr id="43" name="SN"/>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lowDiagram">
    <p:bg>
      <p:bgPr>
        <a:solidFill>
          <a:srgbClr val="FFFFFF"/>
        </a:solidFill>
        <a:effectLst/>
      </p:bgPr>
    </p:bg>
    <p:spTree>
      <p:nvGrpSpPr>
        <p:cNvPr id="1" name=""/>
        <p:cNvGrpSpPr/>
        <p:nvPr/>
      </p:nvGrpSpPr>
      <p:grpSpPr>
        <a:xfrm>
          <a:off x="0" y="0"/>
          <a:ext cx="0" cy="0"/>
          <a:chOff x="0" y="0"/>
          <a:chExt cx="0" cy="0"/>
        </a:xfrm>
      </p:grpSpPr>
      <p:sp>
        <p:nvSpPr>
          <p:cNvPr id="2" name="TBg"/>
          <p:cNvSpPr/>
          <p:nvPr/>
        </p:nvSpPr>
        <p:spPr>
          <a:xfrm>
            <a:off x="777240" y="73152"/>
            <a:ext cx="7315200" cy="566928"/>
          </a:xfrm>
          <a:prstGeom prst="rect">
            <a:avLst/>
          </a:prstGeom>
          <a:solidFill>
            <a:srgbClr val="1B2A5E"/>
          </a:solidFill>
          <a:ln w="12700">
            <a:solidFill>
              <a:srgbClr val="1B2A5E"/>
            </a:solidFill>
          </a:ln>
        </p:spPr>
      </p:sp>
      <p:sp>
        <p:nvSpPr>
          <p:cNvPr id="3" name="TTxt"/>
          <p:cNvSpPr/>
          <p:nvPr/>
        </p:nvSpPr>
        <p:spPr>
          <a:xfrm>
            <a:off x="804672" y="73152"/>
            <a:ext cx="7287768"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rPr>
              <a:t>SA-GSHP System Flow Diagram</a:t>
            </a:r>
          </a:p>
        </p:txBody>
      </p:sp>
      <p:sp>
        <p:nvSpPr>
          <p:cNvPr id="4" name="OBar"/>
          <p:cNvSpPr/>
          <p:nvPr/>
        </p:nvSpPr>
        <p:spPr>
          <a:xfrm>
            <a:off x="777240" y="640080"/>
            <a:ext cx="7315200" cy="73152"/>
          </a:xfrm>
          <a:prstGeom prst="rect">
            <a:avLst/>
          </a:prstGeom>
          <a:solidFill>
            <a:srgbClr val="D35400"/>
          </a:solidFill>
          <a:ln w="12700">
            <a:solidFill>
              <a:srgbClr val="D35400"/>
            </a:solidFill>
          </a:ln>
        </p:spPr>
      </p:sp>
      <p:sp>
        <p:nvSpPr>
          <p:cNvPr id="10" name="N1Bg"/>
          <p:cNvSpPr/>
          <p:nvPr/>
        </p:nvSpPr>
        <p:spPr>
          <a:xfrm>
            <a:off x="822960" y="804672"/>
            <a:ext cx="1645920" cy="548640"/>
          </a:xfrm>
          <a:prstGeom prst="rect">
            <a:avLst/>
          </a:prstGeom>
          <a:solidFill>
            <a:srgbClr val="D35400"/>
          </a:solidFill>
          <a:ln w="9525">
            <a:solidFill>
              <a:srgbClr val="B03A00"/>
            </a:solidFill>
          </a:ln>
        </p:spPr>
      </p:sp>
      <p:sp>
        <p:nvSpPr>
          <p:cNvPr id="11" name="N1Txt"/>
          <p:cNvSpPr/>
          <p:nvPr/>
        </p:nvSpPr>
        <p:spPr>
          <a:xfrm>
            <a:off x="822960" y="804672"/>
            <a:ext cx="164592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rPr>
              <a:t>☀ Solar</a:t>
            </a:r>
          </a:p>
          <a:p>
            <a:pPr marL="0" indent="0" algn="ctr">
              <a:buNone/>
            </a:pPr>
            <a:r>
              <a:rPr lang="en-US" sz="1200" b="1" dirty="0">
                <a:solidFill>
                  <a:srgbClr val="FFFFFF"/>
                </a:solidFill>
                <a:latin typeface="Calibri" pitchFamily="34" charset="0"/>
              </a:rPr>
              <a:t>Collectors</a:t>
            </a:r>
          </a:p>
          <a:p>
            <a:pPr marL="0" indent="0" algn="ctr">
              <a:buNone/>
            </a:pPr>
            <a:r>
              <a:rPr lang="en-US" sz="900" dirty="0">
                <a:solidFill>
                  <a:srgbClr val="FDEBD0"/>
                </a:solidFill>
                <a:latin typeface="Calibri" pitchFamily="34" charset="0"/>
              </a:rPr>
              <a:t>1,212 m² | η₀=86.3%</a:t>
            </a:r>
          </a:p>
        </p:txBody>
      </p:sp>
      <p:sp>
        <p:nvSpPr>
          <p:cNvPr id="12" name="N2Bg"/>
          <p:cNvSpPr/>
          <p:nvPr/>
        </p:nvSpPr>
        <p:spPr>
          <a:xfrm>
            <a:off x="3749040" y="804672"/>
            <a:ext cx="1645920" cy="548640"/>
          </a:xfrm>
          <a:prstGeom prst="rect">
            <a:avLst/>
          </a:prstGeom>
          <a:solidFill>
            <a:srgbClr val="1B2A5E"/>
          </a:solidFill>
          <a:ln w="9525">
            <a:solidFill>
              <a:srgbClr val="0F1A3A"/>
            </a:solidFill>
          </a:ln>
        </p:spPr>
      </p:sp>
      <p:sp>
        <p:nvSpPr>
          <p:cNvPr id="13" name="N2Txt"/>
          <p:cNvSpPr/>
          <p:nvPr/>
        </p:nvSpPr>
        <p:spPr>
          <a:xfrm>
            <a:off x="3749040" y="804672"/>
            <a:ext cx="164592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rPr>
              <a:t>💧 Buffer</a:t>
            </a:r>
          </a:p>
          <a:p>
            <a:pPr marL="0" indent="0" algn="ctr">
              <a:buNone/>
            </a:pPr>
            <a:r>
              <a:rPr lang="en-US" sz="1200" b="1" dirty="0">
                <a:solidFill>
                  <a:srgbClr val="FFFFFF"/>
                </a:solidFill>
                <a:latin typeface="Calibri" pitchFamily="34" charset="0"/>
              </a:rPr>
              <a:t>Tank</a:t>
            </a:r>
          </a:p>
          <a:p>
            <a:pPr marL="0" indent="0" algn="ctr">
              <a:buNone/>
            </a:pPr>
            <a:r>
              <a:rPr lang="en-US" sz="900" dirty="0">
                <a:solidFill>
                  <a:srgbClr val="AED6F1"/>
                </a:solidFill>
                <a:latin typeface="Calibri" pitchFamily="34" charset="0"/>
              </a:rPr>
              <a:t>58 m³ | 10-node</a:t>
            </a:r>
          </a:p>
        </p:txBody>
      </p:sp>
      <p:sp>
        <p:nvSpPr>
          <p:cNvPr id="14" name="N3Bg"/>
          <p:cNvSpPr/>
          <p:nvPr/>
        </p:nvSpPr>
        <p:spPr>
          <a:xfrm>
            <a:off x="3749040" y="2010000"/>
            <a:ext cx="1645920" cy="548640"/>
          </a:xfrm>
          <a:prstGeom prst="rect">
            <a:avLst/>
          </a:prstGeom>
          <a:solidFill>
            <a:srgbClr val="00B5C8"/>
          </a:solidFill>
          <a:ln w="9525">
            <a:solidFill>
              <a:srgbClr val="007A8A"/>
            </a:solidFill>
          </a:ln>
        </p:spPr>
      </p:sp>
      <p:sp>
        <p:nvSpPr>
          <p:cNvPr id="15" name="N3Txt"/>
          <p:cNvSpPr/>
          <p:nvPr/>
        </p:nvSpPr>
        <p:spPr>
          <a:xfrm>
            <a:off x="3749040" y="2010000"/>
            <a:ext cx="164592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rPr>
              <a:t>❄ Heat Pump</a:t>
            </a:r>
          </a:p>
          <a:p>
            <a:pPr marL="0" indent="0" algn="ctr">
              <a:buNone/>
            </a:pPr>
            <a:r>
              <a:rPr lang="en-US" sz="900" dirty="0">
                <a:solidFill>
                  <a:srgbClr val="E0F7FA"/>
                </a:solidFill>
                <a:latin typeface="Calibri" pitchFamily="34" charset="0"/>
              </a:rPr>
              <a:t>2 × 312 kW | SCOP 4.5</a:t>
            </a:r>
          </a:p>
        </p:txBody>
      </p:sp>
      <p:sp>
        <p:nvSpPr>
          <p:cNvPr id="16" name="N4Bg"/>
          <p:cNvSpPr/>
          <p:nvPr/>
        </p:nvSpPr>
        <p:spPr>
          <a:xfrm>
            <a:off x="3749040" y="3300000"/>
            <a:ext cx="1645920" cy="548640"/>
          </a:xfrm>
          <a:prstGeom prst="rect">
            <a:avLst/>
          </a:prstGeom>
          <a:solidFill>
            <a:srgbClr val="4A235A"/>
          </a:solidFill>
          <a:ln w="9525">
            <a:solidFill>
              <a:srgbClr val="2C0A3A"/>
            </a:solidFill>
          </a:ln>
        </p:spPr>
      </p:sp>
      <p:sp>
        <p:nvSpPr>
          <p:cNvPr id="17" name="N4Txt"/>
          <p:cNvSpPr/>
          <p:nvPr/>
        </p:nvSpPr>
        <p:spPr>
          <a:xfrm>
            <a:off x="3749040" y="3300000"/>
            <a:ext cx="164592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rPr>
              <a:t>▼ Borehole Field</a:t>
            </a:r>
          </a:p>
          <a:p>
            <a:pPr marL="0" indent="0" algn="ctr">
              <a:buNone/>
            </a:pPr>
            <a:r>
              <a:rPr lang="en-US" sz="900" dirty="0">
                <a:solidFill>
                  <a:srgbClr val="D7BDE2"/>
                </a:solidFill>
                <a:latin typeface="Calibri" pitchFamily="34" charset="0"/>
              </a:rPr>
              <a:t>4 × 100 m | UGT 30°C</a:t>
            </a:r>
          </a:p>
        </p:txBody>
      </p:sp>
      <p:sp>
        <p:nvSpPr>
          <p:cNvPr id="18" name="N5Bg"/>
          <p:cNvSpPr/>
          <p:nvPr/>
        </p:nvSpPr>
        <p:spPr>
          <a:xfrm>
            <a:off x="6676200" y="2010000"/>
            <a:ext cx="1645920" cy="548640"/>
          </a:xfrm>
          <a:prstGeom prst="rect">
            <a:avLst/>
          </a:prstGeom>
          <a:solidFill>
            <a:srgbClr val="1E8449"/>
          </a:solidFill>
          <a:ln w="9525">
            <a:solidFill>
              <a:srgbClr val="0E5A2A"/>
            </a:solidFill>
          </a:ln>
        </p:spPr>
      </p:sp>
      <p:sp>
        <p:nvSpPr>
          <p:cNvPr id="19" name="N5Txt"/>
          <p:cNvSpPr/>
          <p:nvPr/>
        </p:nvSpPr>
        <p:spPr>
          <a:xfrm>
            <a:off x="6676200" y="2010000"/>
            <a:ext cx="164592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rPr>
              <a:t>🏠 Building</a:t>
            </a:r>
          </a:p>
          <a:p>
            <a:pPr marL="0" indent="0" algn="ctr">
              <a:buNone/>
            </a:pPr>
            <a:r>
              <a:rPr lang="en-US" sz="900" dirty="0">
                <a:solidFill>
                  <a:srgbClr val="D5F5E3"/>
                </a:solidFill>
                <a:latin typeface="Calibri" pitchFamily="34" charset="0"/>
              </a:rPr>
              <a:t>300 m² | 24°C setpoint</a:t>
            </a:r>
          </a:p>
        </p:txBody>
      </p:sp>
      <p:sp>
        <p:nvSpPr>
          <p:cNvPr id="20" name="Arr1"/>
          <p:cNvSpPr/>
          <p:nvPr/>
        </p:nvSpPr>
        <p:spPr>
          <a:xfrm>
            <a:off x="2468880" y="1050000"/>
            <a:ext cx="1280160" cy="54864"/>
          </a:xfrm>
          <a:prstGeom prst="rect">
            <a:avLst/>
          </a:prstGeom>
          <a:solidFill>
            <a:srgbClr val="D35400"/>
          </a:solidFill>
          <a:ln w="12700">
            <a:solidFill>
              <a:srgbClr val="D35400"/>
            </a:solidFill>
          </a:ln>
        </p:spPr>
      </p:sp>
      <p:sp>
        <p:nvSpPr>
          <p:cNvPr id="21" name="Ah1"/>
          <p:cNvSpPr/>
          <p:nvPr/>
        </p:nvSpPr>
        <p:spPr>
          <a:xfrm rot="5400000">
            <a:off x="3649040" y="988000"/>
            <a:ext cx="182880" cy="182880"/>
          </a:xfrm>
          <a:prstGeom prst="triangle">
            <a:avLst/>
          </a:prstGeom>
          <a:solidFill>
            <a:srgbClr val="D35400"/>
          </a:solidFill>
          <a:ln w="9525">
            <a:solidFill>
              <a:srgbClr val="D35400"/>
            </a:solidFill>
          </a:ln>
        </p:spPr>
      </p:sp>
      <p:sp>
        <p:nvSpPr>
          <p:cNvPr id="22" name="AL1"/>
          <p:cNvSpPr/>
          <p:nvPr/>
        </p:nvSpPr>
        <p:spPr>
          <a:xfrm>
            <a:off x="2468880" y="960000"/>
            <a:ext cx="1280160" cy="182880"/>
          </a:xfrm>
          <a:prstGeom prst="rect">
            <a:avLst/>
          </a:prstGeom>
          <a:noFill/>
          <a:ln/>
        </p:spPr>
        <p:txBody>
          <a:bodyPr wrap="square" rtlCol="0" anchor="ctr"/>
          <a:lstStyle/>
          <a:p>
            <a:pPr marL="0" indent="0" algn="ctr">
              <a:buNone/>
            </a:pPr>
            <a:r>
              <a:rPr lang="en-US" sz="800" b="1" dirty="0">
                <a:solidFill>
                  <a:srgbClr val="D35400"/>
                </a:solidFill>
                <a:latin typeface="Calibri" pitchFamily="34" charset="0"/>
              </a:rPr>
              <a:t>Hot water loop</a:t>
            </a:r>
          </a:p>
        </p:txBody>
      </p:sp>
      <p:sp>
        <p:nvSpPr>
          <p:cNvPr id="23" name="Arr2"/>
          <p:cNvSpPr/>
          <p:nvPr/>
        </p:nvSpPr>
        <p:spPr>
          <a:xfrm>
            <a:off x="4522000" y="1353312"/>
            <a:ext cx="54864" cy="656688"/>
          </a:xfrm>
          <a:prstGeom prst="rect">
            <a:avLst/>
          </a:prstGeom>
          <a:solidFill>
            <a:srgbClr val="00B5C8"/>
          </a:solidFill>
          <a:ln w="12700">
            <a:solidFill>
              <a:srgbClr val="00B5C8"/>
            </a:solidFill>
          </a:ln>
        </p:spPr>
      </p:sp>
      <p:sp>
        <p:nvSpPr>
          <p:cNvPr id="24" name="Ah2"/>
          <p:cNvSpPr/>
          <p:nvPr/>
        </p:nvSpPr>
        <p:spPr>
          <a:xfrm rot="10800000">
            <a:off x="4431000" y="1920000"/>
            <a:ext cx="182880" cy="182880"/>
          </a:xfrm>
          <a:prstGeom prst="triangle">
            <a:avLst/>
          </a:prstGeom>
          <a:solidFill>
            <a:srgbClr val="00B5C8"/>
          </a:solidFill>
          <a:ln w="9525">
            <a:solidFill>
              <a:srgbClr val="00B5C8"/>
            </a:solidFill>
          </a:ln>
        </p:spPr>
      </p:sp>
      <p:sp>
        <p:nvSpPr>
          <p:cNvPr id="25" name="AL2"/>
          <p:cNvSpPr/>
          <p:nvPr/>
        </p:nvSpPr>
        <p:spPr>
          <a:xfrm>
            <a:off x="4614880" y="1500000"/>
            <a:ext cx="548640" cy="182880"/>
          </a:xfrm>
          <a:prstGeom prst="rect">
            <a:avLst/>
          </a:prstGeom>
          <a:noFill/>
          <a:ln/>
        </p:spPr>
        <p:txBody>
          <a:bodyPr wrap="square" rtlCol="0" anchor="ctr"/>
          <a:lstStyle/>
          <a:p>
            <a:pPr marL="0" indent="0">
              <a:buNone/>
            </a:pPr>
            <a:r>
              <a:rPr lang="en-US" sz="800" b="1" dirty="0">
                <a:solidFill>
                  <a:srgbClr val="00B5C8"/>
                </a:solidFill>
                <a:latin typeface="Calibri" pitchFamily="34" charset="0"/>
              </a:rPr>
              <a:t>Cold side</a:t>
            </a:r>
          </a:p>
        </p:txBody>
      </p:sp>
      <p:sp>
        <p:nvSpPr>
          <p:cNvPr id="26" name="Arr3"/>
          <p:cNvSpPr/>
          <p:nvPr/>
        </p:nvSpPr>
        <p:spPr>
          <a:xfrm>
            <a:off x="4522000" y="2558640"/>
            <a:ext cx="54864" cy="741360"/>
          </a:xfrm>
          <a:prstGeom prst="rect">
            <a:avLst/>
          </a:prstGeom>
          <a:solidFill>
            <a:srgbClr val="4A235A"/>
          </a:solidFill>
          <a:ln w="12700">
            <a:solidFill>
              <a:srgbClr val="4A235A"/>
            </a:solidFill>
          </a:ln>
        </p:spPr>
      </p:sp>
      <p:sp>
        <p:nvSpPr>
          <p:cNvPr id="27" name="Ah3"/>
          <p:cNvSpPr/>
          <p:nvPr/>
        </p:nvSpPr>
        <p:spPr>
          <a:xfrm rot="10800000">
            <a:off x="4431000" y="3205000"/>
            <a:ext cx="182880" cy="182880"/>
          </a:xfrm>
          <a:prstGeom prst="triangle">
            <a:avLst/>
          </a:prstGeom>
          <a:solidFill>
            <a:srgbClr val="4A235A"/>
          </a:solidFill>
          <a:ln w="9525">
            <a:solidFill>
              <a:srgbClr val="4A235A"/>
            </a:solidFill>
          </a:ln>
        </p:spPr>
      </p:sp>
      <p:sp>
        <p:nvSpPr>
          <p:cNvPr id="28" name="AL3"/>
          <p:cNvSpPr/>
          <p:nvPr/>
        </p:nvSpPr>
        <p:spPr>
          <a:xfrm>
            <a:off x="4614880" y="2700000"/>
            <a:ext cx="730000" cy="182880"/>
          </a:xfrm>
          <a:prstGeom prst="rect">
            <a:avLst/>
          </a:prstGeom>
          <a:noFill/>
          <a:ln/>
        </p:spPr>
        <p:txBody>
          <a:bodyPr wrap="square" rtlCol="0" anchor="ctr"/>
          <a:lstStyle/>
          <a:p>
            <a:pPr marL="0" indent="0">
              <a:buNone/>
            </a:pPr>
            <a:r>
              <a:rPr lang="en-US" sz="800" b="1" dirty="0">
                <a:solidFill>
                  <a:srgbClr val="4A235A"/>
                </a:solidFill>
                <a:latin typeface="Calibri" pitchFamily="34" charset="0"/>
              </a:rPr>
              <a:t>Ground loop</a:t>
            </a:r>
          </a:p>
        </p:txBody>
      </p:sp>
      <p:sp>
        <p:nvSpPr>
          <p:cNvPr id="29" name="Arr4"/>
          <p:cNvSpPr/>
          <p:nvPr/>
        </p:nvSpPr>
        <p:spPr>
          <a:xfrm>
            <a:off x="5394960" y="2257000"/>
            <a:ext cx="1281240" cy="54864"/>
          </a:xfrm>
          <a:prstGeom prst="rect">
            <a:avLst/>
          </a:prstGeom>
          <a:solidFill>
            <a:srgbClr val="1E8449"/>
          </a:solidFill>
          <a:ln w="12700">
            <a:solidFill>
              <a:srgbClr val="1E8449"/>
            </a:solidFill>
          </a:ln>
        </p:spPr>
      </p:sp>
      <p:sp>
        <p:nvSpPr>
          <p:cNvPr id="30" name="Ah4"/>
          <p:cNvSpPr/>
          <p:nvPr/>
        </p:nvSpPr>
        <p:spPr>
          <a:xfrm rot="5400000">
            <a:off x="6576200" y="2195000"/>
            <a:ext cx="182880" cy="182880"/>
          </a:xfrm>
          <a:prstGeom prst="triangle">
            <a:avLst/>
          </a:prstGeom>
          <a:solidFill>
            <a:srgbClr val="1E8449"/>
          </a:solidFill>
          <a:ln w="9525">
            <a:solidFill>
              <a:srgbClr val="1E8449"/>
            </a:solidFill>
          </a:ln>
        </p:spPr>
      </p:sp>
      <p:sp>
        <p:nvSpPr>
          <p:cNvPr id="31" name="AL4"/>
          <p:cNvSpPr/>
          <p:nvPr/>
        </p:nvSpPr>
        <p:spPr>
          <a:xfrm>
            <a:off x="5394960" y="2070000"/>
            <a:ext cx="1281240" cy="182880"/>
          </a:xfrm>
          <a:prstGeom prst="rect">
            <a:avLst/>
          </a:prstGeom>
          <a:noFill/>
          <a:ln/>
        </p:spPr>
        <p:txBody>
          <a:bodyPr wrap="square" rtlCol="0" anchor="ctr"/>
          <a:lstStyle/>
          <a:p>
            <a:pPr marL="0" indent="0" algn="ctr">
              <a:buNone/>
            </a:pPr>
            <a:r>
              <a:rPr lang="en-US" sz="800" b="1" dirty="0">
                <a:solidFill>
                  <a:srgbClr val="1E8449"/>
                </a:solidFill>
                <a:latin typeface="Calibri" pitchFamily="34" charset="0"/>
              </a:rPr>
              <a:t>Chilled water</a:t>
            </a:r>
          </a:p>
        </p:txBody>
      </p:sp>
      <p:sp>
        <p:nvSpPr>
          <p:cNvPr id="32" name="Arr5"/>
          <p:cNvSpPr/>
          <p:nvPr/>
        </p:nvSpPr>
        <p:spPr>
          <a:xfrm>
            <a:off x="3100000" y="2257000"/>
            <a:ext cx="649040" cy="54864"/>
          </a:xfrm>
          <a:prstGeom prst="rect">
            <a:avLst/>
          </a:prstGeom>
          <a:solidFill>
            <a:srgbClr val="AED6F1"/>
          </a:solidFill>
          <a:ln w="12700">
            <a:solidFill>
              <a:srgbClr val="AED6F1"/>
            </a:solidFill>
          </a:ln>
        </p:spPr>
      </p:sp>
      <p:sp>
        <p:nvSpPr>
          <p:cNvPr id="33" name="Arr5b"/>
          <p:cNvSpPr/>
          <p:nvPr/>
        </p:nvSpPr>
        <p:spPr>
          <a:xfrm>
            <a:off x="3100000" y="2257000"/>
            <a:ext cx="54864" cy="1116864"/>
          </a:xfrm>
          <a:prstGeom prst="rect">
            <a:avLst/>
          </a:prstGeom>
          <a:solidFill>
            <a:srgbClr val="AED6F1"/>
          </a:solidFill>
          <a:ln w="12700">
            <a:solidFill>
              <a:srgbClr val="AED6F1"/>
            </a:solidFill>
          </a:ln>
        </p:spPr>
      </p:sp>
      <p:sp>
        <p:nvSpPr>
          <p:cNvPr id="34" name="Arr5c"/>
          <p:cNvSpPr/>
          <p:nvPr/>
        </p:nvSpPr>
        <p:spPr>
          <a:xfrm>
            <a:off x="3100000" y="3373864"/>
            <a:ext cx="649040" cy="54864"/>
          </a:xfrm>
          <a:prstGeom prst="rect">
            <a:avLst/>
          </a:prstGeom>
          <a:solidFill>
            <a:srgbClr val="AED6F1"/>
          </a:solidFill>
          <a:ln w="12700">
            <a:solidFill>
              <a:srgbClr val="AED6F1"/>
            </a:solidFill>
          </a:ln>
        </p:spPr>
      </p:sp>
      <p:sp>
        <p:nvSpPr>
          <p:cNvPr id="35" name="AL5"/>
          <p:cNvSpPr/>
          <p:nvPr/>
        </p:nvSpPr>
        <p:spPr>
          <a:xfrm>
            <a:off x="2400000" y="2800000"/>
            <a:ext cx="730000" cy="200000"/>
          </a:xfrm>
          <a:prstGeom prst="rect">
            <a:avLst/>
          </a:prstGeom>
          <a:noFill/>
          <a:ln/>
        </p:spPr>
        <p:txBody>
          <a:bodyPr wrap="square" rtlCol="0" anchor="ctr"/>
          <a:lstStyle/>
          <a:p>
            <a:pPr marL="0" indent="0" algn="ctr">
              <a:buNone/>
            </a:pPr>
            <a:r>
              <a:rPr lang="en-US" sz="800" b="1" dirty="0">
                <a:solidFill>
                  <a:srgbClr val="1B2A5E"/>
                </a:solidFill>
                <a:latin typeface="Calibri" pitchFamily="34" charset="0"/>
              </a:rPr>
              <a:t>Return loop</a:t>
            </a:r>
          </a:p>
        </p:txBody>
      </p:sp>
      <p:sp>
        <p:nvSpPr>
          <p:cNvPr id="36" name="RegenBox"/>
          <p:cNvSpPr/>
          <p:nvPr/>
        </p:nvSpPr>
        <p:spPr>
          <a:xfrm>
            <a:off x="2250000" y="1353312"/>
            <a:ext cx="1280160" cy="329184"/>
          </a:xfrm>
          <a:prstGeom prst="roundRect">
            <a:avLst>
              <a:gd name="adj" fmla="val 10000"/>
            </a:avLst>
          </a:prstGeom>
          <a:solidFill>
            <a:srgbClr val="FEF9E7"/>
          </a:solidFill>
          <a:ln w="9525">
            <a:solidFill>
              <a:srgbClr val="D35400"/>
            </a:solidFill>
            <a:prstDash val="dash"/>
          </a:ln>
        </p:spPr>
      </p:sp>
      <p:sp>
        <p:nvSpPr>
          <p:cNvPr id="37" name="RegenTxt"/>
          <p:cNvSpPr/>
          <p:nvPr/>
        </p:nvSpPr>
        <p:spPr>
          <a:xfrm>
            <a:off x="2250000" y="1353312"/>
            <a:ext cx="1280160" cy="329184"/>
          </a:xfrm>
          <a:prstGeom prst="rect">
            <a:avLst/>
          </a:prstGeom>
          <a:noFill/>
          <a:ln/>
        </p:spPr>
        <p:txBody>
          <a:bodyPr wrap="square" rtlCol="0" anchor="ctr"/>
          <a:lstStyle/>
          <a:p>
            <a:pPr marL="0" indent="0" algn="ctr">
              <a:buNone/>
            </a:pPr>
            <a:r>
              <a:rPr lang="en-US" sz="900" b="1" dirty="0">
                <a:solidFill>
                  <a:srgbClr val="D35400"/>
                </a:solidFill>
                <a:latin typeface="Calibri" pitchFamily="34" charset="0"/>
              </a:rPr>
              <a:t>↻ Solar Regen</a:t>
            </a:r>
          </a:p>
          <a:p>
            <a:pPr marL="0" indent="0" algn="ctr">
              <a:buNone/>
            </a:pPr>
            <a:r>
              <a:rPr lang="en-US" sz="800" dirty="0">
                <a:solidFill>
                  <a:srgbClr val="555555"/>
                </a:solidFill>
                <a:latin typeface="Calibri" pitchFamily="34" charset="0"/>
              </a:rPr>
              <a:t>Active Nov–Feb</a:t>
            </a:r>
          </a:p>
        </p:txBody>
      </p:sp>
      <p:sp>
        <p:nvSpPr>
          <p:cNvPr id="50" name="LegBg"/>
          <p:cNvSpPr/>
          <p:nvPr/>
        </p:nvSpPr>
        <p:spPr>
          <a:xfrm>
            <a:off x="822960" y="3060000"/>
            <a:ext cx="1645920" cy="840000"/>
          </a:xfrm>
          <a:prstGeom prst="rect">
            <a:avLst/>
          </a:prstGeom>
          <a:solidFill>
            <a:srgbClr val="F8F9FA"/>
          </a:solidFill>
          <a:ln w="9525">
            <a:solidFill>
              <a:srgbClr val="D5D8DC"/>
            </a:solidFill>
          </a:ln>
        </p:spPr>
      </p:sp>
      <p:sp>
        <p:nvSpPr>
          <p:cNvPr id="51" name="LegTxt"/>
          <p:cNvSpPr/>
          <p:nvPr/>
        </p:nvSpPr>
        <p:spPr>
          <a:xfrm>
            <a:off x="860000" y="3080000"/>
            <a:ext cx="1570000" cy="800000"/>
          </a:xfrm>
          <a:prstGeom prst="rect">
            <a:avLst/>
          </a:prstGeom>
          <a:noFill/>
          <a:ln/>
        </p:spPr>
        <p:txBody>
          <a:bodyPr wrap="square" rtlCol="0" anchor="t"/>
          <a:lstStyle/>
          <a:p>
            <a:pPr marL="0" indent="0">
              <a:buNone/>
            </a:pPr>
            <a:r>
              <a:rPr lang="en-US" sz="900" b="1" dirty="0">
                <a:solidFill>
                  <a:srgbClr val="1B2A5E"/>
                </a:solidFill>
                <a:latin typeface="Calibri" pitchFamily="34" charset="0"/>
              </a:rPr>
              <a:t>LEGEND</a:t>
            </a:r>
          </a:p>
          <a:p>
            <a:pPr marL="0" indent="0">
              <a:buNone/>
            </a:pPr>
            <a:r>
              <a:rPr lang="en-US" sz="800" dirty="0">
                <a:solidFill>
                  <a:srgbClr val="D35400"/>
                </a:solidFill>
                <a:latin typeface="Calibri" pitchFamily="34" charset="0"/>
              </a:rPr>
              <a:t>—— Hot water / solar loop</a:t>
            </a:r>
          </a:p>
          <a:p>
            <a:pPr marL="0" indent="0">
              <a:buNone/>
            </a:pPr>
            <a:r>
              <a:rPr lang="en-US" sz="800" dirty="0">
                <a:solidFill>
                  <a:srgbClr val="00B5C8"/>
                </a:solidFill>
                <a:latin typeface="Calibri" pitchFamily="34" charset="0"/>
              </a:rPr>
              <a:t>—— Cold side circuit</a:t>
            </a:r>
          </a:p>
          <a:p>
            <a:pPr marL="0" indent="0">
              <a:buNone/>
            </a:pPr>
            <a:r>
              <a:rPr lang="en-US" sz="800" dirty="0">
                <a:solidFill>
                  <a:srgbClr val="4A235A"/>
                </a:solidFill>
                <a:latin typeface="Calibri" pitchFamily="34" charset="0"/>
              </a:rPr>
              <a:t>—— Ground loop</a:t>
            </a:r>
          </a:p>
          <a:p>
            <a:pPr marL="0" indent="0">
              <a:buNone/>
            </a:pPr>
            <a:r>
              <a:rPr lang="en-US" sz="800" dirty="0">
                <a:solidFill>
                  <a:srgbClr val="1E8449"/>
                </a:solidFill>
                <a:latin typeface="Calibri" pitchFamily="34" charset="0"/>
              </a:rPr>
              <a:t>—— Chilled water supply</a:t>
            </a:r>
          </a:p>
        </p:txBody>
      </p:sp>
      <p:sp>
        <p:nvSpPr>
          <p:cNvPr id="60" name="NoteBg"/>
          <p:cNvSpPr/>
          <p:nvPr/>
        </p:nvSpPr>
        <p:spPr>
          <a:xfrm>
            <a:off x="777240" y="4100000"/>
            <a:ext cx="7315200" cy="182880"/>
          </a:xfrm>
          <a:prstGeom prst="rect">
            <a:avLst/>
          </a:prstGeom>
          <a:solidFill>
            <a:srgbClr val="00B5C8"/>
          </a:solidFill>
          <a:ln w="12700">
            <a:solidFill>
              <a:srgbClr val="00B5C8"/>
            </a:solidFill>
          </a:ln>
        </p:spPr>
      </p:sp>
      <p:sp>
        <p:nvSpPr>
          <p:cNvPr id="61" name="NoteTxt"/>
          <p:cNvSpPr/>
          <p:nvPr/>
        </p:nvSpPr>
        <p:spPr>
          <a:xfrm>
            <a:off x="822960" y="4100000"/>
            <a:ext cx="7269480" cy="182880"/>
          </a:xfrm>
          <a:prstGeom prst="rect">
            <a:avLst/>
          </a:prstGeom>
          <a:noFill/>
          <a:ln/>
        </p:spPr>
        <p:txBody>
          <a:bodyPr wrap="square" rtlCol="0" anchor="ctr"/>
          <a:lstStyle/>
          <a:p>
            <a:pPr marL="0" indent="0">
              <a:buNone/>
            </a:pPr>
            <a:r>
              <a:rPr lang="en-US" sz="900" b="1" dirty="0">
                <a:solidFill>
                  <a:srgbClr val="FFFFFF"/>
                </a:solidFill>
                <a:latin typeface="Calibri" pitchFamily="34" charset="0"/>
              </a:rPr>
              <a:t>Closed-loop design: eliminates cooling-related water consumption. Solar regeneration prevents ground thermal drift (&lt;+0.8°C over 20 yrs).</a:t>
            </a:r>
          </a:p>
        </p:txBody>
      </p:sp>
      <p:sp>
        <p:nvSpPr>
          <p:cNvPr id="62" name="SN"/>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 y="-45720"/>
            <a:ext cx="3474720" cy="658368"/>
          </a:xfrm>
          <a:prstGeom prst="rect">
            <a:avLst/>
          </a:prstGeom>
        </p:spPr>
      </p:pic>
      <p:pic>
        <p:nvPicPr>
          <p:cNvPr id="3" name="Image 1" descr="preencoded.png"/>
          <p:cNvPicPr>
            <a:picLocks noChangeAspect="1"/>
          </p:cNvPicPr>
          <p:nvPr/>
        </p:nvPicPr>
        <p:blipFill>
          <a:blip r:embed="rId4"/>
          <a:stretch>
            <a:fillRect/>
          </a:stretch>
        </p:blipFill>
        <p:spPr>
          <a:xfrm>
            <a:off x="-685800" y="274320"/>
            <a:ext cx="1828800" cy="3200400"/>
          </a:xfrm>
          <a:prstGeom prst="rect">
            <a:avLst/>
          </a:prstGeom>
        </p:spPr>
      </p:pic>
      <p:pic>
        <p:nvPicPr>
          <p:cNvPr id="4" name="Image 2" descr="preencoded.png"/>
          <p:cNvPicPr>
            <a:picLocks noChangeAspect="1"/>
          </p:cNvPicPr>
          <p:nvPr/>
        </p:nvPicPr>
        <p:blipFill>
          <a:blip r:embed="rId5"/>
          <a:stretch>
            <a:fillRect/>
          </a:stretch>
        </p:blipFill>
        <p:spPr>
          <a:xfrm>
            <a:off x="7132320" y="54864"/>
            <a:ext cx="1874520" cy="347472"/>
          </a:xfrm>
          <a:prstGeom prst="rect">
            <a:avLst/>
          </a:prstGeom>
        </p:spPr>
      </p:pic>
      <p:sp>
        <p:nvSpPr>
          <p:cNvPr id="5" name="Shape 0"/>
          <p:cNvSpPr/>
          <p:nvPr/>
        </p:nvSpPr>
        <p:spPr>
          <a:xfrm>
            <a:off x="777240" y="73152"/>
            <a:ext cx="6217920" cy="566928"/>
          </a:xfrm>
          <a:prstGeom prst="rect">
            <a:avLst/>
          </a:prstGeom>
          <a:solidFill>
            <a:srgbClr val="1B2A5E"/>
          </a:solidFill>
          <a:ln w="12700">
            <a:solidFill>
              <a:srgbClr val="1B2A5E"/>
            </a:solidFill>
            <a:prstDash val="solid"/>
          </a:ln>
        </p:spPr>
      </p:sp>
      <p:sp>
        <p:nvSpPr>
          <p:cNvPr id="6" name="Text 1"/>
          <p:cNvSpPr/>
          <p:nvPr/>
        </p:nvSpPr>
        <p:spPr>
          <a:xfrm>
            <a:off x="804672" y="73152"/>
            <a:ext cx="617220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Technical Performance Results</a:t>
            </a:r>
            <a:endParaRPr lang="en-US" sz="2200" dirty="0"/>
          </a:p>
        </p:txBody>
      </p:sp>
      <p:sp>
        <p:nvSpPr>
          <p:cNvPr id="7" name="Shape 2"/>
          <p:cNvSpPr/>
          <p:nvPr/>
        </p:nvSpPr>
        <p:spPr>
          <a:xfrm>
            <a:off x="777240" y="640080"/>
            <a:ext cx="8229600" cy="91440"/>
          </a:xfrm>
          <a:prstGeom prst="rect">
            <a:avLst/>
          </a:prstGeom>
          <a:solidFill>
            <a:srgbClr val="D35400"/>
          </a:solidFill>
          <a:ln w="12700">
            <a:solidFill>
              <a:srgbClr val="D35400"/>
            </a:solidFill>
            <a:prstDash val="solid"/>
          </a:ln>
        </p:spPr>
      </p:sp>
      <p:sp>
        <p:nvSpPr>
          <p:cNvPr id="8" name="Shape 3"/>
          <p:cNvSpPr/>
          <p:nvPr/>
        </p:nvSpPr>
        <p:spPr>
          <a:xfrm>
            <a:off x="868680" y="822960"/>
            <a:ext cx="1920240" cy="1325880"/>
          </a:xfrm>
          <a:prstGeom prst="rect">
            <a:avLst/>
          </a:prstGeom>
          <a:solidFill>
            <a:srgbClr val="D6EAF8"/>
          </a:solidFill>
          <a:ln w="12700">
            <a:solidFill>
              <a:srgbClr val="A8C6E0"/>
            </a:solidFill>
            <a:prstDash val="solid"/>
          </a:ln>
        </p:spPr>
      </p:sp>
      <p:sp>
        <p:nvSpPr>
          <p:cNvPr id="9" name="Shape 4"/>
          <p:cNvSpPr/>
          <p:nvPr/>
        </p:nvSpPr>
        <p:spPr>
          <a:xfrm>
            <a:off x="868680" y="822960"/>
            <a:ext cx="1920240" cy="91440"/>
          </a:xfrm>
          <a:prstGeom prst="rect">
            <a:avLst/>
          </a:prstGeom>
          <a:solidFill>
            <a:srgbClr val="00B5C8"/>
          </a:solidFill>
          <a:ln w="12700">
            <a:solidFill>
              <a:srgbClr val="00B5C8"/>
            </a:solidFill>
            <a:prstDash val="solid"/>
          </a:ln>
        </p:spPr>
      </p:sp>
      <p:sp>
        <p:nvSpPr>
          <p:cNvPr id="10" name="Text 5"/>
          <p:cNvSpPr/>
          <p:nvPr/>
        </p:nvSpPr>
        <p:spPr>
          <a:xfrm>
            <a:off x="868680" y="914400"/>
            <a:ext cx="1920240"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4.5</a:t>
            </a:r>
            <a:endParaRPr lang="en-US" sz="3000" dirty="0"/>
          </a:p>
        </p:txBody>
      </p:sp>
      <p:sp>
        <p:nvSpPr>
          <p:cNvPr id="11" name="Text 6"/>
          <p:cNvSpPr/>
          <p:nvPr/>
        </p:nvSpPr>
        <p:spPr>
          <a:xfrm>
            <a:off x="868680" y="1536192"/>
            <a:ext cx="1920240" cy="274320"/>
          </a:xfrm>
          <a:prstGeom prst="rect">
            <a:avLst/>
          </a:prstGeom>
          <a:noFill/>
          <a:ln/>
        </p:spPr>
        <p:txBody>
          <a:bodyPr wrap="square"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SA-GSHP SCOP</a:t>
            </a:r>
            <a:endParaRPr lang="en-US" sz="1100" dirty="0"/>
          </a:p>
        </p:txBody>
      </p:sp>
      <p:sp>
        <p:nvSpPr>
          <p:cNvPr id="12" name="Text 7"/>
          <p:cNvSpPr/>
          <p:nvPr/>
        </p:nvSpPr>
        <p:spPr>
          <a:xfrm>
            <a:off x="868680" y="1801368"/>
            <a:ext cx="1920240" cy="27432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vs 2.5 ASHP (80% advantage)</a:t>
            </a:r>
            <a:endParaRPr lang="en-US" sz="950" dirty="0"/>
          </a:p>
        </p:txBody>
      </p:sp>
      <p:sp>
        <p:nvSpPr>
          <p:cNvPr id="13" name="Shape 8"/>
          <p:cNvSpPr/>
          <p:nvPr/>
        </p:nvSpPr>
        <p:spPr>
          <a:xfrm>
            <a:off x="2926080" y="822960"/>
            <a:ext cx="1920240" cy="1325880"/>
          </a:xfrm>
          <a:prstGeom prst="rect">
            <a:avLst/>
          </a:prstGeom>
          <a:solidFill>
            <a:srgbClr val="D6EAF8"/>
          </a:solidFill>
          <a:ln w="12700">
            <a:solidFill>
              <a:srgbClr val="A8C6E0"/>
            </a:solidFill>
            <a:prstDash val="solid"/>
          </a:ln>
        </p:spPr>
      </p:sp>
      <p:sp>
        <p:nvSpPr>
          <p:cNvPr id="14" name="Shape 9"/>
          <p:cNvSpPr/>
          <p:nvPr/>
        </p:nvSpPr>
        <p:spPr>
          <a:xfrm>
            <a:off x="2926080" y="822960"/>
            <a:ext cx="1920240" cy="91440"/>
          </a:xfrm>
          <a:prstGeom prst="rect">
            <a:avLst/>
          </a:prstGeom>
          <a:solidFill>
            <a:srgbClr val="00B5C8"/>
          </a:solidFill>
          <a:ln w="12700">
            <a:solidFill>
              <a:srgbClr val="00B5C8"/>
            </a:solidFill>
            <a:prstDash val="solid"/>
          </a:ln>
        </p:spPr>
      </p:sp>
      <p:sp>
        <p:nvSpPr>
          <p:cNvPr id="15" name="Text 10"/>
          <p:cNvSpPr/>
          <p:nvPr/>
        </p:nvSpPr>
        <p:spPr>
          <a:xfrm>
            <a:off x="2926080" y="914400"/>
            <a:ext cx="1920240"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44.4%</a:t>
            </a:r>
            <a:endParaRPr lang="en-US" sz="3000" dirty="0"/>
          </a:p>
        </p:txBody>
      </p:sp>
      <p:sp>
        <p:nvSpPr>
          <p:cNvPr id="16" name="Text 11"/>
          <p:cNvSpPr/>
          <p:nvPr/>
        </p:nvSpPr>
        <p:spPr>
          <a:xfrm>
            <a:off x="2926080" y="1536192"/>
            <a:ext cx="1920240" cy="274320"/>
          </a:xfrm>
          <a:prstGeom prst="rect">
            <a:avLst/>
          </a:prstGeom>
          <a:noFill/>
          <a:ln/>
        </p:spPr>
        <p:txBody>
          <a:bodyPr wrap="square"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Annual Energy Saved</a:t>
            </a:r>
            <a:endParaRPr lang="en-US" sz="1100" dirty="0"/>
          </a:p>
        </p:txBody>
      </p:sp>
      <p:sp>
        <p:nvSpPr>
          <p:cNvPr id="17" name="Text 12"/>
          <p:cNvSpPr/>
          <p:nvPr/>
        </p:nvSpPr>
        <p:spPr>
          <a:xfrm>
            <a:off x="2926080" y="1801368"/>
            <a:ext cx="1920240" cy="27432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12,444 kWh · 373 BHD/yr</a:t>
            </a:r>
            <a:endParaRPr lang="en-US" sz="950" dirty="0"/>
          </a:p>
        </p:txBody>
      </p:sp>
      <p:sp>
        <p:nvSpPr>
          <p:cNvPr id="18" name="Shape 13"/>
          <p:cNvSpPr/>
          <p:nvPr/>
        </p:nvSpPr>
        <p:spPr>
          <a:xfrm>
            <a:off x="868680" y="2331720"/>
            <a:ext cx="1920240" cy="1325880"/>
          </a:xfrm>
          <a:prstGeom prst="rect">
            <a:avLst/>
          </a:prstGeom>
          <a:solidFill>
            <a:srgbClr val="D6EAF8"/>
          </a:solidFill>
          <a:ln w="12700">
            <a:solidFill>
              <a:srgbClr val="A8C6E0"/>
            </a:solidFill>
            <a:prstDash val="solid"/>
          </a:ln>
        </p:spPr>
      </p:sp>
      <p:sp>
        <p:nvSpPr>
          <p:cNvPr id="19" name="Shape 14"/>
          <p:cNvSpPr/>
          <p:nvPr/>
        </p:nvSpPr>
        <p:spPr>
          <a:xfrm>
            <a:off x="868680" y="2331720"/>
            <a:ext cx="1920240" cy="91440"/>
          </a:xfrm>
          <a:prstGeom prst="rect">
            <a:avLst/>
          </a:prstGeom>
          <a:solidFill>
            <a:srgbClr val="00B5C8"/>
          </a:solidFill>
          <a:ln w="12700">
            <a:solidFill>
              <a:srgbClr val="00B5C8"/>
            </a:solidFill>
            <a:prstDash val="solid"/>
          </a:ln>
        </p:spPr>
      </p:sp>
      <p:sp>
        <p:nvSpPr>
          <p:cNvPr id="20" name="Text 15"/>
          <p:cNvSpPr/>
          <p:nvPr/>
        </p:nvSpPr>
        <p:spPr>
          <a:xfrm>
            <a:off x="868680" y="2423160"/>
            <a:ext cx="1920240"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+0.8°C</a:t>
            </a:r>
            <a:endParaRPr lang="en-US" sz="3000" dirty="0"/>
          </a:p>
        </p:txBody>
      </p:sp>
      <p:sp>
        <p:nvSpPr>
          <p:cNvPr id="21" name="Text 16"/>
          <p:cNvSpPr/>
          <p:nvPr/>
        </p:nvSpPr>
        <p:spPr>
          <a:xfrm>
            <a:off x="868680" y="3044952"/>
            <a:ext cx="1920240" cy="274320"/>
          </a:xfrm>
          <a:prstGeom prst="rect">
            <a:avLst/>
          </a:prstGeom>
          <a:noFill/>
          <a:ln/>
        </p:spPr>
        <p:txBody>
          <a:bodyPr wrap="square"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Ground Temp Drift</a:t>
            </a:r>
            <a:endParaRPr lang="en-US" sz="1100" dirty="0"/>
          </a:p>
        </p:txBody>
      </p:sp>
      <p:sp>
        <p:nvSpPr>
          <p:cNvPr id="22" name="Text 17"/>
          <p:cNvSpPr/>
          <p:nvPr/>
        </p:nvSpPr>
        <p:spPr>
          <a:xfrm>
            <a:off x="868680" y="3310128"/>
            <a:ext cx="1920240" cy="27432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vs +4.2°C unmanaged ✔ ≤1°C</a:t>
            </a:r>
            <a:endParaRPr lang="en-US" sz="950" dirty="0"/>
          </a:p>
        </p:txBody>
      </p:sp>
      <p:sp>
        <p:nvSpPr>
          <p:cNvPr id="23" name="Shape 18"/>
          <p:cNvSpPr/>
          <p:nvPr/>
        </p:nvSpPr>
        <p:spPr>
          <a:xfrm>
            <a:off x="2926080" y="2331720"/>
            <a:ext cx="1920240" cy="1325880"/>
          </a:xfrm>
          <a:prstGeom prst="rect">
            <a:avLst/>
          </a:prstGeom>
          <a:solidFill>
            <a:srgbClr val="D6EAF8"/>
          </a:solidFill>
          <a:ln w="12700">
            <a:solidFill>
              <a:srgbClr val="A8C6E0"/>
            </a:solidFill>
            <a:prstDash val="solid"/>
          </a:ln>
        </p:spPr>
      </p:sp>
      <p:sp>
        <p:nvSpPr>
          <p:cNvPr id="24" name="Shape 19"/>
          <p:cNvSpPr/>
          <p:nvPr/>
        </p:nvSpPr>
        <p:spPr>
          <a:xfrm>
            <a:off x="2926080" y="2331720"/>
            <a:ext cx="1920240" cy="91440"/>
          </a:xfrm>
          <a:prstGeom prst="rect">
            <a:avLst/>
          </a:prstGeom>
          <a:solidFill>
            <a:srgbClr val="00B5C8"/>
          </a:solidFill>
          <a:ln w="12700">
            <a:solidFill>
              <a:srgbClr val="00B5C8"/>
            </a:solidFill>
            <a:prstDash val="solid"/>
          </a:ln>
        </p:spPr>
      </p:sp>
      <p:sp>
        <p:nvSpPr>
          <p:cNvPr id="25" name="Text 20"/>
          <p:cNvSpPr/>
          <p:nvPr/>
        </p:nvSpPr>
        <p:spPr>
          <a:xfrm>
            <a:off x="2926080" y="2423160"/>
            <a:ext cx="1920240"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~7 kW</a:t>
            </a:r>
            <a:endParaRPr lang="en-US" sz="3000" dirty="0"/>
          </a:p>
        </p:txBody>
      </p:sp>
      <p:sp>
        <p:nvSpPr>
          <p:cNvPr id="26" name="Text 21"/>
          <p:cNvSpPr/>
          <p:nvPr/>
        </p:nvSpPr>
        <p:spPr>
          <a:xfrm>
            <a:off x="2926080" y="3044952"/>
            <a:ext cx="1920240" cy="274320"/>
          </a:xfrm>
          <a:prstGeom prst="rect">
            <a:avLst/>
          </a:prstGeom>
          <a:noFill/>
          <a:ln/>
        </p:spPr>
        <p:txBody>
          <a:bodyPr wrap="square"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Peak Demand Cut</a:t>
            </a:r>
            <a:endParaRPr lang="en-US" sz="1100" dirty="0"/>
          </a:p>
        </p:txBody>
      </p:sp>
      <p:sp>
        <p:nvSpPr>
          <p:cNvPr id="27" name="Text 22"/>
          <p:cNvSpPr/>
          <p:nvPr/>
        </p:nvSpPr>
        <p:spPr>
          <a:xfrm>
            <a:off x="2926080" y="3310128"/>
            <a:ext cx="1920240" cy="27432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28% reduction vs ASHP</a:t>
            </a:r>
            <a:endParaRPr lang="en-US" sz="950" dirty="0"/>
          </a:p>
        </p:txBody>
      </p:sp>
      <p:sp>
        <p:nvSpPr>
          <p:cNvPr id="28" name="Text 23"/>
          <p:cNvSpPr/>
          <p:nvPr/>
        </p:nvSpPr>
        <p:spPr>
          <a:xfrm>
            <a:off x="868680" y="3913632"/>
            <a:ext cx="3977640" cy="256032"/>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Annual Performance Comparison</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68680" y="4187952"/>
          <a:ext cx="3977640" cy="841248"/>
        </p:xfrm>
        <a:graphic>
          <a:graphicData uri="http://schemas.openxmlformats.org/drawingml/2006/table">
            <a:tbl>
              <a:tblPr/>
              <a:tblGrid>
                <a:gridCol w="13258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21031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1B2A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ASHP</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1B2A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SA-GSHP</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007B8A"/>
                    </a:solidFill>
                  </a:tcPr>
                </a:tc>
                <a:extLst>
                  <a:ext uri="{0D108BD9-81ED-4DB2-BD59-A6C34878D82A}">
                    <a16:rowId xmlns:a16="http://schemas.microsoft.com/office/drawing/2014/main" val="10000"/>
                  </a:ext>
                </a:extLst>
              </a:tr>
              <a:tr h="21031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SCOP</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Annual electricity (kWh)</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28,000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15,556</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2"/>
                  </a:ext>
                </a:extLst>
              </a:tr>
              <a:tr h="21031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System lifespan (yrs)</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10–15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25–30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0" name="Image 3" descr="preencoded.png"/>
          <p:cNvPicPr>
            <a:picLocks noChangeAspect="1"/>
          </p:cNvPicPr>
          <p:nvPr/>
        </p:nvPicPr>
        <p:blipFill>
          <a:blip r:embed="rId6"/>
          <a:stretch>
            <a:fillRect/>
          </a:stretch>
        </p:blipFill>
        <p:spPr>
          <a:xfrm>
            <a:off x="4937760" y="804672"/>
            <a:ext cx="4023360" cy="2816352"/>
          </a:xfrm>
          <a:prstGeom prst="rect">
            <a:avLst/>
          </a:prstGeom>
        </p:spPr>
      </p:pic>
      <p:sp>
        <p:nvSpPr>
          <p:cNvPr id="31" name="Shape 24"/>
          <p:cNvSpPr/>
          <p:nvPr/>
        </p:nvSpPr>
        <p:spPr>
          <a:xfrm>
            <a:off x="4937760" y="3639312"/>
            <a:ext cx="4023360" cy="566928"/>
          </a:xfrm>
          <a:prstGeom prst="rect">
            <a:avLst/>
          </a:prstGeom>
          <a:solidFill>
            <a:srgbClr val="D6EAF8"/>
          </a:solidFill>
          <a:ln w="6350">
            <a:solidFill>
              <a:srgbClr val="A8C6E0"/>
            </a:solidFill>
            <a:prstDash val="solid"/>
          </a:ln>
        </p:spPr>
      </p:sp>
      <p:sp>
        <p:nvSpPr>
          <p:cNvPr id="32" name="Text 25"/>
          <p:cNvSpPr/>
          <p:nvPr/>
        </p:nvSpPr>
        <p:spPr>
          <a:xfrm>
            <a:off x="4983480" y="3648456"/>
            <a:ext cx="3931920" cy="548640"/>
          </a:xfrm>
          <a:prstGeom prst="rect">
            <a:avLst/>
          </a:prstGeom>
          <a:noFill/>
          <a:ln/>
        </p:spPr>
        <p:txBody>
          <a:bodyPr wrap="square"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Fig. 1 – 20-year ground temperature simulation: Unmanaged GSHP rises to 34.2°C vs SA-GSHP limited to 30.8°C with solar thermal regeneration active (Nov–Feb)</a:t>
            </a:r>
            <a:endParaRPr lang="en-US" sz="950" dirty="0"/>
          </a:p>
        </p:txBody>
      </p:sp>
      <p:sp>
        <p:nvSpPr>
          <p:cNvPr id="33" name="Text 26"/>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 y="-45720"/>
            <a:ext cx="3474720" cy="658368"/>
          </a:xfrm>
          <a:prstGeom prst="rect">
            <a:avLst/>
          </a:prstGeom>
        </p:spPr>
      </p:pic>
      <p:pic>
        <p:nvPicPr>
          <p:cNvPr id="3" name="Image 1" descr="preencoded.png"/>
          <p:cNvPicPr>
            <a:picLocks noChangeAspect="1"/>
          </p:cNvPicPr>
          <p:nvPr/>
        </p:nvPicPr>
        <p:blipFill>
          <a:blip r:embed="rId4"/>
          <a:stretch>
            <a:fillRect/>
          </a:stretch>
        </p:blipFill>
        <p:spPr>
          <a:xfrm>
            <a:off x="-685800" y="274320"/>
            <a:ext cx="1828800" cy="3200400"/>
          </a:xfrm>
          <a:prstGeom prst="rect">
            <a:avLst/>
          </a:prstGeom>
        </p:spPr>
      </p:pic>
      <p:pic>
        <p:nvPicPr>
          <p:cNvPr id="4" name="Image 2" descr="preencoded.png"/>
          <p:cNvPicPr>
            <a:picLocks noChangeAspect="1"/>
          </p:cNvPicPr>
          <p:nvPr/>
        </p:nvPicPr>
        <p:blipFill>
          <a:blip r:embed="rId5"/>
          <a:stretch>
            <a:fillRect/>
          </a:stretch>
        </p:blipFill>
        <p:spPr>
          <a:xfrm>
            <a:off x="7132320" y="54864"/>
            <a:ext cx="1874520" cy="347472"/>
          </a:xfrm>
          <a:prstGeom prst="rect">
            <a:avLst/>
          </a:prstGeom>
        </p:spPr>
      </p:pic>
      <p:sp>
        <p:nvSpPr>
          <p:cNvPr id="5" name="Shape 0"/>
          <p:cNvSpPr/>
          <p:nvPr/>
        </p:nvSpPr>
        <p:spPr>
          <a:xfrm>
            <a:off x="777240" y="73152"/>
            <a:ext cx="6217920" cy="566928"/>
          </a:xfrm>
          <a:prstGeom prst="rect">
            <a:avLst/>
          </a:prstGeom>
          <a:solidFill>
            <a:srgbClr val="1B2A5E"/>
          </a:solidFill>
          <a:ln w="12700">
            <a:solidFill>
              <a:srgbClr val="1B2A5E"/>
            </a:solidFill>
            <a:prstDash val="solid"/>
          </a:ln>
        </p:spPr>
      </p:sp>
      <p:sp>
        <p:nvSpPr>
          <p:cNvPr id="6" name="Text 1"/>
          <p:cNvSpPr/>
          <p:nvPr/>
        </p:nvSpPr>
        <p:spPr>
          <a:xfrm>
            <a:off x="804672" y="73152"/>
            <a:ext cx="617220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Techno-Economic Analysis</a:t>
            </a:r>
            <a:endParaRPr lang="en-US" sz="2200" dirty="0"/>
          </a:p>
        </p:txBody>
      </p:sp>
      <p:sp>
        <p:nvSpPr>
          <p:cNvPr id="7" name="Shape 2"/>
          <p:cNvSpPr/>
          <p:nvPr/>
        </p:nvSpPr>
        <p:spPr>
          <a:xfrm>
            <a:off x="777240" y="640080"/>
            <a:ext cx="8229600" cy="91440"/>
          </a:xfrm>
          <a:prstGeom prst="rect">
            <a:avLst/>
          </a:prstGeom>
          <a:solidFill>
            <a:srgbClr val="D35400"/>
          </a:solidFill>
          <a:ln w="12700">
            <a:solidFill>
              <a:srgbClr val="D35400"/>
            </a:solidFill>
            <a:prstDash val="solid"/>
          </a:ln>
        </p:spPr>
      </p:sp>
      <p:sp>
        <p:nvSpPr>
          <p:cNvPr id="8" name="Text 3"/>
          <p:cNvSpPr/>
          <p:nvPr/>
        </p:nvSpPr>
        <p:spPr>
          <a:xfrm>
            <a:off x="914400" y="822960"/>
            <a:ext cx="4114800" cy="292608"/>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CAPEX Breakdown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1143000"/>
          <a:ext cx="4160520" cy="1920240"/>
        </p:xfrm>
        <a:graphic>
          <a:graphicData uri="http://schemas.openxmlformats.org/drawingml/2006/table">
            <a:tbl>
              <a:tblPr/>
              <a:tblGrid>
                <a:gridCol w="1386840">
                  <a:extLst>
                    <a:ext uri="{9D8B030D-6E8A-4147-A177-3AD203B41FA5}">
                      <a16:colId xmlns:a16="http://schemas.microsoft.com/office/drawing/2014/main" val="20000"/>
                    </a:ext>
                  </a:extLst>
                </a:gridCol>
                <a:gridCol w="1386840">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tblGrid>
              <a:tr h="24688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Cost Component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1B2A5E"/>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ASHP (BHD)</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1B2A5E"/>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SA-GSHP (BHD)</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007B8A"/>
                    </a:solidFill>
                  </a:tcPr>
                </a:tc>
                <a:extLst>
                  <a:ext uri="{0D108BD9-81ED-4DB2-BD59-A6C34878D82A}">
                    <a16:rowId xmlns:a16="http://schemas.microsoft.com/office/drawing/2014/main" val="10000"/>
                  </a:ext>
                </a:extLst>
              </a:tr>
              <a:tr h="246888">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Heat pump unit(s)</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2,500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Borehole drilling (4 × 100 m)</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3,500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HDPE piping &amp; grouting</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Solar thermal collectors</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Installation &amp; controls</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1,300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marL="0" indent="0">
                        <a:buNone/>
                      </a:pPr>
                      <a:r>
                        <a:rPr lang="en-US" sz="1000" b="1" dirty="0">
                          <a:solidFill>
                            <a:srgbClr val="1A1A2E"/>
                          </a:solidFill>
                          <a:latin typeface="Calibri" pitchFamily="34" charset="0"/>
                          <a:ea typeface="Calibri" pitchFamily="34" charset="-122"/>
                          <a:cs typeface="Calibri" pitchFamily="34" charset="-120"/>
                        </a:rPr>
                        <a:t>TOTAL CAPEX</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b="1" dirty="0">
                          <a:solidFill>
                            <a:srgbClr val="1A1A2E"/>
                          </a:solidFill>
                          <a:latin typeface="Calibri" pitchFamily="34" charset="0"/>
                          <a:ea typeface="Calibri" pitchFamily="34" charset="-122"/>
                          <a:cs typeface="Calibri" pitchFamily="34" charset="-120"/>
                        </a:rPr>
                        <a:t>3,000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b="1" dirty="0">
                          <a:solidFill>
                            <a:srgbClr val="007B8A"/>
                          </a:solidFill>
                          <a:latin typeface="Calibri" pitchFamily="34" charset="0"/>
                          <a:ea typeface="Calibri" pitchFamily="34" charset="-122"/>
                          <a:cs typeface="Calibri" pitchFamily="34" charset="-120"/>
                        </a:rPr>
                        <a:t>9,000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Shape 4"/>
          <p:cNvSpPr/>
          <p:nvPr/>
        </p:nvSpPr>
        <p:spPr>
          <a:xfrm>
            <a:off x="914400" y="3154680"/>
            <a:ext cx="4160520" cy="1508760"/>
          </a:xfrm>
          <a:prstGeom prst="rect">
            <a:avLst/>
          </a:prstGeom>
          <a:solidFill>
            <a:srgbClr val="D6EAF8"/>
          </a:solidFill>
          <a:ln w="12700">
            <a:solidFill>
              <a:srgbClr val="A8C6E0"/>
            </a:solidFill>
            <a:prstDash val="solid"/>
          </a:ln>
        </p:spPr>
      </p:sp>
      <p:sp>
        <p:nvSpPr>
          <p:cNvPr id="11" name="Shape 5"/>
          <p:cNvSpPr/>
          <p:nvPr/>
        </p:nvSpPr>
        <p:spPr>
          <a:xfrm>
            <a:off x="914400" y="3154680"/>
            <a:ext cx="4160520" cy="91440"/>
          </a:xfrm>
          <a:prstGeom prst="rect">
            <a:avLst/>
          </a:prstGeom>
          <a:solidFill>
            <a:srgbClr val="5B9BD5"/>
          </a:solidFill>
          <a:ln w="12700">
            <a:solidFill>
              <a:srgbClr val="5B9BD5"/>
            </a:solidFill>
            <a:prstDash val="solid"/>
          </a:ln>
        </p:spPr>
      </p:sp>
      <p:sp>
        <p:nvSpPr>
          <p:cNvPr id="12" name="Text 6"/>
          <p:cNvSpPr/>
          <p:nvPr/>
        </p:nvSpPr>
        <p:spPr>
          <a:xfrm>
            <a:off x="987552" y="3218688"/>
            <a:ext cx="4023360" cy="274320"/>
          </a:xfrm>
          <a:prstGeom prst="rect">
            <a:avLst/>
          </a:prstGeom>
          <a:noFill/>
          <a:ln/>
        </p:spPr>
        <p:txBody>
          <a:bodyPr wrap="square" rtlCol="0" anchor="ctr"/>
          <a:lstStyle/>
          <a:p>
            <a:pPr marL="0" indent="0">
              <a:buNone/>
            </a:pPr>
            <a:r>
              <a:rPr lang="en-US" sz="1200" b="1" dirty="0">
                <a:solidFill>
                  <a:srgbClr val="1F4E79"/>
                </a:solidFill>
                <a:latin typeface="Calibri" pitchFamily="34" charset="0"/>
                <a:ea typeface="Calibri" pitchFamily="34" charset="-122"/>
                <a:cs typeface="Calibri" pitchFamily="34" charset="-120"/>
              </a:rPr>
              <a:t>25-Year Life Cycle Cost (LCC)</a:t>
            </a:r>
            <a:endParaRPr lang="en-US" sz="1200" dirty="0"/>
          </a:p>
        </p:txBody>
      </p:sp>
      <p:sp>
        <p:nvSpPr>
          <p:cNvPr id="13" name="Text 7"/>
          <p:cNvSpPr/>
          <p:nvPr/>
        </p:nvSpPr>
        <p:spPr>
          <a:xfrm>
            <a:off x="987552" y="3520440"/>
            <a:ext cx="4023360" cy="32004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ASHP: </a:t>
            </a:r>
            <a:r>
              <a:rPr lang="en-US" sz="1300" b="1" dirty="0">
                <a:solidFill>
                  <a:srgbClr val="1A1A2E"/>
                </a:solidFill>
                <a:latin typeface="Calibri" pitchFamily="34" charset="0"/>
                <a:ea typeface="Calibri" pitchFamily="34" charset="-122"/>
                <a:cs typeface="Calibri" pitchFamily="34" charset="-120"/>
              </a:rPr>
              <a:t>15,524 BHD   </a:t>
            </a:r>
            <a:r>
              <a:rPr lang="en-US" sz="1300" dirty="0">
                <a:solidFill>
                  <a:srgbClr val="555555"/>
                </a:solidFill>
                <a:latin typeface="Calibri" pitchFamily="34" charset="0"/>
                <a:ea typeface="Calibri" pitchFamily="34" charset="-122"/>
                <a:cs typeface="Calibri" pitchFamily="34" charset="-120"/>
              </a:rPr>
              <a:t>SA-GSHP: </a:t>
            </a:r>
            <a:r>
              <a:rPr lang="en-US" sz="1300" b="1" dirty="0">
                <a:solidFill>
                  <a:srgbClr val="007B8A"/>
                </a:solidFill>
                <a:latin typeface="Calibri" pitchFamily="34" charset="0"/>
                <a:ea typeface="Calibri" pitchFamily="34" charset="-122"/>
                <a:cs typeface="Calibri" pitchFamily="34" charset="-120"/>
              </a:rPr>
              <a:t>15,921 BHD</a:t>
            </a:r>
            <a:endParaRPr lang="en-US" sz="1300" dirty="0"/>
          </a:p>
        </p:txBody>
      </p:sp>
      <p:sp>
        <p:nvSpPr>
          <p:cNvPr id="14" name="Text 8"/>
          <p:cNvSpPr/>
          <p:nvPr/>
        </p:nvSpPr>
        <p:spPr>
          <a:xfrm>
            <a:off x="987552" y="3858768"/>
            <a:ext cx="4023360" cy="713232"/>
          </a:xfrm>
          <a:prstGeom prst="rect">
            <a:avLst/>
          </a:prstGeom>
          <a:noFill/>
          <a:ln/>
        </p:spPr>
        <p:txBody>
          <a:bodyPr wrap="square"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Near-cost-parity at current 0.030 BHD/kWh tariff.</a:t>
            </a:r>
            <a:endParaRPr lang="en-US" sz="1100" dirty="0"/>
          </a:p>
          <a:p>
            <a:pPr marL="0" indent="0">
              <a:buNone/>
            </a:pPr>
            <a:r>
              <a:rPr lang="en-US" sz="1100" i="1" dirty="0">
                <a:solidFill>
                  <a:srgbClr val="555555"/>
                </a:solidFill>
                <a:latin typeface="Calibri" pitchFamily="34" charset="0"/>
                <a:ea typeface="Calibri" pitchFamily="34" charset="-122"/>
                <a:cs typeface="Calibri" pitchFamily="34" charset="-120"/>
              </a:rPr>
              <a:t>SA-GSHP decisively superior at normalised tariff ≥ 0.040 BHD/kWh.</a:t>
            </a:r>
            <a:endParaRPr lang="en-US" sz="1100" dirty="0"/>
          </a:p>
        </p:txBody>
      </p:sp>
      <p:sp>
        <p:nvSpPr>
          <p:cNvPr id="15" name="Text 9"/>
          <p:cNvSpPr/>
          <p:nvPr/>
        </p:nvSpPr>
        <p:spPr>
          <a:xfrm>
            <a:off x="5257800" y="822960"/>
            <a:ext cx="3657600" cy="292608"/>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Drilling Subsidy Sensitivity</a:t>
            </a:r>
            <a:endParaRPr lang="en-US" sz="1300" dirty="0"/>
          </a:p>
        </p:txBody>
      </p:sp>
      <p:sp>
        <p:nvSpPr>
          <p:cNvPr id="16" name="Shape 10"/>
          <p:cNvSpPr/>
          <p:nvPr/>
        </p:nvSpPr>
        <p:spPr>
          <a:xfrm>
            <a:off x="5257800" y="1188720"/>
            <a:ext cx="3279267" cy="365760"/>
          </a:xfrm>
          <a:prstGeom prst="rect">
            <a:avLst/>
          </a:prstGeom>
          <a:solidFill>
            <a:srgbClr val="5B9BD5"/>
          </a:solidFill>
          <a:ln w="12700">
            <a:solidFill>
              <a:srgbClr val="5B9BD5"/>
            </a:solidFill>
            <a:prstDash val="solid"/>
          </a:ln>
        </p:spPr>
      </p:sp>
      <p:sp>
        <p:nvSpPr>
          <p:cNvPr id="17" name="Text 11"/>
          <p:cNvSpPr/>
          <p:nvPr/>
        </p:nvSpPr>
        <p:spPr>
          <a:xfrm>
            <a:off x="5285232" y="1188720"/>
            <a:ext cx="3233547" cy="365760"/>
          </a:xfrm>
          <a:prstGeom prst="rect">
            <a:avLst/>
          </a:prstGeom>
          <a:noFill/>
          <a:ln/>
        </p:spPr>
        <p:txBody>
          <a:bodyPr wrap="square"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15.1 yrs</a:t>
            </a:r>
            <a:endParaRPr lang="en-US" sz="1150" dirty="0"/>
          </a:p>
        </p:txBody>
      </p:sp>
      <p:sp>
        <p:nvSpPr>
          <p:cNvPr id="18" name="Text 12"/>
          <p:cNvSpPr/>
          <p:nvPr/>
        </p:nvSpPr>
        <p:spPr>
          <a:xfrm>
            <a:off x="5257800" y="1554480"/>
            <a:ext cx="3657600" cy="256032"/>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No subsidy, 0.030 BHD/kWh</a:t>
            </a:r>
            <a:endParaRPr lang="en-US" sz="1000" dirty="0"/>
          </a:p>
        </p:txBody>
      </p:sp>
      <p:sp>
        <p:nvSpPr>
          <p:cNvPr id="19" name="Shape 13"/>
          <p:cNvSpPr/>
          <p:nvPr/>
        </p:nvSpPr>
        <p:spPr>
          <a:xfrm>
            <a:off x="5257800" y="1938528"/>
            <a:ext cx="2975229" cy="365760"/>
          </a:xfrm>
          <a:prstGeom prst="rect">
            <a:avLst/>
          </a:prstGeom>
          <a:solidFill>
            <a:srgbClr val="5B9BD5"/>
          </a:solidFill>
          <a:ln w="12700">
            <a:solidFill>
              <a:srgbClr val="5B9BD5"/>
            </a:solidFill>
            <a:prstDash val="solid"/>
          </a:ln>
        </p:spPr>
      </p:sp>
      <p:sp>
        <p:nvSpPr>
          <p:cNvPr id="20" name="Text 14"/>
          <p:cNvSpPr/>
          <p:nvPr/>
        </p:nvSpPr>
        <p:spPr>
          <a:xfrm>
            <a:off x="5285232" y="1938528"/>
            <a:ext cx="2929509" cy="365760"/>
          </a:xfrm>
          <a:prstGeom prst="rect">
            <a:avLst/>
          </a:prstGeom>
          <a:noFill/>
          <a:ln/>
        </p:spPr>
        <p:txBody>
          <a:bodyPr wrap="square"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13.7 yrs</a:t>
            </a:r>
            <a:endParaRPr lang="en-US" sz="1150" dirty="0"/>
          </a:p>
        </p:txBody>
      </p:sp>
      <p:sp>
        <p:nvSpPr>
          <p:cNvPr id="21" name="Text 15"/>
          <p:cNvSpPr/>
          <p:nvPr/>
        </p:nvSpPr>
        <p:spPr>
          <a:xfrm>
            <a:off x="5257800" y="2304288"/>
            <a:ext cx="3657600" cy="256032"/>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15% subsidy</a:t>
            </a:r>
            <a:endParaRPr lang="en-US" sz="1000" dirty="0"/>
          </a:p>
        </p:txBody>
      </p:sp>
      <p:sp>
        <p:nvSpPr>
          <p:cNvPr id="22" name="Shape 16"/>
          <p:cNvSpPr/>
          <p:nvPr/>
        </p:nvSpPr>
        <p:spPr>
          <a:xfrm>
            <a:off x="5257800" y="2688336"/>
            <a:ext cx="2801493" cy="365760"/>
          </a:xfrm>
          <a:prstGeom prst="rect">
            <a:avLst/>
          </a:prstGeom>
          <a:solidFill>
            <a:srgbClr val="5B9BD5"/>
          </a:solidFill>
          <a:ln w="12700">
            <a:solidFill>
              <a:srgbClr val="5B9BD5"/>
            </a:solidFill>
            <a:prstDash val="solid"/>
          </a:ln>
        </p:spPr>
      </p:sp>
      <p:sp>
        <p:nvSpPr>
          <p:cNvPr id="23" name="Text 17"/>
          <p:cNvSpPr/>
          <p:nvPr/>
        </p:nvSpPr>
        <p:spPr>
          <a:xfrm>
            <a:off x="5285232" y="2688336"/>
            <a:ext cx="2755773" cy="365760"/>
          </a:xfrm>
          <a:prstGeom prst="rect">
            <a:avLst/>
          </a:prstGeom>
          <a:noFill/>
          <a:ln/>
        </p:spPr>
        <p:txBody>
          <a:bodyPr wrap="square"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12.9 yrs</a:t>
            </a:r>
            <a:endParaRPr lang="en-US" sz="1150" dirty="0"/>
          </a:p>
        </p:txBody>
      </p:sp>
      <p:sp>
        <p:nvSpPr>
          <p:cNvPr id="24" name="Text 18"/>
          <p:cNvSpPr/>
          <p:nvPr/>
        </p:nvSpPr>
        <p:spPr>
          <a:xfrm>
            <a:off x="5257800" y="3054096"/>
            <a:ext cx="3657600" cy="256032"/>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25% subsidy, 0.030 BHD/kWh</a:t>
            </a:r>
            <a:endParaRPr lang="en-US" sz="1000" dirty="0"/>
          </a:p>
        </p:txBody>
      </p:sp>
      <p:sp>
        <p:nvSpPr>
          <p:cNvPr id="25" name="Shape 19"/>
          <p:cNvSpPr/>
          <p:nvPr/>
        </p:nvSpPr>
        <p:spPr>
          <a:xfrm>
            <a:off x="5257800" y="3438144"/>
            <a:ext cx="1498473" cy="365760"/>
          </a:xfrm>
          <a:prstGeom prst="rect">
            <a:avLst/>
          </a:prstGeom>
          <a:solidFill>
            <a:srgbClr val="007B8A"/>
          </a:solidFill>
          <a:ln w="12700">
            <a:solidFill>
              <a:srgbClr val="007B8A"/>
            </a:solidFill>
            <a:prstDash val="solid"/>
          </a:ln>
        </p:spPr>
      </p:sp>
      <p:sp>
        <p:nvSpPr>
          <p:cNvPr id="26" name="Text 20"/>
          <p:cNvSpPr/>
          <p:nvPr/>
        </p:nvSpPr>
        <p:spPr>
          <a:xfrm>
            <a:off x="5285232" y="3438144"/>
            <a:ext cx="1452753" cy="365760"/>
          </a:xfrm>
          <a:prstGeom prst="rect">
            <a:avLst/>
          </a:prstGeom>
          <a:noFill/>
          <a:ln/>
        </p:spPr>
        <p:txBody>
          <a:bodyPr wrap="square"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6.9 yrs</a:t>
            </a:r>
            <a:endParaRPr lang="en-US" sz="1150" dirty="0"/>
          </a:p>
        </p:txBody>
      </p:sp>
      <p:sp>
        <p:nvSpPr>
          <p:cNvPr id="27" name="Text 21"/>
          <p:cNvSpPr/>
          <p:nvPr/>
        </p:nvSpPr>
        <p:spPr>
          <a:xfrm>
            <a:off x="5257800" y="3803904"/>
            <a:ext cx="3657600" cy="256032"/>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25% subsidy, 0.040 BHD/kWh</a:t>
            </a:r>
            <a:endParaRPr lang="en-US" sz="1000" dirty="0"/>
          </a:p>
        </p:txBody>
      </p:sp>
      <p:sp>
        <p:nvSpPr>
          <p:cNvPr id="28" name="Shape 22"/>
          <p:cNvSpPr/>
          <p:nvPr/>
        </p:nvSpPr>
        <p:spPr>
          <a:xfrm>
            <a:off x="5257800" y="4187952"/>
            <a:ext cx="1628775" cy="365760"/>
          </a:xfrm>
          <a:prstGeom prst="rect">
            <a:avLst/>
          </a:prstGeom>
          <a:solidFill>
            <a:srgbClr val="007B8A"/>
          </a:solidFill>
          <a:ln w="12700">
            <a:solidFill>
              <a:srgbClr val="007B8A"/>
            </a:solidFill>
            <a:prstDash val="solid"/>
          </a:ln>
        </p:spPr>
      </p:sp>
      <p:sp>
        <p:nvSpPr>
          <p:cNvPr id="29" name="Text 23"/>
          <p:cNvSpPr/>
          <p:nvPr/>
        </p:nvSpPr>
        <p:spPr>
          <a:xfrm>
            <a:off x="5285232" y="4187952"/>
            <a:ext cx="1583055" cy="365760"/>
          </a:xfrm>
          <a:prstGeom prst="rect">
            <a:avLst/>
          </a:prstGeom>
          <a:noFill/>
          <a:ln/>
        </p:spPr>
        <p:txBody>
          <a:bodyPr wrap="square"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7.5 yrs</a:t>
            </a:r>
            <a:endParaRPr lang="en-US" sz="1150" dirty="0"/>
          </a:p>
        </p:txBody>
      </p:sp>
      <p:sp>
        <p:nvSpPr>
          <p:cNvPr id="30" name="Text 24"/>
          <p:cNvSpPr/>
          <p:nvPr/>
        </p:nvSpPr>
        <p:spPr>
          <a:xfrm>
            <a:off x="5257800" y="4553712"/>
            <a:ext cx="3657600" cy="256032"/>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40% subsidy</a:t>
            </a:r>
            <a:endParaRPr lang="en-US" sz="1000" dirty="0"/>
          </a:p>
        </p:txBody>
      </p:sp>
      <p:sp>
        <p:nvSpPr>
          <p:cNvPr id="31" name="Shape 25"/>
          <p:cNvSpPr/>
          <p:nvPr/>
        </p:nvSpPr>
        <p:spPr>
          <a:xfrm>
            <a:off x="5257800" y="4828032"/>
            <a:ext cx="3657600" cy="256032"/>
          </a:xfrm>
          <a:prstGeom prst="rect">
            <a:avLst/>
          </a:prstGeom>
          <a:solidFill>
            <a:srgbClr val="00B5C8"/>
          </a:solidFill>
          <a:ln w="12700">
            <a:solidFill>
              <a:srgbClr val="00B5C8"/>
            </a:solidFill>
            <a:prstDash val="solid"/>
          </a:ln>
        </p:spPr>
      </p:sp>
      <p:sp>
        <p:nvSpPr>
          <p:cNvPr id="32" name="Text 26"/>
          <p:cNvSpPr/>
          <p:nvPr/>
        </p:nvSpPr>
        <p:spPr>
          <a:xfrm>
            <a:off x="5285232" y="4828032"/>
            <a:ext cx="3630168"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Target 6–8 yr payback: achieved with 25% subsidy + 0.040 BHD/kWh tariff</a:t>
            </a:r>
            <a:endParaRPr lang="en-US" sz="1000" dirty="0"/>
          </a:p>
        </p:txBody>
      </p:sp>
      <p:sp>
        <p:nvSpPr>
          <p:cNvPr id="33" name="Text 27"/>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 y="-45720"/>
            <a:ext cx="3474720" cy="658368"/>
          </a:xfrm>
          <a:prstGeom prst="rect">
            <a:avLst/>
          </a:prstGeom>
        </p:spPr>
      </p:pic>
      <p:pic>
        <p:nvPicPr>
          <p:cNvPr id="3" name="Image 1" descr="preencoded.png"/>
          <p:cNvPicPr>
            <a:picLocks noChangeAspect="1"/>
          </p:cNvPicPr>
          <p:nvPr/>
        </p:nvPicPr>
        <p:blipFill>
          <a:blip r:embed="rId4"/>
          <a:stretch>
            <a:fillRect/>
          </a:stretch>
        </p:blipFill>
        <p:spPr>
          <a:xfrm>
            <a:off x="-685800" y="274320"/>
            <a:ext cx="1828800" cy="3200400"/>
          </a:xfrm>
          <a:prstGeom prst="rect">
            <a:avLst/>
          </a:prstGeom>
        </p:spPr>
      </p:pic>
      <p:pic>
        <p:nvPicPr>
          <p:cNvPr id="4" name="Image 2" descr="preencoded.png"/>
          <p:cNvPicPr>
            <a:picLocks noChangeAspect="1"/>
          </p:cNvPicPr>
          <p:nvPr/>
        </p:nvPicPr>
        <p:blipFill>
          <a:blip r:embed="rId5"/>
          <a:stretch>
            <a:fillRect/>
          </a:stretch>
        </p:blipFill>
        <p:spPr>
          <a:xfrm>
            <a:off x="7132320" y="54864"/>
            <a:ext cx="1874520" cy="347472"/>
          </a:xfrm>
          <a:prstGeom prst="rect">
            <a:avLst/>
          </a:prstGeom>
        </p:spPr>
      </p:pic>
      <p:sp>
        <p:nvSpPr>
          <p:cNvPr id="5" name="Shape 0"/>
          <p:cNvSpPr/>
          <p:nvPr/>
        </p:nvSpPr>
        <p:spPr>
          <a:xfrm>
            <a:off x="777240" y="73152"/>
            <a:ext cx="6217920" cy="566928"/>
          </a:xfrm>
          <a:prstGeom prst="rect">
            <a:avLst/>
          </a:prstGeom>
          <a:solidFill>
            <a:srgbClr val="1B2A5E"/>
          </a:solidFill>
          <a:ln w="12700">
            <a:solidFill>
              <a:srgbClr val="1B2A5E"/>
            </a:solidFill>
            <a:prstDash val="solid"/>
          </a:ln>
        </p:spPr>
      </p:sp>
      <p:sp>
        <p:nvSpPr>
          <p:cNvPr id="6" name="Text 1"/>
          <p:cNvSpPr/>
          <p:nvPr/>
        </p:nvSpPr>
        <p:spPr>
          <a:xfrm>
            <a:off x="804672" y="73152"/>
            <a:ext cx="617220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Environmental Impact</a:t>
            </a:r>
            <a:endParaRPr lang="en-US" sz="2200" dirty="0"/>
          </a:p>
        </p:txBody>
      </p:sp>
      <p:sp>
        <p:nvSpPr>
          <p:cNvPr id="7" name="Shape 2"/>
          <p:cNvSpPr/>
          <p:nvPr/>
        </p:nvSpPr>
        <p:spPr>
          <a:xfrm>
            <a:off x="777240" y="640080"/>
            <a:ext cx="8229600" cy="91440"/>
          </a:xfrm>
          <a:prstGeom prst="rect">
            <a:avLst/>
          </a:prstGeom>
          <a:solidFill>
            <a:srgbClr val="D35400"/>
          </a:solidFill>
          <a:ln w="12700">
            <a:solidFill>
              <a:srgbClr val="D35400"/>
            </a:solidFill>
            <a:prstDash val="solid"/>
          </a:ln>
        </p:spPr>
      </p:sp>
      <p:sp>
        <p:nvSpPr>
          <p:cNvPr id="8" name="Text 3"/>
          <p:cNvSpPr/>
          <p:nvPr/>
        </p:nvSpPr>
        <p:spPr>
          <a:xfrm>
            <a:off x="914400" y="822960"/>
            <a:ext cx="4572000" cy="292608"/>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Lifecycle CO₂ Comparison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1152144"/>
          <a:ext cx="4846320" cy="2048256"/>
        </p:xfrm>
        <a:graphic>
          <a:graphicData uri="http://schemas.openxmlformats.org/drawingml/2006/table">
            <a:tbl>
              <a:tblPr/>
              <a:tblGrid>
                <a:gridCol w="1615440">
                  <a:extLst>
                    <a:ext uri="{9D8B030D-6E8A-4147-A177-3AD203B41FA5}">
                      <a16:colId xmlns:a16="http://schemas.microsoft.com/office/drawing/2014/main" val="20000"/>
                    </a:ext>
                  </a:extLst>
                </a:gridCol>
                <a:gridCol w="1615440">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tblGrid>
              <a:tr h="25603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1B2A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ASHP</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1B2A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SA-GSHP</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solidFill>
                      <a:srgbClr val="007B8A"/>
                    </a:solidFill>
                  </a:tcPr>
                </a:tc>
                <a:extLst>
                  <a:ext uri="{0D108BD9-81ED-4DB2-BD59-A6C34878D82A}">
                    <a16:rowId xmlns:a16="http://schemas.microsoft.com/office/drawing/2014/main" val="10000"/>
                  </a:ext>
                </a:extLst>
              </a:tr>
              <a:tr h="25603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Annual CO₂ (kg/yr)</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17,360</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9,645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Annual saving (kg/yr)</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7,715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25-yr operational CO₂ (t)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434</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241</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Embodied CO₂ (t)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000" b="1" dirty="0">
                          <a:solidFill>
                            <a:srgbClr val="1A1A2E"/>
                          </a:solidFill>
                          <a:latin typeface="Calibri" pitchFamily="34" charset="0"/>
                          <a:ea typeface="Calibri" pitchFamily="34" charset="-122"/>
                          <a:cs typeface="Calibri" pitchFamily="34" charset="-120"/>
                        </a:rPr>
                        <a:t>Net lifecycle CO₂ (t)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b="1" dirty="0">
                          <a:solidFill>
                            <a:srgbClr val="1A1A2E"/>
                          </a:solidFill>
                          <a:latin typeface="Calibri" pitchFamily="34" charset="0"/>
                          <a:ea typeface="Calibri" pitchFamily="34" charset="-122"/>
                          <a:cs typeface="Calibri" pitchFamily="34" charset="-120"/>
                        </a:rPr>
                        <a:t>~439</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b="1" dirty="0">
                          <a:solidFill>
                            <a:srgbClr val="1A1A2E"/>
                          </a:solidFill>
                          <a:latin typeface="Calibri" pitchFamily="34" charset="0"/>
                          <a:ea typeface="Calibri" pitchFamily="34" charset="-122"/>
                          <a:cs typeface="Calibri" pitchFamily="34" charset="-120"/>
                        </a:rPr>
                        <a:t>~266</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000" b="1" dirty="0">
                          <a:solidFill>
                            <a:srgbClr val="007B8A"/>
                          </a:solidFill>
                          <a:latin typeface="Calibri" pitchFamily="34" charset="0"/>
                          <a:ea typeface="Calibri" pitchFamily="34" charset="-122"/>
                          <a:cs typeface="Calibri" pitchFamily="34" charset="-120"/>
                        </a:rPr>
                        <a:t>Net lifecycle reduction</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tc>
                  <a:txBody>
                    <a:bodyPr/>
                    <a:lstStyle/>
                    <a:p>
                      <a:pPr marL="0" indent="0">
                        <a:buNone/>
                      </a:pPr>
                      <a:r>
                        <a:rPr lang="en-US" sz="1000" b="1" dirty="0">
                          <a:solidFill>
                            <a:srgbClr val="007B8A"/>
                          </a:solidFill>
                          <a:latin typeface="Calibri" pitchFamily="34" charset="0"/>
                          <a:ea typeface="Calibri" pitchFamily="34" charset="-122"/>
                          <a:cs typeface="Calibri" pitchFamily="34" charset="-120"/>
                        </a:rPr>
                        <a:t>173 t (39%)</a:t>
                      </a:r>
                      <a:endParaRPr lang="en-US" sz="1000" dirty="0">
                        <a:latin typeface="Calibri" charset="0"/>
                        <a:ea typeface="Calibri" charset="0"/>
                        <a:cs typeface="Calibri" charset="0"/>
                      </a:endParaRPr>
                    </a:p>
                  </a:txBody>
                  <a:tcPr>
                    <a:lnL w="6350" cap="flat" cmpd="sng" algn="ctr">
                      <a:solidFill>
                        <a:srgbClr val="A8C6E0"/>
                      </a:solidFill>
                      <a:prstDash val="solid"/>
                      <a:round/>
                      <a:headEnd type="none" w="med" len="med"/>
                      <a:tailEnd type="none" w="med" len="med"/>
                    </a:lnL>
                    <a:lnR w="6350" cap="flat" cmpd="sng" algn="ctr">
                      <a:solidFill>
                        <a:srgbClr val="A8C6E0"/>
                      </a:solidFill>
                      <a:prstDash val="solid"/>
                      <a:round/>
                      <a:headEnd type="none" w="med" len="med"/>
                      <a:tailEnd type="none" w="med" len="med"/>
                    </a:lnR>
                    <a:lnT w="6350" cap="flat" cmpd="sng" algn="ctr">
                      <a:solidFill>
                        <a:srgbClr val="A8C6E0"/>
                      </a:solidFill>
                      <a:prstDash val="solid"/>
                      <a:round/>
                      <a:headEnd type="none" w="med" len="med"/>
                      <a:tailEnd type="none" w="med" len="med"/>
                    </a:lnT>
                    <a:lnB w="6350" cap="flat" cmpd="sng" algn="ctr">
                      <a:solidFill>
                        <a:srgbClr val="A8C6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Shape 4"/>
          <p:cNvSpPr/>
          <p:nvPr/>
        </p:nvSpPr>
        <p:spPr>
          <a:xfrm>
            <a:off x="914400" y="3291840"/>
            <a:ext cx="4846320" cy="1463040"/>
          </a:xfrm>
          <a:prstGeom prst="rect">
            <a:avLst/>
          </a:prstGeom>
          <a:solidFill>
            <a:srgbClr val="D6EAF8"/>
          </a:solidFill>
          <a:ln w="12700">
            <a:solidFill>
              <a:srgbClr val="A8C6E0"/>
            </a:solidFill>
            <a:prstDash val="solid"/>
          </a:ln>
        </p:spPr>
      </p:sp>
      <p:sp>
        <p:nvSpPr>
          <p:cNvPr id="11" name="Shape 5"/>
          <p:cNvSpPr/>
          <p:nvPr/>
        </p:nvSpPr>
        <p:spPr>
          <a:xfrm>
            <a:off x="914400" y="3291840"/>
            <a:ext cx="4846320" cy="91440"/>
          </a:xfrm>
          <a:prstGeom prst="rect">
            <a:avLst/>
          </a:prstGeom>
          <a:solidFill>
            <a:srgbClr val="00B5C8"/>
          </a:solidFill>
          <a:ln w="12700">
            <a:solidFill>
              <a:srgbClr val="00B5C8"/>
            </a:solidFill>
            <a:prstDash val="solid"/>
          </a:ln>
        </p:spPr>
      </p:sp>
      <p:sp>
        <p:nvSpPr>
          <p:cNvPr id="12" name="Text 6"/>
          <p:cNvSpPr/>
          <p:nvPr/>
        </p:nvSpPr>
        <p:spPr>
          <a:xfrm>
            <a:off x="1005840" y="3364992"/>
            <a:ext cx="4663440" cy="320040"/>
          </a:xfrm>
          <a:prstGeom prst="rect">
            <a:avLst/>
          </a:prstGeom>
          <a:noFill/>
          <a:ln/>
        </p:spPr>
        <p:txBody>
          <a:bodyPr wrap="square" rtlCol="0" anchor="ctr"/>
          <a:lstStyle/>
          <a:p>
            <a:pPr marL="0" indent="0">
              <a:buNone/>
            </a:pPr>
            <a:r>
              <a:rPr lang="en-US" sz="1200" b="1" dirty="0">
                <a:solidFill>
                  <a:srgbClr val="1F4E79"/>
                </a:solidFill>
                <a:latin typeface="Calibri" pitchFamily="34" charset="0"/>
                <a:ea typeface="Calibri" pitchFamily="34" charset="-122"/>
                <a:cs typeface="Calibri" pitchFamily="34" charset="-120"/>
              </a:rPr>
              <a:t>💧  Water Conservation</a:t>
            </a:r>
            <a:endParaRPr lang="en-US" sz="1200" dirty="0"/>
          </a:p>
        </p:txBody>
      </p:sp>
      <p:sp>
        <p:nvSpPr>
          <p:cNvPr id="13" name="Text 7"/>
          <p:cNvSpPr/>
          <p:nvPr/>
        </p:nvSpPr>
        <p:spPr>
          <a:xfrm>
            <a:off x="1005840" y="3703320"/>
            <a:ext cx="4663440" cy="960120"/>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Closed-loop configuration eliminates cooling-related water use entirely — 5.25–8.75 million litres saved per installation over 25 years. At 10,000 installations, equivalent to the annual output of a medium-scale desalination plant.</a:t>
            </a:r>
            <a:endParaRPr lang="en-US" sz="1150" dirty="0"/>
          </a:p>
        </p:txBody>
      </p:sp>
      <p:sp>
        <p:nvSpPr>
          <p:cNvPr id="14" name="Shape 8"/>
          <p:cNvSpPr/>
          <p:nvPr/>
        </p:nvSpPr>
        <p:spPr>
          <a:xfrm>
            <a:off x="5989320" y="914400"/>
            <a:ext cx="1417320" cy="1600200"/>
          </a:xfrm>
          <a:prstGeom prst="rect">
            <a:avLst/>
          </a:prstGeom>
          <a:solidFill>
            <a:srgbClr val="D6EAF8"/>
          </a:solidFill>
          <a:ln w="12700">
            <a:solidFill>
              <a:srgbClr val="A8C6E0"/>
            </a:solidFill>
            <a:prstDash val="solid"/>
          </a:ln>
        </p:spPr>
      </p:sp>
      <p:sp>
        <p:nvSpPr>
          <p:cNvPr id="15" name="Shape 9"/>
          <p:cNvSpPr/>
          <p:nvPr/>
        </p:nvSpPr>
        <p:spPr>
          <a:xfrm>
            <a:off x="5989320" y="914400"/>
            <a:ext cx="1417320" cy="91440"/>
          </a:xfrm>
          <a:prstGeom prst="rect">
            <a:avLst/>
          </a:prstGeom>
          <a:solidFill>
            <a:srgbClr val="00B5C8"/>
          </a:solidFill>
          <a:ln w="12700">
            <a:solidFill>
              <a:srgbClr val="00B5C8"/>
            </a:solidFill>
            <a:prstDash val="solid"/>
          </a:ln>
        </p:spPr>
      </p:sp>
      <p:sp>
        <p:nvSpPr>
          <p:cNvPr id="16" name="Text 10"/>
          <p:cNvSpPr/>
          <p:nvPr/>
        </p:nvSpPr>
        <p:spPr>
          <a:xfrm>
            <a:off x="5989320" y="1024128"/>
            <a:ext cx="1417320" cy="658368"/>
          </a:xfrm>
          <a:prstGeom prst="rect">
            <a:avLst/>
          </a:prstGeom>
          <a:noFill/>
          <a:ln/>
        </p:spPr>
        <p:txBody>
          <a:bodyPr wrap="square" rtlCol="0" anchor="ctr"/>
          <a:lstStyle/>
          <a:p>
            <a:pPr marL="0" indent="0" algn="ctr">
              <a:buNone/>
            </a:pPr>
            <a:r>
              <a:rPr lang="en-US" sz="2600" b="1" dirty="0">
                <a:solidFill>
                  <a:srgbClr val="1F4E79"/>
                </a:solidFill>
                <a:latin typeface="Calibri" pitchFamily="34" charset="0"/>
                <a:ea typeface="Calibri" pitchFamily="34" charset="-122"/>
                <a:cs typeface="Calibri" pitchFamily="34" charset="-120"/>
              </a:rPr>
              <a:t>173 t</a:t>
            </a:r>
            <a:endParaRPr lang="en-US" sz="2600" dirty="0"/>
          </a:p>
        </p:txBody>
      </p:sp>
      <p:sp>
        <p:nvSpPr>
          <p:cNvPr id="17" name="Text 11"/>
          <p:cNvSpPr/>
          <p:nvPr/>
        </p:nvSpPr>
        <p:spPr>
          <a:xfrm>
            <a:off x="5989320" y="1691640"/>
            <a:ext cx="1417320" cy="685800"/>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Net CO₂ prevented</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per installation (25 yrs)</a:t>
            </a:r>
            <a:endParaRPr lang="en-US" sz="1000" dirty="0"/>
          </a:p>
        </p:txBody>
      </p:sp>
      <p:sp>
        <p:nvSpPr>
          <p:cNvPr id="18" name="Shape 12"/>
          <p:cNvSpPr/>
          <p:nvPr/>
        </p:nvSpPr>
        <p:spPr>
          <a:xfrm>
            <a:off x="7543800" y="914400"/>
            <a:ext cx="1417320" cy="1600200"/>
          </a:xfrm>
          <a:prstGeom prst="rect">
            <a:avLst/>
          </a:prstGeom>
          <a:solidFill>
            <a:srgbClr val="D6EAF8"/>
          </a:solidFill>
          <a:ln w="12700">
            <a:solidFill>
              <a:srgbClr val="A8C6E0"/>
            </a:solidFill>
            <a:prstDash val="solid"/>
          </a:ln>
        </p:spPr>
      </p:sp>
      <p:sp>
        <p:nvSpPr>
          <p:cNvPr id="19" name="Shape 13"/>
          <p:cNvSpPr/>
          <p:nvPr/>
        </p:nvSpPr>
        <p:spPr>
          <a:xfrm>
            <a:off x="7543800" y="914400"/>
            <a:ext cx="1417320" cy="91440"/>
          </a:xfrm>
          <a:prstGeom prst="rect">
            <a:avLst/>
          </a:prstGeom>
          <a:solidFill>
            <a:srgbClr val="00B5C8"/>
          </a:solidFill>
          <a:ln w="12700">
            <a:solidFill>
              <a:srgbClr val="00B5C8"/>
            </a:solidFill>
            <a:prstDash val="solid"/>
          </a:ln>
        </p:spPr>
      </p:sp>
      <p:sp>
        <p:nvSpPr>
          <p:cNvPr id="20" name="Text 14"/>
          <p:cNvSpPr/>
          <p:nvPr/>
        </p:nvSpPr>
        <p:spPr>
          <a:xfrm>
            <a:off x="7543800" y="1024128"/>
            <a:ext cx="1417320" cy="658368"/>
          </a:xfrm>
          <a:prstGeom prst="rect">
            <a:avLst/>
          </a:prstGeom>
          <a:noFill/>
          <a:ln/>
        </p:spPr>
        <p:txBody>
          <a:bodyPr wrap="square" rtlCol="0" anchor="ctr"/>
          <a:lstStyle/>
          <a:p>
            <a:pPr marL="0" indent="0" algn="ctr">
              <a:buNone/>
            </a:pPr>
            <a:r>
              <a:rPr lang="en-US" sz="2600" b="1" dirty="0">
                <a:solidFill>
                  <a:srgbClr val="1F4E79"/>
                </a:solidFill>
                <a:latin typeface="Calibri" pitchFamily="34" charset="0"/>
                <a:ea typeface="Calibri" pitchFamily="34" charset="-122"/>
                <a:cs typeface="Calibri" pitchFamily="34" charset="-120"/>
              </a:rPr>
              <a:t>39%</a:t>
            </a:r>
            <a:endParaRPr lang="en-US" sz="2600" dirty="0"/>
          </a:p>
        </p:txBody>
      </p:sp>
      <p:sp>
        <p:nvSpPr>
          <p:cNvPr id="21" name="Text 15"/>
          <p:cNvSpPr/>
          <p:nvPr/>
        </p:nvSpPr>
        <p:spPr>
          <a:xfrm>
            <a:off x="7543800" y="1691640"/>
            <a:ext cx="1417320" cy="685800"/>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Net lifecycle GHG</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reduction vs ASHP</a:t>
            </a:r>
            <a:endParaRPr lang="en-US" sz="1000" dirty="0"/>
          </a:p>
        </p:txBody>
      </p:sp>
      <p:sp>
        <p:nvSpPr>
          <p:cNvPr id="22" name="Shape 16"/>
          <p:cNvSpPr/>
          <p:nvPr/>
        </p:nvSpPr>
        <p:spPr>
          <a:xfrm>
            <a:off x="5989320" y="2834640"/>
            <a:ext cx="1417320" cy="1600200"/>
          </a:xfrm>
          <a:prstGeom prst="rect">
            <a:avLst/>
          </a:prstGeom>
          <a:solidFill>
            <a:srgbClr val="D6EAF8"/>
          </a:solidFill>
          <a:ln w="12700">
            <a:solidFill>
              <a:srgbClr val="A8C6E0"/>
            </a:solidFill>
            <a:prstDash val="solid"/>
          </a:ln>
        </p:spPr>
      </p:sp>
      <p:sp>
        <p:nvSpPr>
          <p:cNvPr id="23" name="Shape 17"/>
          <p:cNvSpPr/>
          <p:nvPr/>
        </p:nvSpPr>
        <p:spPr>
          <a:xfrm>
            <a:off x="5989320" y="2834640"/>
            <a:ext cx="1417320" cy="91440"/>
          </a:xfrm>
          <a:prstGeom prst="rect">
            <a:avLst/>
          </a:prstGeom>
          <a:solidFill>
            <a:srgbClr val="00B5C8"/>
          </a:solidFill>
          <a:ln w="12700">
            <a:solidFill>
              <a:srgbClr val="00B5C8"/>
            </a:solidFill>
            <a:prstDash val="solid"/>
          </a:ln>
        </p:spPr>
      </p:sp>
      <p:sp>
        <p:nvSpPr>
          <p:cNvPr id="24" name="Text 18"/>
          <p:cNvSpPr/>
          <p:nvPr/>
        </p:nvSpPr>
        <p:spPr>
          <a:xfrm>
            <a:off x="5989320" y="2944368"/>
            <a:ext cx="1417320" cy="658368"/>
          </a:xfrm>
          <a:prstGeom prst="rect">
            <a:avLst/>
          </a:prstGeom>
          <a:noFill/>
          <a:ln/>
        </p:spPr>
        <p:txBody>
          <a:bodyPr wrap="square" rtlCol="0" anchor="ctr"/>
          <a:lstStyle/>
          <a:p>
            <a:pPr marL="0" indent="0" algn="ctr">
              <a:buNone/>
            </a:pPr>
            <a:r>
              <a:rPr lang="en-US" sz="2600" b="1" dirty="0">
                <a:solidFill>
                  <a:srgbClr val="1F4E79"/>
                </a:solidFill>
                <a:latin typeface="Calibri" pitchFamily="34" charset="0"/>
                <a:ea typeface="Calibri" pitchFamily="34" charset="-122"/>
                <a:cs typeface="Calibri" pitchFamily="34" charset="-120"/>
              </a:rPr>
              <a:t>63 MW</a:t>
            </a:r>
            <a:endParaRPr lang="en-US" sz="2600" dirty="0"/>
          </a:p>
        </p:txBody>
      </p:sp>
      <p:sp>
        <p:nvSpPr>
          <p:cNvPr id="25" name="Text 19"/>
          <p:cNvSpPr/>
          <p:nvPr/>
        </p:nvSpPr>
        <p:spPr>
          <a:xfrm>
            <a:off x="5989320" y="3611880"/>
            <a:ext cx="1417320" cy="685800"/>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Peak demand cut</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 5% market penetration</a:t>
            </a:r>
            <a:endParaRPr lang="en-US" sz="1000" dirty="0"/>
          </a:p>
        </p:txBody>
      </p:sp>
      <p:sp>
        <p:nvSpPr>
          <p:cNvPr id="26" name="Shape 20"/>
          <p:cNvSpPr/>
          <p:nvPr/>
        </p:nvSpPr>
        <p:spPr>
          <a:xfrm>
            <a:off x="7543800" y="2834640"/>
            <a:ext cx="1417320" cy="1600200"/>
          </a:xfrm>
          <a:prstGeom prst="rect">
            <a:avLst/>
          </a:prstGeom>
          <a:solidFill>
            <a:srgbClr val="D6EAF8"/>
          </a:solidFill>
          <a:ln w="12700">
            <a:solidFill>
              <a:srgbClr val="A8C6E0"/>
            </a:solidFill>
            <a:prstDash val="solid"/>
          </a:ln>
        </p:spPr>
      </p:sp>
      <p:sp>
        <p:nvSpPr>
          <p:cNvPr id="27" name="Shape 21"/>
          <p:cNvSpPr/>
          <p:nvPr/>
        </p:nvSpPr>
        <p:spPr>
          <a:xfrm>
            <a:off x="7543800" y="2834640"/>
            <a:ext cx="1417320" cy="91440"/>
          </a:xfrm>
          <a:prstGeom prst="rect">
            <a:avLst/>
          </a:prstGeom>
          <a:solidFill>
            <a:srgbClr val="00B5C8"/>
          </a:solidFill>
          <a:ln w="12700">
            <a:solidFill>
              <a:srgbClr val="00B5C8"/>
            </a:solidFill>
            <a:prstDash val="solid"/>
          </a:ln>
        </p:spPr>
      </p:sp>
      <p:sp>
        <p:nvSpPr>
          <p:cNvPr id="28" name="Text 22"/>
          <p:cNvSpPr/>
          <p:nvPr/>
        </p:nvSpPr>
        <p:spPr>
          <a:xfrm>
            <a:off x="7543800" y="2944368"/>
            <a:ext cx="1417320" cy="658368"/>
          </a:xfrm>
          <a:prstGeom prst="rect">
            <a:avLst/>
          </a:prstGeom>
          <a:noFill/>
          <a:ln/>
        </p:spPr>
        <p:txBody>
          <a:bodyPr wrap="square" rtlCol="0" anchor="ctr"/>
          <a:lstStyle/>
          <a:p>
            <a:pPr marL="0" indent="0" algn="ctr">
              <a:buNone/>
            </a:pPr>
            <a:r>
              <a:rPr lang="en-US" sz="2600" b="1" dirty="0">
                <a:solidFill>
                  <a:srgbClr val="1F4E79"/>
                </a:solidFill>
                <a:latin typeface="Calibri" pitchFamily="34" charset="0"/>
                <a:ea typeface="Calibri" pitchFamily="34" charset="-122"/>
                <a:cs typeface="Calibri" pitchFamily="34" charset="-120"/>
              </a:rPr>
              <a:t>8.75M L</a:t>
            </a:r>
            <a:endParaRPr lang="en-US" sz="2600" dirty="0"/>
          </a:p>
        </p:txBody>
      </p:sp>
      <p:sp>
        <p:nvSpPr>
          <p:cNvPr id="29" name="Text 23"/>
          <p:cNvSpPr/>
          <p:nvPr/>
        </p:nvSpPr>
        <p:spPr>
          <a:xfrm>
            <a:off x="7543800" y="3611880"/>
            <a:ext cx="1417320" cy="685800"/>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Water saved</a:t>
            </a:r>
            <a:endParaRPr lang="en-US" sz="1000" dirty="0"/>
          </a:p>
          <a:p>
            <a:pPr marL="0" indent="0" algn="ctr">
              <a:buNone/>
            </a:pPr>
            <a:r>
              <a:rPr lang="en-US" sz="1000" dirty="0">
                <a:solidFill>
                  <a:srgbClr val="555555"/>
                </a:solidFill>
                <a:latin typeface="Calibri" pitchFamily="34" charset="0"/>
                <a:ea typeface="Calibri" pitchFamily="34" charset="-122"/>
                <a:cs typeface="Calibri" pitchFamily="34" charset="-120"/>
              </a:rPr>
              <a:t>per installation</a:t>
            </a:r>
            <a:endParaRPr lang="en-US" sz="1000" dirty="0"/>
          </a:p>
        </p:txBody>
      </p:sp>
      <p:sp>
        <p:nvSpPr>
          <p:cNvPr id="30" name="Text 24"/>
          <p:cNvSpPr/>
          <p:nvPr/>
        </p:nvSpPr>
        <p:spPr>
          <a:xfrm>
            <a:off x="914400" y="4919472"/>
            <a:ext cx="8046720" cy="182880"/>
          </a:xfrm>
          <a:prstGeom prst="rect">
            <a:avLst/>
          </a:prstGeom>
          <a:noFill/>
          <a:ln/>
        </p:spPr>
        <p:txBody>
          <a:bodyPr wrap="square"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Grid emission factor: 0.62 kg CO₂/kWh (IEA, 2024). Refrigerant: R-407C.</a:t>
            </a:r>
            <a:endParaRPr lang="en-US" sz="900" dirty="0"/>
          </a:p>
        </p:txBody>
      </p:sp>
      <p:sp>
        <p:nvSpPr>
          <p:cNvPr id="31" name="Text 25"/>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7160" y="-45720"/>
            <a:ext cx="3474720" cy="658368"/>
          </a:xfrm>
          <a:prstGeom prst="rect">
            <a:avLst/>
          </a:prstGeom>
        </p:spPr>
      </p:pic>
      <p:pic>
        <p:nvPicPr>
          <p:cNvPr id="3" name="Image 1" descr="preencoded.png"/>
          <p:cNvPicPr>
            <a:picLocks noChangeAspect="1"/>
          </p:cNvPicPr>
          <p:nvPr/>
        </p:nvPicPr>
        <p:blipFill>
          <a:blip r:embed="rId4"/>
          <a:stretch>
            <a:fillRect/>
          </a:stretch>
        </p:blipFill>
        <p:spPr>
          <a:xfrm>
            <a:off x="-685800" y="274320"/>
            <a:ext cx="1828800" cy="3200400"/>
          </a:xfrm>
          <a:prstGeom prst="rect">
            <a:avLst/>
          </a:prstGeom>
        </p:spPr>
      </p:pic>
      <p:pic>
        <p:nvPicPr>
          <p:cNvPr id="4" name="Image 2" descr="preencoded.png"/>
          <p:cNvPicPr>
            <a:picLocks noChangeAspect="1"/>
          </p:cNvPicPr>
          <p:nvPr/>
        </p:nvPicPr>
        <p:blipFill>
          <a:blip r:embed="rId5"/>
          <a:stretch>
            <a:fillRect/>
          </a:stretch>
        </p:blipFill>
        <p:spPr>
          <a:xfrm>
            <a:off x="7132320" y="54864"/>
            <a:ext cx="1874520" cy="347472"/>
          </a:xfrm>
          <a:prstGeom prst="rect">
            <a:avLst/>
          </a:prstGeom>
        </p:spPr>
      </p:pic>
      <p:sp>
        <p:nvSpPr>
          <p:cNvPr id="5" name="Shape 0"/>
          <p:cNvSpPr/>
          <p:nvPr/>
        </p:nvSpPr>
        <p:spPr>
          <a:xfrm>
            <a:off x="777240" y="73152"/>
            <a:ext cx="6217920" cy="566928"/>
          </a:xfrm>
          <a:prstGeom prst="rect">
            <a:avLst/>
          </a:prstGeom>
          <a:solidFill>
            <a:srgbClr val="1B2A5E"/>
          </a:solidFill>
          <a:ln w="12700">
            <a:solidFill>
              <a:srgbClr val="1B2A5E"/>
            </a:solidFill>
            <a:prstDash val="solid"/>
          </a:ln>
        </p:spPr>
      </p:sp>
      <p:sp>
        <p:nvSpPr>
          <p:cNvPr id="6" name="Text 1"/>
          <p:cNvSpPr/>
          <p:nvPr/>
        </p:nvSpPr>
        <p:spPr>
          <a:xfrm>
            <a:off x="804672" y="73152"/>
            <a:ext cx="617220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Model &amp; Commercialisation</a:t>
            </a:r>
            <a:endParaRPr lang="en-US" sz="2200" dirty="0"/>
          </a:p>
        </p:txBody>
      </p:sp>
      <p:sp>
        <p:nvSpPr>
          <p:cNvPr id="7" name="Shape 2"/>
          <p:cNvSpPr/>
          <p:nvPr/>
        </p:nvSpPr>
        <p:spPr>
          <a:xfrm>
            <a:off x="777240" y="640080"/>
            <a:ext cx="8229600" cy="91440"/>
          </a:xfrm>
          <a:prstGeom prst="rect">
            <a:avLst/>
          </a:prstGeom>
          <a:solidFill>
            <a:srgbClr val="D35400"/>
          </a:solidFill>
          <a:ln w="12700">
            <a:solidFill>
              <a:srgbClr val="D35400"/>
            </a:solidFill>
            <a:prstDash val="solid"/>
          </a:ln>
        </p:spPr>
      </p:sp>
      <p:pic>
        <p:nvPicPr>
          <p:cNvPr id="8" name="Image 3" descr="preencoded.png"/>
          <p:cNvPicPr>
            <a:picLocks noChangeAspect="1"/>
          </p:cNvPicPr>
          <p:nvPr/>
        </p:nvPicPr>
        <p:blipFill>
          <a:blip r:embed="rId6"/>
          <a:stretch>
            <a:fillRect/>
          </a:stretch>
        </p:blipFill>
        <p:spPr>
          <a:xfrm>
            <a:off x="777240" y="822960"/>
            <a:ext cx="5943600" cy="3703320"/>
          </a:xfrm>
          <a:prstGeom prst="rect">
            <a:avLst/>
          </a:prstGeom>
        </p:spPr>
      </p:pic>
      <p:sp>
        <p:nvSpPr>
          <p:cNvPr id="9" name="Shape 3"/>
          <p:cNvSpPr/>
          <p:nvPr/>
        </p:nvSpPr>
        <p:spPr>
          <a:xfrm>
            <a:off x="777240" y="4544568"/>
            <a:ext cx="5943600" cy="228600"/>
          </a:xfrm>
          <a:prstGeom prst="rect">
            <a:avLst/>
          </a:prstGeom>
          <a:solidFill>
            <a:srgbClr val="D6EAF8"/>
          </a:solidFill>
          <a:ln w="6350">
            <a:solidFill>
              <a:srgbClr val="A8C6E0"/>
            </a:solidFill>
            <a:prstDash val="solid"/>
          </a:ln>
        </p:spPr>
      </p:sp>
      <p:sp>
        <p:nvSpPr>
          <p:cNvPr id="10" name="Text 4"/>
          <p:cNvSpPr/>
          <p:nvPr/>
        </p:nvSpPr>
        <p:spPr>
          <a:xfrm>
            <a:off x="822960" y="4553712"/>
            <a:ext cx="5852160" cy="201168"/>
          </a:xfrm>
          <a:prstGeom prst="rect">
            <a:avLst/>
          </a:prstGeom>
          <a:noFill/>
          <a:ln/>
        </p:spPr>
        <p:txBody>
          <a:bodyPr wrap="square"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Fig. 2 – Business Model Canvas for SA-GSHP commercialisation, Kingdom of Bahrain</a:t>
            </a:r>
            <a:endParaRPr lang="en-US" sz="950" dirty="0"/>
          </a:p>
        </p:txBody>
      </p:sp>
      <p:sp>
        <p:nvSpPr>
          <p:cNvPr id="11" name="Text 5"/>
          <p:cNvSpPr/>
          <p:nvPr/>
        </p:nvSpPr>
        <p:spPr>
          <a:xfrm>
            <a:off x="6903720" y="822960"/>
            <a:ext cx="2057400" cy="292608"/>
          </a:xfrm>
          <a:prstGeom prst="rect">
            <a:avLst/>
          </a:prstGeom>
          <a:noFill/>
          <a:ln/>
        </p:spPr>
        <p:txBody>
          <a:bodyPr wrap="square" rtlCol="0" anchor="ctr"/>
          <a:lstStyle/>
          <a:p>
            <a:pPr marL="0" indent="0">
              <a:buNone/>
            </a:pPr>
            <a:r>
              <a:rPr lang="en-US" sz="1200" b="1" dirty="0">
                <a:solidFill>
                  <a:srgbClr val="1F4E79"/>
                </a:solidFill>
                <a:latin typeface="Calibri" pitchFamily="34" charset="0"/>
                <a:ea typeface="Calibri" pitchFamily="34" charset="-122"/>
                <a:cs typeface="Calibri" pitchFamily="34" charset="-120"/>
              </a:rPr>
              <a:t>Market Entry Strategy</a:t>
            </a:r>
            <a:endParaRPr lang="en-US" sz="1200" dirty="0"/>
          </a:p>
        </p:txBody>
      </p:sp>
      <p:sp>
        <p:nvSpPr>
          <p:cNvPr id="12" name="Shape 6"/>
          <p:cNvSpPr/>
          <p:nvPr/>
        </p:nvSpPr>
        <p:spPr>
          <a:xfrm>
            <a:off x="6903720" y="1188720"/>
            <a:ext cx="2057400" cy="1005840"/>
          </a:xfrm>
          <a:prstGeom prst="rect">
            <a:avLst/>
          </a:prstGeom>
          <a:solidFill>
            <a:srgbClr val="D6EAF8"/>
          </a:solidFill>
          <a:ln w="12700">
            <a:solidFill>
              <a:srgbClr val="A8C6E0"/>
            </a:solidFill>
            <a:prstDash val="solid"/>
          </a:ln>
        </p:spPr>
      </p:sp>
      <p:sp>
        <p:nvSpPr>
          <p:cNvPr id="13" name="Shape 7"/>
          <p:cNvSpPr/>
          <p:nvPr/>
        </p:nvSpPr>
        <p:spPr>
          <a:xfrm>
            <a:off x="6903720" y="1188720"/>
            <a:ext cx="2057400" cy="73152"/>
          </a:xfrm>
          <a:prstGeom prst="rect">
            <a:avLst/>
          </a:prstGeom>
          <a:solidFill>
            <a:srgbClr val="00B5C8"/>
          </a:solidFill>
          <a:ln w="12700">
            <a:solidFill>
              <a:srgbClr val="00B5C8"/>
            </a:solidFill>
            <a:prstDash val="solid"/>
          </a:ln>
        </p:spPr>
      </p:sp>
      <p:sp>
        <p:nvSpPr>
          <p:cNvPr id="14" name="Text 8"/>
          <p:cNvSpPr/>
          <p:nvPr/>
        </p:nvSpPr>
        <p:spPr>
          <a:xfrm>
            <a:off x="6949440" y="1243584"/>
            <a:ext cx="1965960" cy="256032"/>
          </a:xfrm>
          <a:prstGeom prst="rect">
            <a:avLst/>
          </a:prstGeom>
          <a:noFill/>
          <a:ln/>
        </p:spPr>
        <p:txBody>
          <a:bodyPr wrap="square" rtlCol="0" anchor="ctr"/>
          <a:lstStyle/>
          <a:p>
            <a:pPr marL="0" indent="0">
              <a:buNone/>
            </a:pPr>
            <a:r>
              <a:rPr lang="en-US" sz="1000" b="1" dirty="0">
                <a:solidFill>
                  <a:srgbClr val="007B8A"/>
                </a:solidFill>
                <a:latin typeface="Calibri" pitchFamily="34" charset="0"/>
                <a:ea typeface="Calibri" pitchFamily="34" charset="-122"/>
                <a:cs typeface="Calibri" pitchFamily="34" charset="-120"/>
              </a:rPr>
              <a:t>Phase 1</a:t>
            </a:r>
            <a:endParaRPr lang="en-US" sz="1000" dirty="0"/>
          </a:p>
        </p:txBody>
      </p:sp>
      <p:sp>
        <p:nvSpPr>
          <p:cNvPr id="15" name="Text 9"/>
          <p:cNvSpPr/>
          <p:nvPr/>
        </p:nvSpPr>
        <p:spPr>
          <a:xfrm>
            <a:off x="6949440" y="1472184"/>
            <a:ext cx="1965960" cy="256032"/>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B2G Social Housing</a:t>
            </a:r>
            <a:endParaRPr lang="en-US" sz="1100" dirty="0"/>
          </a:p>
        </p:txBody>
      </p:sp>
      <p:sp>
        <p:nvSpPr>
          <p:cNvPr id="16" name="Text 10"/>
          <p:cNvSpPr/>
          <p:nvPr/>
        </p:nvSpPr>
        <p:spPr>
          <a:xfrm>
            <a:off x="6949440" y="1709928"/>
            <a:ext cx="1965960" cy="42062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ESCO model, 15-yr performance contracts, government pilot</a:t>
            </a:r>
            <a:endParaRPr lang="en-US" sz="1000" dirty="0"/>
          </a:p>
        </p:txBody>
      </p:sp>
      <p:sp>
        <p:nvSpPr>
          <p:cNvPr id="17" name="Shape 11"/>
          <p:cNvSpPr/>
          <p:nvPr/>
        </p:nvSpPr>
        <p:spPr>
          <a:xfrm>
            <a:off x="6903720" y="2359152"/>
            <a:ext cx="2057400" cy="1005840"/>
          </a:xfrm>
          <a:prstGeom prst="rect">
            <a:avLst/>
          </a:prstGeom>
          <a:solidFill>
            <a:srgbClr val="D6EAF8"/>
          </a:solidFill>
          <a:ln w="12700">
            <a:solidFill>
              <a:srgbClr val="A8C6E0"/>
            </a:solidFill>
            <a:prstDash val="solid"/>
          </a:ln>
        </p:spPr>
      </p:sp>
      <p:sp>
        <p:nvSpPr>
          <p:cNvPr id="18" name="Shape 12"/>
          <p:cNvSpPr/>
          <p:nvPr/>
        </p:nvSpPr>
        <p:spPr>
          <a:xfrm>
            <a:off x="6903720" y="2359152"/>
            <a:ext cx="2057400" cy="73152"/>
          </a:xfrm>
          <a:prstGeom prst="rect">
            <a:avLst/>
          </a:prstGeom>
          <a:solidFill>
            <a:srgbClr val="00B5C8"/>
          </a:solidFill>
          <a:ln w="12700">
            <a:solidFill>
              <a:srgbClr val="00B5C8"/>
            </a:solidFill>
            <a:prstDash val="solid"/>
          </a:ln>
        </p:spPr>
      </p:sp>
      <p:sp>
        <p:nvSpPr>
          <p:cNvPr id="19" name="Text 13"/>
          <p:cNvSpPr/>
          <p:nvPr/>
        </p:nvSpPr>
        <p:spPr>
          <a:xfrm>
            <a:off x="6949440" y="2414016"/>
            <a:ext cx="1965960" cy="256032"/>
          </a:xfrm>
          <a:prstGeom prst="rect">
            <a:avLst/>
          </a:prstGeom>
          <a:noFill/>
          <a:ln/>
        </p:spPr>
        <p:txBody>
          <a:bodyPr wrap="square" rtlCol="0" anchor="ctr"/>
          <a:lstStyle/>
          <a:p>
            <a:pPr marL="0" indent="0">
              <a:buNone/>
            </a:pPr>
            <a:r>
              <a:rPr lang="en-US" sz="1000" b="1" dirty="0">
                <a:solidFill>
                  <a:srgbClr val="007B8A"/>
                </a:solidFill>
                <a:latin typeface="Calibri" pitchFamily="34" charset="0"/>
                <a:ea typeface="Calibri" pitchFamily="34" charset="-122"/>
                <a:cs typeface="Calibri" pitchFamily="34" charset="-120"/>
              </a:rPr>
              <a:t>Phase 2</a:t>
            </a:r>
            <a:endParaRPr lang="en-US" sz="1000" dirty="0"/>
          </a:p>
        </p:txBody>
      </p:sp>
      <p:sp>
        <p:nvSpPr>
          <p:cNvPr id="20" name="Text 14"/>
          <p:cNvSpPr/>
          <p:nvPr/>
        </p:nvSpPr>
        <p:spPr>
          <a:xfrm>
            <a:off x="6949440" y="2642616"/>
            <a:ext cx="1965960" cy="256032"/>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Premium New-Build</a:t>
            </a:r>
            <a:endParaRPr lang="en-US" sz="1100" dirty="0"/>
          </a:p>
        </p:txBody>
      </p:sp>
      <p:sp>
        <p:nvSpPr>
          <p:cNvPr id="21" name="Text 15"/>
          <p:cNvSpPr/>
          <p:nvPr/>
        </p:nvSpPr>
        <p:spPr>
          <a:xfrm>
            <a:off x="6949440" y="2880360"/>
            <a:ext cx="1965960" cy="42062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LEED / Pearl green building certification pathway</a:t>
            </a:r>
            <a:endParaRPr lang="en-US" sz="1000" dirty="0"/>
          </a:p>
        </p:txBody>
      </p:sp>
      <p:sp>
        <p:nvSpPr>
          <p:cNvPr id="22" name="Shape 16"/>
          <p:cNvSpPr/>
          <p:nvPr/>
        </p:nvSpPr>
        <p:spPr>
          <a:xfrm>
            <a:off x="6903720" y="3529584"/>
            <a:ext cx="2057400" cy="1005840"/>
          </a:xfrm>
          <a:prstGeom prst="rect">
            <a:avLst/>
          </a:prstGeom>
          <a:solidFill>
            <a:srgbClr val="D6EAF8"/>
          </a:solidFill>
          <a:ln w="12700">
            <a:solidFill>
              <a:srgbClr val="A8C6E0"/>
            </a:solidFill>
            <a:prstDash val="solid"/>
          </a:ln>
        </p:spPr>
      </p:sp>
      <p:sp>
        <p:nvSpPr>
          <p:cNvPr id="23" name="Shape 17"/>
          <p:cNvSpPr/>
          <p:nvPr/>
        </p:nvSpPr>
        <p:spPr>
          <a:xfrm>
            <a:off x="6903720" y="3529584"/>
            <a:ext cx="2057400" cy="73152"/>
          </a:xfrm>
          <a:prstGeom prst="rect">
            <a:avLst/>
          </a:prstGeom>
          <a:solidFill>
            <a:srgbClr val="00B5C8"/>
          </a:solidFill>
          <a:ln w="12700">
            <a:solidFill>
              <a:srgbClr val="00B5C8"/>
            </a:solidFill>
            <a:prstDash val="solid"/>
          </a:ln>
        </p:spPr>
      </p:sp>
      <p:sp>
        <p:nvSpPr>
          <p:cNvPr id="24" name="Text 18"/>
          <p:cNvSpPr/>
          <p:nvPr/>
        </p:nvSpPr>
        <p:spPr>
          <a:xfrm>
            <a:off x="6949440" y="3584448"/>
            <a:ext cx="1965960" cy="256032"/>
          </a:xfrm>
          <a:prstGeom prst="rect">
            <a:avLst/>
          </a:prstGeom>
          <a:noFill/>
          <a:ln/>
        </p:spPr>
        <p:txBody>
          <a:bodyPr wrap="square" rtlCol="0" anchor="ctr"/>
          <a:lstStyle/>
          <a:p>
            <a:pPr marL="0" indent="0">
              <a:buNone/>
            </a:pPr>
            <a:r>
              <a:rPr lang="en-US" sz="1000" b="1" dirty="0">
                <a:solidFill>
                  <a:srgbClr val="007B8A"/>
                </a:solidFill>
                <a:latin typeface="Calibri" pitchFamily="34" charset="0"/>
                <a:ea typeface="Calibri" pitchFamily="34" charset="-122"/>
                <a:cs typeface="Calibri" pitchFamily="34" charset="-120"/>
              </a:rPr>
              <a:t>Phase 3</a:t>
            </a:r>
            <a:endParaRPr lang="en-US" sz="1000" dirty="0"/>
          </a:p>
        </p:txBody>
      </p:sp>
      <p:sp>
        <p:nvSpPr>
          <p:cNvPr id="25" name="Text 19"/>
          <p:cNvSpPr/>
          <p:nvPr/>
        </p:nvSpPr>
        <p:spPr>
          <a:xfrm>
            <a:off x="6949440" y="3813048"/>
            <a:ext cx="1965960" cy="256032"/>
          </a:xfrm>
          <a:prstGeom prst="rect">
            <a:avLst/>
          </a:prstGeom>
          <a:noFill/>
          <a:ln/>
        </p:spPr>
        <p:txBody>
          <a:bodyPr wrap="square" rtlCol="0" anchor="ctr"/>
          <a:lstStyle/>
          <a:p>
            <a:pPr marL="0" indent="0">
              <a:buNone/>
            </a:pPr>
            <a:r>
              <a:rPr lang="en-US" sz="1100" b="1" dirty="0">
                <a:solidFill>
                  <a:srgbClr val="1F4E79"/>
                </a:solidFill>
                <a:latin typeface="Calibri" pitchFamily="34" charset="0"/>
                <a:ea typeface="Calibri" pitchFamily="34" charset="-122"/>
                <a:cs typeface="Calibri" pitchFamily="34" charset="-120"/>
              </a:rPr>
              <a:t>Retail B2C ESCO</a:t>
            </a:r>
            <a:endParaRPr lang="en-US" sz="1100" dirty="0"/>
          </a:p>
        </p:txBody>
      </p:sp>
      <p:sp>
        <p:nvSpPr>
          <p:cNvPr id="26" name="Text 20"/>
          <p:cNvSpPr/>
          <p:nvPr/>
        </p:nvSpPr>
        <p:spPr>
          <a:xfrm>
            <a:off x="6949440" y="4050792"/>
            <a:ext cx="1965960" cy="42062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Financed products after verified performance track record</a:t>
            </a:r>
            <a:endParaRPr lang="en-US" sz="1000" dirty="0"/>
          </a:p>
        </p:txBody>
      </p:sp>
      <p:sp>
        <p:nvSpPr>
          <p:cNvPr id="27" name="Shape 21"/>
          <p:cNvSpPr/>
          <p:nvPr/>
        </p:nvSpPr>
        <p:spPr>
          <a:xfrm>
            <a:off x="6903720" y="4727448"/>
            <a:ext cx="2057400" cy="292608"/>
          </a:xfrm>
          <a:prstGeom prst="rect">
            <a:avLst/>
          </a:prstGeom>
          <a:solidFill>
            <a:srgbClr val="00B5C8"/>
          </a:solidFill>
          <a:ln w="12700">
            <a:solidFill>
              <a:srgbClr val="00B5C8"/>
            </a:solidFill>
            <a:prstDash val="solid"/>
          </a:ln>
        </p:spPr>
      </p:sp>
      <p:sp>
        <p:nvSpPr>
          <p:cNvPr id="28" name="Text 22"/>
          <p:cNvSpPr/>
          <p:nvPr/>
        </p:nvSpPr>
        <p:spPr>
          <a:xfrm>
            <a:off x="6922008" y="4727448"/>
            <a:ext cx="202996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TAM: 150M+ BHD/yr</a:t>
            </a:r>
            <a:endParaRPr lang="en-US" sz="1100" dirty="0"/>
          </a:p>
        </p:txBody>
      </p:sp>
      <p:sp>
        <p:nvSpPr>
          <p:cNvPr id="29" name="Text 23"/>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LimitsFuture">
    <p:bg>
      <p:bgPr>
        <a:solidFill>
          <a:srgbClr val="FFFFFF"/>
        </a:solidFill>
        <a:effectLst/>
      </p:bgPr>
    </p:bg>
    <p:spTree>
      <p:nvGrpSpPr>
        <p:cNvPr id="1" name=""/>
        <p:cNvGrpSpPr/>
        <p:nvPr/>
      </p:nvGrpSpPr>
      <p:grpSpPr>
        <a:xfrm>
          <a:off x="0" y="0"/>
          <a:ext cx="0" cy="0"/>
          <a:chOff x="0" y="0"/>
          <a:chExt cx="0" cy="0"/>
        </a:xfrm>
      </p:grpSpPr>
      <p:sp>
        <p:nvSpPr>
          <p:cNvPr id="2" name="TBg"/>
          <p:cNvSpPr/>
          <p:nvPr/>
        </p:nvSpPr>
        <p:spPr>
          <a:xfrm>
            <a:off x="777240" y="73152"/>
            <a:ext cx="7315200" cy="566928"/>
          </a:xfrm>
          <a:prstGeom prst="rect">
            <a:avLst/>
          </a:prstGeom>
          <a:solidFill>
            <a:srgbClr val="1B2A5E"/>
          </a:solidFill>
          <a:ln w="12700">
            <a:solidFill>
              <a:srgbClr val="1B2A5E"/>
            </a:solidFill>
          </a:ln>
        </p:spPr>
      </p:sp>
      <p:sp>
        <p:nvSpPr>
          <p:cNvPr id="3" name="TTxt"/>
          <p:cNvSpPr/>
          <p:nvPr/>
        </p:nvSpPr>
        <p:spPr>
          <a:xfrm>
            <a:off x="804672" y="73152"/>
            <a:ext cx="7287768"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rPr>
              <a:t>Limitations &amp; Future Work</a:t>
            </a:r>
          </a:p>
        </p:txBody>
      </p:sp>
      <p:sp>
        <p:nvSpPr>
          <p:cNvPr id="4" name="OBar"/>
          <p:cNvSpPr/>
          <p:nvPr/>
        </p:nvSpPr>
        <p:spPr>
          <a:xfrm>
            <a:off x="777240" y="640080"/>
            <a:ext cx="7315200" cy="73152"/>
          </a:xfrm>
          <a:prstGeom prst="rect">
            <a:avLst/>
          </a:prstGeom>
          <a:solidFill>
            <a:srgbClr val="D35400"/>
          </a:solidFill>
          <a:ln w="12700">
            <a:solidFill>
              <a:srgbClr val="D35400"/>
            </a:solidFill>
          </a:ln>
        </p:spPr>
      </p:sp>
      <p:sp>
        <p:nvSpPr>
          <p:cNvPr id="5" name="LimHdr"/>
          <p:cNvSpPr/>
          <p:nvPr/>
        </p:nvSpPr>
        <p:spPr>
          <a:xfrm>
            <a:off x="777240" y="768096"/>
            <a:ext cx="3840480" cy="292608"/>
          </a:xfrm>
          <a:prstGeom prst="rect">
            <a:avLst/>
          </a:prstGeom>
          <a:solidFill>
            <a:srgbClr val="922B21"/>
          </a:solidFill>
          <a:ln w="12700">
            <a:solidFill>
              <a:srgbClr val="922B21"/>
            </a:solidFill>
          </a:ln>
        </p:spPr>
      </p:sp>
      <p:sp>
        <p:nvSpPr>
          <p:cNvPr id="6" name="LimHdrT"/>
          <p:cNvSpPr/>
          <p:nvPr/>
        </p:nvSpPr>
        <p:spPr>
          <a:xfrm>
            <a:off x="822960" y="768096"/>
            <a:ext cx="379476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rPr>
              <a:t>⚠ Study Limitations</a:t>
            </a:r>
          </a:p>
        </p:txBody>
      </p:sp>
      <p:sp>
        <p:nvSpPr>
          <p:cNvPr id="7" name="L1Bg"/>
          <p:cNvSpPr/>
          <p:nvPr/>
        </p:nvSpPr>
        <p:spPr>
          <a:xfrm>
            <a:off x="777240" y="1097280"/>
            <a:ext cx="3840480" cy="475000"/>
          </a:xfrm>
          <a:prstGeom prst="rect">
            <a:avLst/>
          </a:prstGeom>
          <a:solidFill>
            <a:srgbClr val="FDEDEC"/>
          </a:solidFill>
          <a:ln w="9525">
            <a:solidFill>
              <a:srgbClr val="F1948A"/>
            </a:solidFill>
          </a:ln>
        </p:spPr>
      </p:sp>
      <p:sp>
        <p:nvSpPr>
          <p:cNvPr id="8" name="L1Bar"/>
          <p:cNvSpPr/>
          <p:nvPr/>
        </p:nvSpPr>
        <p:spPr>
          <a:xfrm>
            <a:off x="777240" y="1097280"/>
            <a:ext cx="54864" cy="475000"/>
          </a:xfrm>
          <a:prstGeom prst="rect">
            <a:avLst/>
          </a:prstGeom>
          <a:solidFill>
            <a:srgbClr val="922B21"/>
          </a:solidFill>
          <a:ln w="12700">
            <a:solidFill>
              <a:srgbClr val="922B21"/>
            </a:solidFill>
          </a:ln>
        </p:spPr>
      </p:sp>
      <p:sp>
        <p:nvSpPr>
          <p:cNvPr id="9" name="L1Txt"/>
          <p:cNvSpPr/>
          <p:nvPr/>
        </p:nvSpPr>
        <p:spPr>
          <a:xfrm>
            <a:off x="868680" y="1110000"/>
            <a:ext cx="3730320" cy="450000"/>
          </a:xfrm>
          <a:prstGeom prst="rect">
            <a:avLst/>
          </a:prstGeom>
          <a:noFill/>
          <a:ln/>
        </p:spPr>
        <p:txBody>
          <a:bodyPr wrap="square" rtlCol="0" anchor="t"/>
          <a:lstStyle/>
          <a:p>
            <a:pPr marL="0" indent="0">
              <a:buNone/>
            </a:pPr>
            <a:r>
              <a:rPr lang="en-US" sz="1150" b="1" dirty="0">
                <a:solidFill>
                  <a:srgbClr val="922B21"/>
                </a:solidFill>
                <a:latin typeface="Calibri" pitchFamily="34" charset="0"/>
              </a:rPr>
              <a:t>Single-Site TMY Weather</a:t>
            </a:r>
          </a:p>
          <a:p>
            <a:pPr marL="0" indent="0">
              <a:buNone/>
            </a:pPr>
            <a:r>
              <a:rPr lang="en-US" sz="1000" dirty="0">
                <a:solidFill>
                  <a:srgbClr val="555555"/>
                </a:solidFill>
                <a:latin typeface="Calibri" pitchFamily="34" charset="0"/>
              </a:rPr>
              <a:t>Simulation uses TMY data for Manama only; performance at other GCC sites (Riyadh, Abu Dhabi) not validated.</a:t>
            </a:r>
          </a:p>
        </p:txBody>
      </p:sp>
      <p:sp>
        <p:nvSpPr>
          <p:cNvPr id="10" name="L2Bg"/>
          <p:cNvSpPr/>
          <p:nvPr/>
        </p:nvSpPr>
        <p:spPr>
          <a:xfrm>
            <a:off x="777240" y="1609280"/>
            <a:ext cx="3840480" cy="475000"/>
          </a:xfrm>
          <a:prstGeom prst="rect">
            <a:avLst/>
          </a:prstGeom>
          <a:solidFill>
            <a:srgbClr val="FDEDEC"/>
          </a:solidFill>
          <a:ln w="9525">
            <a:solidFill>
              <a:srgbClr val="F1948A"/>
            </a:solidFill>
          </a:ln>
        </p:spPr>
      </p:sp>
      <p:sp>
        <p:nvSpPr>
          <p:cNvPr id="11" name="L2Bar"/>
          <p:cNvSpPr/>
          <p:nvPr/>
        </p:nvSpPr>
        <p:spPr>
          <a:xfrm>
            <a:off x="777240" y="1609280"/>
            <a:ext cx="54864" cy="475000"/>
          </a:xfrm>
          <a:prstGeom prst="rect">
            <a:avLst/>
          </a:prstGeom>
          <a:solidFill>
            <a:srgbClr val="922B21"/>
          </a:solidFill>
          <a:ln w="12700">
            <a:solidFill>
              <a:srgbClr val="922B21"/>
            </a:solidFill>
          </a:ln>
        </p:spPr>
      </p:sp>
      <p:sp>
        <p:nvSpPr>
          <p:cNvPr id="12" name="L2Txt"/>
          <p:cNvSpPr/>
          <p:nvPr/>
        </p:nvSpPr>
        <p:spPr>
          <a:xfrm>
            <a:off x="868680" y="1622000"/>
            <a:ext cx="3730320" cy="450000"/>
          </a:xfrm>
          <a:prstGeom prst="rect">
            <a:avLst/>
          </a:prstGeom>
          <a:noFill/>
          <a:ln/>
        </p:spPr>
        <p:txBody>
          <a:bodyPr wrap="square" rtlCol="0" anchor="t"/>
          <a:lstStyle/>
          <a:p>
            <a:pPr marL="0" indent="0">
              <a:buNone/>
            </a:pPr>
            <a:r>
              <a:rPr lang="en-US" sz="1150" b="1" dirty="0">
                <a:solidFill>
                  <a:srgbClr val="922B21"/>
                </a:solidFill>
                <a:latin typeface="Calibri" pitchFamily="34" charset="0"/>
              </a:rPr>
              <a:t>Steady-State Drilling Cost Model</a:t>
            </a:r>
          </a:p>
          <a:p>
            <a:pPr marL="0" indent="0">
              <a:buNone/>
            </a:pPr>
            <a:r>
              <a:rPr lang="en-US" sz="1000" dirty="0">
                <a:solidFill>
                  <a:srgbClr val="555555"/>
                </a:solidFill>
                <a:latin typeface="Calibri" pitchFamily="34" charset="0"/>
              </a:rPr>
              <a:t>CAPEX estimates assume fixed BHD 35/m drilling rate; actual costs depend on local geology not fully characterised in Bahrain.</a:t>
            </a:r>
          </a:p>
        </p:txBody>
      </p:sp>
      <p:sp>
        <p:nvSpPr>
          <p:cNvPr id="13" name="L3Bg"/>
          <p:cNvSpPr/>
          <p:nvPr/>
        </p:nvSpPr>
        <p:spPr>
          <a:xfrm>
            <a:off x="777240" y="2121280"/>
            <a:ext cx="3840480" cy="475000"/>
          </a:xfrm>
          <a:prstGeom prst="rect">
            <a:avLst/>
          </a:prstGeom>
          <a:solidFill>
            <a:srgbClr val="FDEDEC"/>
          </a:solidFill>
          <a:ln w="9525">
            <a:solidFill>
              <a:srgbClr val="F1948A"/>
            </a:solidFill>
          </a:ln>
        </p:spPr>
      </p:sp>
      <p:sp>
        <p:nvSpPr>
          <p:cNvPr id="14" name="L3Bar"/>
          <p:cNvSpPr/>
          <p:nvPr/>
        </p:nvSpPr>
        <p:spPr>
          <a:xfrm>
            <a:off x="777240" y="2121280"/>
            <a:ext cx="54864" cy="475000"/>
          </a:xfrm>
          <a:prstGeom prst="rect">
            <a:avLst/>
          </a:prstGeom>
          <a:solidFill>
            <a:srgbClr val="922B21"/>
          </a:solidFill>
          <a:ln w="12700">
            <a:solidFill>
              <a:srgbClr val="922B21"/>
            </a:solidFill>
          </a:ln>
        </p:spPr>
      </p:sp>
      <p:sp>
        <p:nvSpPr>
          <p:cNvPr id="15" name="L3Txt"/>
          <p:cNvSpPr/>
          <p:nvPr/>
        </p:nvSpPr>
        <p:spPr>
          <a:xfrm>
            <a:off x="868680" y="2134000"/>
            <a:ext cx="3730320" cy="450000"/>
          </a:xfrm>
          <a:prstGeom prst="rect">
            <a:avLst/>
          </a:prstGeom>
          <a:noFill/>
          <a:ln/>
        </p:spPr>
        <p:txBody>
          <a:bodyPr wrap="square" rtlCol="0" anchor="t"/>
          <a:lstStyle/>
          <a:p>
            <a:pPr marL="0" indent="0">
              <a:buNone/>
            </a:pPr>
            <a:r>
              <a:rPr lang="en-US" sz="1150" b="1" dirty="0">
                <a:solidFill>
                  <a:srgbClr val="922B21"/>
                </a:solidFill>
                <a:latin typeface="Calibri" pitchFamily="34" charset="0"/>
              </a:rPr>
              <a:t>Single Building Archetype</a:t>
            </a:r>
          </a:p>
          <a:p>
            <a:pPr marL="0" indent="0">
              <a:buNone/>
            </a:pPr>
            <a:r>
              <a:rPr lang="en-US" sz="1000" dirty="0">
                <a:solidFill>
                  <a:srgbClr val="555555"/>
                </a:solidFill>
                <a:latin typeface="Calibri" pitchFamily="34" charset="0"/>
              </a:rPr>
              <a:t>Results optimised for 300 m² residential villa only; applicability to commercial or high-rise buildings requires separate parametric study.</a:t>
            </a:r>
          </a:p>
        </p:txBody>
      </p:sp>
      <p:sp>
        <p:nvSpPr>
          <p:cNvPr id="16" name="L4Bg"/>
          <p:cNvSpPr/>
          <p:nvPr/>
        </p:nvSpPr>
        <p:spPr>
          <a:xfrm>
            <a:off x="777240" y="2633280"/>
            <a:ext cx="3840480" cy="475000"/>
          </a:xfrm>
          <a:prstGeom prst="rect">
            <a:avLst/>
          </a:prstGeom>
          <a:solidFill>
            <a:srgbClr val="FDEDEC"/>
          </a:solidFill>
          <a:ln w="9525">
            <a:solidFill>
              <a:srgbClr val="F1948A"/>
            </a:solidFill>
          </a:ln>
        </p:spPr>
      </p:sp>
      <p:sp>
        <p:nvSpPr>
          <p:cNvPr id="17" name="L4Bar"/>
          <p:cNvSpPr/>
          <p:nvPr/>
        </p:nvSpPr>
        <p:spPr>
          <a:xfrm>
            <a:off x="777240" y="2633280"/>
            <a:ext cx="54864" cy="475000"/>
          </a:xfrm>
          <a:prstGeom prst="rect">
            <a:avLst/>
          </a:prstGeom>
          <a:solidFill>
            <a:srgbClr val="922B21"/>
          </a:solidFill>
          <a:ln w="12700">
            <a:solidFill>
              <a:srgbClr val="922B21"/>
            </a:solidFill>
          </a:ln>
        </p:spPr>
      </p:sp>
      <p:sp>
        <p:nvSpPr>
          <p:cNvPr id="18" name="L4Txt"/>
          <p:cNvSpPr/>
          <p:nvPr/>
        </p:nvSpPr>
        <p:spPr>
          <a:xfrm>
            <a:off x="868680" y="2646000"/>
            <a:ext cx="3730320" cy="450000"/>
          </a:xfrm>
          <a:prstGeom prst="rect">
            <a:avLst/>
          </a:prstGeom>
          <a:noFill/>
          <a:ln/>
        </p:spPr>
        <p:txBody>
          <a:bodyPr wrap="square" rtlCol="0" anchor="t"/>
          <a:lstStyle/>
          <a:p>
            <a:pPr marL="0" indent="0">
              <a:buNone/>
            </a:pPr>
            <a:r>
              <a:rPr lang="en-US" sz="1150" b="1" dirty="0">
                <a:solidFill>
                  <a:srgbClr val="922B21"/>
                </a:solidFill>
                <a:latin typeface="Calibri" pitchFamily="34" charset="0"/>
              </a:rPr>
              <a:t>No Physical Prototype Validation</a:t>
            </a:r>
          </a:p>
          <a:p>
            <a:pPr marL="0" indent="0">
              <a:buNone/>
            </a:pPr>
            <a:r>
              <a:rPr lang="en-US" sz="1000" dirty="0">
                <a:solidFill>
                  <a:srgbClr val="555555"/>
                </a:solidFill>
                <a:latin typeface="Calibri" pitchFamily="34" charset="0"/>
              </a:rPr>
              <a:t>All results are simulation-based; a field-installed pilot installation is required to confirm real-world SCOP and borehole drift behaviour.</a:t>
            </a:r>
          </a:p>
        </p:txBody>
      </p:sp>
      <p:sp>
        <p:nvSpPr>
          <p:cNvPr id="20" name="FWHdr"/>
          <p:cNvSpPr/>
          <p:nvPr/>
        </p:nvSpPr>
        <p:spPr>
          <a:xfrm>
            <a:off x="4709040" y="768096"/>
            <a:ext cx="3687960" cy="292608"/>
          </a:xfrm>
          <a:prstGeom prst="rect">
            <a:avLst/>
          </a:prstGeom>
          <a:solidFill>
            <a:srgbClr val="00B5C8"/>
          </a:solidFill>
          <a:ln w="12700">
            <a:solidFill>
              <a:srgbClr val="007A8A"/>
            </a:solidFill>
          </a:ln>
        </p:spPr>
      </p:sp>
      <p:sp>
        <p:nvSpPr>
          <p:cNvPr id="21" name="FWHdrT"/>
          <p:cNvSpPr/>
          <p:nvPr/>
        </p:nvSpPr>
        <p:spPr>
          <a:xfrm>
            <a:off x="4754760" y="768096"/>
            <a:ext cx="364124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rPr>
              <a:t>🔭 Future Research Directions</a:t>
            </a:r>
          </a:p>
        </p:txBody>
      </p:sp>
      <p:sp>
        <p:nvSpPr>
          <p:cNvPr id="22" name="F1Bg"/>
          <p:cNvSpPr/>
          <p:nvPr/>
        </p:nvSpPr>
        <p:spPr>
          <a:xfrm>
            <a:off x="4709040" y="1097280"/>
            <a:ext cx="3687960" cy="384048"/>
          </a:xfrm>
          <a:prstGeom prst="rect">
            <a:avLst/>
          </a:prstGeom>
          <a:solidFill>
            <a:srgbClr val="E8F8F5"/>
          </a:solidFill>
          <a:ln w="9525">
            <a:solidFill>
              <a:srgbClr val="A2D9CE"/>
            </a:solidFill>
          </a:ln>
        </p:spPr>
      </p:sp>
      <p:sp>
        <p:nvSpPr>
          <p:cNvPr id="23" name="F1Num"/>
          <p:cNvSpPr/>
          <p:nvPr/>
        </p:nvSpPr>
        <p:spPr>
          <a:xfrm>
            <a:off x="4709040" y="1097280"/>
            <a:ext cx="292608" cy="384048"/>
          </a:xfrm>
          <a:prstGeom prst="rect">
            <a:avLst/>
          </a:prstGeom>
          <a:solidFill>
            <a:srgbClr val="00B5C8"/>
          </a:solidFill>
          <a:ln w="12700">
            <a:solidFill>
              <a:srgbClr val="00B5C8"/>
            </a:solidFill>
          </a:ln>
        </p:spPr>
      </p:sp>
      <p:sp>
        <p:nvSpPr>
          <p:cNvPr id="24" name="F1NumT"/>
          <p:cNvSpPr/>
          <p:nvPr/>
        </p:nvSpPr>
        <p:spPr>
          <a:xfrm>
            <a:off x="4709040" y="1097280"/>
            <a:ext cx="29260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rPr>
              <a:t>01</a:t>
            </a:r>
          </a:p>
        </p:txBody>
      </p:sp>
      <p:sp>
        <p:nvSpPr>
          <p:cNvPr id="25" name="F1Txt"/>
          <p:cNvSpPr/>
          <p:nvPr/>
        </p:nvSpPr>
        <p:spPr>
          <a:xfrm>
            <a:off x="5047000" y="1110000"/>
            <a:ext cx="3330000" cy="360000"/>
          </a:xfrm>
          <a:prstGeom prst="rect">
            <a:avLst/>
          </a:prstGeom>
          <a:noFill/>
          <a:ln/>
        </p:spPr>
        <p:txBody>
          <a:bodyPr wrap="square" rtlCol="0" anchor="ctr"/>
          <a:lstStyle/>
          <a:p>
            <a:pPr marL="0" indent="0">
              <a:buNone/>
            </a:pPr>
            <a:r>
              <a:rPr lang="en-US" sz="1100" b="1" dirty="0">
                <a:solidFill>
                  <a:srgbClr val="1B2A5E"/>
                </a:solidFill>
                <a:latin typeface="Calibri" pitchFamily="34" charset="0"/>
              </a:rPr>
              <a:t>Pilot Installation in Bahrain</a:t>
            </a:r>
          </a:p>
          <a:p>
            <a:pPr marL="0" indent="0">
              <a:buNone/>
            </a:pPr>
            <a:r>
              <a:rPr lang="en-US" sz="950" dirty="0">
                <a:solidFill>
                  <a:srgbClr val="555555"/>
                </a:solidFill>
                <a:latin typeface="Calibri" pitchFamily="34" charset="0"/>
              </a:rPr>
              <a:t>Instrument a residential SA-GSHP to validate TRNSYS outputs in real-world conditions.</a:t>
            </a:r>
          </a:p>
        </p:txBody>
      </p:sp>
      <p:sp>
        <p:nvSpPr>
          <p:cNvPr id="26" name="F2Bg"/>
          <p:cNvSpPr/>
          <p:nvPr/>
        </p:nvSpPr>
        <p:spPr>
          <a:xfrm>
            <a:off x="4709040" y="1517328"/>
            <a:ext cx="3687960" cy="384048"/>
          </a:xfrm>
          <a:prstGeom prst="rect">
            <a:avLst/>
          </a:prstGeom>
          <a:solidFill>
            <a:srgbClr val="E8F8F5"/>
          </a:solidFill>
          <a:ln w="9525">
            <a:solidFill>
              <a:srgbClr val="A2D9CE"/>
            </a:solidFill>
          </a:ln>
        </p:spPr>
      </p:sp>
      <p:sp>
        <p:nvSpPr>
          <p:cNvPr id="27" name="F2Num"/>
          <p:cNvSpPr/>
          <p:nvPr/>
        </p:nvSpPr>
        <p:spPr>
          <a:xfrm>
            <a:off x="4709040" y="1517328"/>
            <a:ext cx="292608" cy="384048"/>
          </a:xfrm>
          <a:prstGeom prst="rect">
            <a:avLst/>
          </a:prstGeom>
          <a:solidFill>
            <a:srgbClr val="00B5C8"/>
          </a:solidFill>
          <a:ln w="12700">
            <a:solidFill>
              <a:srgbClr val="00B5C8"/>
            </a:solidFill>
          </a:ln>
        </p:spPr>
      </p:sp>
      <p:sp>
        <p:nvSpPr>
          <p:cNvPr id="28" name="F2NumT"/>
          <p:cNvSpPr/>
          <p:nvPr/>
        </p:nvSpPr>
        <p:spPr>
          <a:xfrm>
            <a:off x="4709040" y="1517328"/>
            <a:ext cx="29260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rPr>
              <a:t>02</a:t>
            </a:r>
          </a:p>
        </p:txBody>
      </p:sp>
      <p:sp>
        <p:nvSpPr>
          <p:cNvPr id="29" name="F2Txt"/>
          <p:cNvSpPr/>
          <p:nvPr/>
        </p:nvSpPr>
        <p:spPr>
          <a:xfrm>
            <a:off x="5047000" y="1530000"/>
            <a:ext cx="3330000" cy="360000"/>
          </a:xfrm>
          <a:prstGeom prst="rect">
            <a:avLst/>
          </a:prstGeom>
          <a:noFill/>
          <a:ln/>
        </p:spPr>
        <p:txBody>
          <a:bodyPr wrap="square" rtlCol="0" anchor="ctr"/>
          <a:lstStyle/>
          <a:p>
            <a:pPr marL="0" indent="0">
              <a:buNone/>
            </a:pPr>
            <a:r>
              <a:rPr lang="en-US" sz="1100" b="1" dirty="0">
                <a:solidFill>
                  <a:srgbClr val="1B2A5E"/>
                </a:solidFill>
                <a:latin typeface="Calibri" pitchFamily="34" charset="0"/>
              </a:rPr>
              <a:t>Multi-Site GCC Parametric Study</a:t>
            </a:r>
          </a:p>
          <a:p>
            <a:pPr marL="0" indent="0">
              <a:buNone/>
            </a:pPr>
            <a:r>
              <a:rPr lang="en-US" sz="950" dirty="0">
                <a:solidFill>
                  <a:srgbClr val="555555"/>
                </a:solidFill>
                <a:latin typeface="Calibri" pitchFamily="34" charset="0"/>
              </a:rPr>
              <a:t>Extend model to Riyadh, Abu Dhabi, and Kuwait City to assess regional applicability.</a:t>
            </a:r>
          </a:p>
        </p:txBody>
      </p:sp>
      <p:sp>
        <p:nvSpPr>
          <p:cNvPr id="30" name="F3Bg"/>
          <p:cNvSpPr/>
          <p:nvPr/>
        </p:nvSpPr>
        <p:spPr>
          <a:xfrm>
            <a:off x="4709040" y="1937376"/>
            <a:ext cx="3687960" cy="384048"/>
          </a:xfrm>
          <a:prstGeom prst="rect">
            <a:avLst/>
          </a:prstGeom>
          <a:solidFill>
            <a:srgbClr val="E8F8F5"/>
          </a:solidFill>
          <a:ln w="9525">
            <a:solidFill>
              <a:srgbClr val="A2D9CE"/>
            </a:solidFill>
          </a:ln>
        </p:spPr>
      </p:sp>
      <p:sp>
        <p:nvSpPr>
          <p:cNvPr id="31" name="F3Num"/>
          <p:cNvSpPr/>
          <p:nvPr/>
        </p:nvSpPr>
        <p:spPr>
          <a:xfrm>
            <a:off x="4709040" y="1937376"/>
            <a:ext cx="292608" cy="384048"/>
          </a:xfrm>
          <a:prstGeom prst="rect">
            <a:avLst/>
          </a:prstGeom>
          <a:solidFill>
            <a:srgbClr val="00B5C8"/>
          </a:solidFill>
          <a:ln w="12700">
            <a:solidFill>
              <a:srgbClr val="00B5C8"/>
            </a:solidFill>
          </a:ln>
        </p:spPr>
      </p:sp>
      <p:sp>
        <p:nvSpPr>
          <p:cNvPr id="32" name="F3NumT"/>
          <p:cNvSpPr/>
          <p:nvPr/>
        </p:nvSpPr>
        <p:spPr>
          <a:xfrm>
            <a:off x="4709040" y="1937376"/>
            <a:ext cx="29260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rPr>
              <a:t>03</a:t>
            </a:r>
          </a:p>
        </p:txBody>
      </p:sp>
      <p:sp>
        <p:nvSpPr>
          <p:cNvPr id="33" name="F3Txt"/>
          <p:cNvSpPr/>
          <p:nvPr/>
        </p:nvSpPr>
        <p:spPr>
          <a:xfrm>
            <a:off x="5047000" y="1950000"/>
            <a:ext cx="3330000" cy="360000"/>
          </a:xfrm>
          <a:prstGeom prst="rect">
            <a:avLst/>
          </a:prstGeom>
          <a:noFill/>
          <a:ln/>
        </p:spPr>
        <p:txBody>
          <a:bodyPr wrap="square" rtlCol="0" anchor="ctr"/>
          <a:lstStyle/>
          <a:p>
            <a:pPr marL="0" indent="0">
              <a:buNone/>
            </a:pPr>
            <a:r>
              <a:rPr lang="en-US" sz="1100" b="1" dirty="0">
                <a:solidFill>
                  <a:srgbClr val="1B2A5E"/>
                </a:solidFill>
                <a:latin typeface="Calibri" pitchFamily="34" charset="0"/>
              </a:rPr>
              <a:t>PVT Hybrid Collector Integration</a:t>
            </a:r>
          </a:p>
          <a:p>
            <a:pPr marL="0" indent="0">
              <a:buNone/>
            </a:pPr>
            <a:r>
              <a:rPr lang="en-US" sz="950" dirty="0">
                <a:solidFill>
                  <a:srgbClr val="555555"/>
                </a:solidFill>
                <a:latin typeface="Calibri" pitchFamily="34" charset="0"/>
              </a:rPr>
              <a:t>Replace flat-plate collectors with PV-thermal (PVT) panels for simultaneous electricity and thermal regeneration.</a:t>
            </a:r>
          </a:p>
        </p:txBody>
      </p:sp>
      <p:sp>
        <p:nvSpPr>
          <p:cNvPr id="34" name="F4Bg"/>
          <p:cNvSpPr/>
          <p:nvPr/>
        </p:nvSpPr>
        <p:spPr>
          <a:xfrm>
            <a:off x="4709040" y="2357424"/>
            <a:ext cx="3687960" cy="384048"/>
          </a:xfrm>
          <a:prstGeom prst="rect">
            <a:avLst/>
          </a:prstGeom>
          <a:solidFill>
            <a:srgbClr val="E8F8F5"/>
          </a:solidFill>
          <a:ln w="9525">
            <a:solidFill>
              <a:srgbClr val="A2D9CE"/>
            </a:solidFill>
          </a:ln>
        </p:spPr>
      </p:sp>
      <p:sp>
        <p:nvSpPr>
          <p:cNvPr id="35" name="F4Num"/>
          <p:cNvSpPr/>
          <p:nvPr/>
        </p:nvSpPr>
        <p:spPr>
          <a:xfrm>
            <a:off x="4709040" y="2357424"/>
            <a:ext cx="292608" cy="384048"/>
          </a:xfrm>
          <a:prstGeom prst="rect">
            <a:avLst/>
          </a:prstGeom>
          <a:solidFill>
            <a:srgbClr val="00B5C8"/>
          </a:solidFill>
          <a:ln w="12700">
            <a:solidFill>
              <a:srgbClr val="00B5C8"/>
            </a:solidFill>
          </a:ln>
        </p:spPr>
      </p:sp>
      <p:sp>
        <p:nvSpPr>
          <p:cNvPr id="36" name="F4NumT"/>
          <p:cNvSpPr/>
          <p:nvPr/>
        </p:nvSpPr>
        <p:spPr>
          <a:xfrm>
            <a:off x="4709040" y="2357424"/>
            <a:ext cx="29260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rPr>
              <a:t>04</a:t>
            </a:r>
          </a:p>
        </p:txBody>
      </p:sp>
      <p:sp>
        <p:nvSpPr>
          <p:cNvPr id="37" name="F4Txt"/>
          <p:cNvSpPr/>
          <p:nvPr/>
        </p:nvSpPr>
        <p:spPr>
          <a:xfrm>
            <a:off x="5047000" y="2370000"/>
            <a:ext cx="3330000" cy="360000"/>
          </a:xfrm>
          <a:prstGeom prst="rect">
            <a:avLst/>
          </a:prstGeom>
          <a:noFill/>
          <a:ln/>
        </p:spPr>
        <p:txBody>
          <a:bodyPr wrap="square" rtlCol="0" anchor="ctr"/>
          <a:lstStyle/>
          <a:p>
            <a:pPr marL="0" indent="0">
              <a:buNone/>
            </a:pPr>
            <a:r>
              <a:rPr lang="en-US" sz="1100" b="1" dirty="0">
                <a:solidFill>
                  <a:srgbClr val="1B2A5E"/>
                </a:solidFill>
                <a:latin typeface="Calibri" pitchFamily="34" charset="0"/>
              </a:rPr>
              <a:t>AI-Based Predictive Control</a:t>
            </a:r>
          </a:p>
          <a:p>
            <a:pPr marL="0" indent="0">
              <a:buNone/>
            </a:pPr>
            <a:r>
              <a:rPr lang="en-US" sz="950" dirty="0">
                <a:solidFill>
                  <a:srgbClr val="555555"/>
                </a:solidFill>
                <a:latin typeface="Calibri" pitchFamily="34" charset="0"/>
              </a:rPr>
              <a:t>Implement ML-driven Model Predictive Control (MPC) to optimise solar regeneration scheduling in real time.</a:t>
            </a:r>
          </a:p>
        </p:txBody>
      </p:sp>
      <p:sp>
        <p:nvSpPr>
          <p:cNvPr id="38" name="F5Bg"/>
          <p:cNvSpPr/>
          <p:nvPr/>
        </p:nvSpPr>
        <p:spPr>
          <a:xfrm>
            <a:off x="4709040" y="2777472"/>
            <a:ext cx="3687960" cy="384048"/>
          </a:xfrm>
          <a:prstGeom prst="rect">
            <a:avLst/>
          </a:prstGeom>
          <a:solidFill>
            <a:srgbClr val="E8F8F5"/>
          </a:solidFill>
          <a:ln w="9525">
            <a:solidFill>
              <a:srgbClr val="A2D9CE"/>
            </a:solidFill>
          </a:ln>
        </p:spPr>
      </p:sp>
      <p:sp>
        <p:nvSpPr>
          <p:cNvPr id="39" name="F5Num"/>
          <p:cNvSpPr/>
          <p:nvPr/>
        </p:nvSpPr>
        <p:spPr>
          <a:xfrm>
            <a:off x="4709040" y="2777472"/>
            <a:ext cx="292608" cy="384048"/>
          </a:xfrm>
          <a:prstGeom prst="rect">
            <a:avLst/>
          </a:prstGeom>
          <a:solidFill>
            <a:srgbClr val="00B5C8"/>
          </a:solidFill>
          <a:ln w="12700">
            <a:solidFill>
              <a:srgbClr val="00B5C8"/>
            </a:solidFill>
          </a:ln>
        </p:spPr>
      </p:sp>
      <p:sp>
        <p:nvSpPr>
          <p:cNvPr id="40" name="F5NumT"/>
          <p:cNvSpPr/>
          <p:nvPr/>
        </p:nvSpPr>
        <p:spPr>
          <a:xfrm>
            <a:off x="4709040" y="2777472"/>
            <a:ext cx="29260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rPr>
              <a:t>05</a:t>
            </a:r>
          </a:p>
        </p:txBody>
      </p:sp>
      <p:sp>
        <p:nvSpPr>
          <p:cNvPr id="41" name="F5Txt"/>
          <p:cNvSpPr/>
          <p:nvPr/>
        </p:nvSpPr>
        <p:spPr>
          <a:xfrm>
            <a:off x="5047000" y="2790000"/>
            <a:ext cx="3330000" cy="360000"/>
          </a:xfrm>
          <a:prstGeom prst="rect">
            <a:avLst/>
          </a:prstGeom>
          <a:noFill/>
          <a:ln/>
        </p:spPr>
        <p:txBody>
          <a:bodyPr wrap="square" rtlCol="0" anchor="ctr"/>
          <a:lstStyle/>
          <a:p>
            <a:pPr marL="0" indent="0">
              <a:buNone/>
            </a:pPr>
            <a:r>
              <a:rPr lang="en-US" sz="1100" b="1" dirty="0">
                <a:solidFill>
                  <a:srgbClr val="1B2A5E"/>
                </a:solidFill>
                <a:latin typeface="Calibri" pitchFamily="34" charset="0"/>
              </a:rPr>
              <a:t>District Cooling Scalability</a:t>
            </a:r>
          </a:p>
          <a:p>
            <a:pPr marL="0" indent="0">
              <a:buNone/>
            </a:pPr>
            <a:r>
              <a:rPr lang="en-US" sz="950" dirty="0">
                <a:solidFill>
                  <a:srgbClr val="555555"/>
                </a:solidFill>
                <a:latin typeface="Calibri" pitchFamily="34" charset="0"/>
              </a:rPr>
              <a:t>Assess technical and economic feasibility of scaling SA-GSHP to district-level cooling networks.</a:t>
            </a:r>
          </a:p>
        </p:txBody>
      </p:sp>
      <p:sp>
        <p:nvSpPr>
          <p:cNvPr id="50" name="BarBg"/>
          <p:cNvSpPr/>
          <p:nvPr/>
        </p:nvSpPr>
        <p:spPr>
          <a:xfrm>
            <a:off x="777240" y="3700000"/>
            <a:ext cx="7315200" cy="182880"/>
          </a:xfrm>
          <a:prstGeom prst="rect">
            <a:avLst/>
          </a:prstGeom>
          <a:solidFill>
            <a:srgbClr val="1B2A5E"/>
          </a:solidFill>
          <a:ln w="12700">
            <a:solidFill>
              <a:srgbClr val="1B2A5E"/>
            </a:solidFill>
          </a:ln>
        </p:spPr>
      </p:sp>
      <p:sp>
        <p:nvSpPr>
          <p:cNvPr id="51" name="BarTxt"/>
          <p:cNvSpPr/>
          <p:nvPr/>
        </p:nvSpPr>
        <p:spPr>
          <a:xfrm>
            <a:off x="822960" y="3700000"/>
            <a:ext cx="7269480" cy="182880"/>
          </a:xfrm>
          <a:prstGeom prst="rect">
            <a:avLst/>
          </a:prstGeom>
          <a:noFill/>
          <a:ln/>
        </p:spPr>
        <p:txBody>
          <a:bodyPr wrap="square" rtlCol="0" anchor="ctr"/>
          <a:lstStyle/>
          <a:p>
            <a:pPr marL="0" indent="0">
              <a:buNone/>
            </a:pPr>
            <a:r>
              <a:rPr lang="en-US" sz="950" b="1" dirty="0">
                <a:solidFill>
                  <a:srgbClr val="FFFFFF"/>
                </a:solidFill>
                <a:latin typeface="Calibri" pitchFamily="34" charset="0"/>
              </a:rPr>
              <a:t>These limitations represent opportunities: each can become a distinct follow-on research contribution in the GCC renewable cooling space.</a:t>
            </a:r>
          </a:p>
        </p:txBody>
      </p:sp>
      <p:sp>
        <p:nvSpPr>
          <p:cNvPr id="52" name="SN"/>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References">
    <p:bg>
      <p:bgPr>
        <a:solidFill>
          <a:srgbClr val="FFFFFF"/>
        </a:solidFill>
        <a:effectLst/>
      </p:bgPr>
    </p:bg>
    <p:spTree>
      <p:nvGrpSpPr>
        <p:cNvPr id="1" name=""/>
        <p:cNvGrpSpPr/>
        <p:nvPr/>
      </p:nvGrpSpPr>
      <p:grpSpPr>
        <a:xfrm>
          <a:off x="0" y="0"/>
          <a:ext cx="0" cy="0"/>
          <a:chOff x="0" y="0"/>
          <a:chExt cx="0" cy="0"/>
        </a:xfrm>
      </p:grpSpPr>
      <p:sp>
        <p:nvSpPr>
          <p:cNvPr id="2" name="TBg"/>
          <p:cNvSpPr/>
          <p:nvPr/>
        </p:nvSpPr>
        <p:spPr>
          <a:xfrm>
            <a:off x="777240" y="73152"/>
            <a:ext cx="7315200" cy="566928"/>
          </a:xfrm>
          <a:prstGeom prst="rect">
            <a:avLst/>
          </a:prstGeom>
          <a:solidFill>
            <a:srgbClr val="1B2A5E"/>
          </a:solidFill>
          <a:ln w="12700">
            <a:solidFill>
              <a:srgbClr val="1B2A5E"/>
            </a:solidFill>
          </a:ln>
        </p:spPr>
      </p:sp>
      <p:sp>
        <p:nvSpPr>
          <p:cNvPr id="3" name="TTxt"/>
          <p:cNvSpPr/>
          <p:nvPr/>
        </p:nvSpPr>
        <p:spPr>
          <a:xfrm>
            <a:off x="804672" y="73152"/>
            <a:ext cx="7287768"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rPr>
              <a:t>References</a:t>
            </a:r>
          </a:p>
        </p:txBody>
      </p:sp>
      <p:sp>
        <p:nvSpPr>
          <p:cNvPr id="4" name="OBar"/>
          <p:cNvSpPr/>
          <p:nvPr/>
        </p:nvSpPr>
        <p:spPr>
          <a:xfrm>
            <a:off x="777240" y="640080"/>
            <a:ext cx="7315200" cy="73152"/>
          </a:xfrm>
          <a:prstGeom prst="rect">
            <a:avLst/>
          </a:prstGeom>
          <a:solidFill>
            <a:srgbClr val="D35400"/>
          </a:solidFill>
          <a:ln w="12700">
            <a:solidFill>
              <a:srgbClr val="D35400"/>
            </a:solidFill>
          </a:ln>
        </p:spPr>
      </p:sp>
      <p:sp>
        <p:nvSpPr>
          <p:cNvPr id="10" name="LRef"/>
          <p:cNvSpPr/>
          <p:nvPr/>
        </p:nvSpPr>
        <p:spPr>
          <a:xfrm>
            <a:off x="777240" y="750000"/>
            <a:ext cx="3840480" cy="3700000"/>
          </a:xfrm>
          <a:prstGeom prst="rect">
            <a:avLst/>
          </a:prstGeom>
          <a:noFill/>
          <a:ln/>
        </p:spPr>
        <p:txBody>
          <a:bodyPr wrap="square" lIns="91440" tIns="91440" rIns="91440" bIns="91440" rtlCol="0" anchor="t"/>
          <a:lstStyle/>
          <a:p>
            <a:pPr marL="0" indent="0">
              <a:buNone/>
            </a:pPr>
            <a:r>
              <a:rPr lang="en-US" sz="900" b="1" dirty="0">
                <a:solidFill>
                  <a:srgbClr val="D35400"/>
                </a:solidFill>
                <a:latin typeface="Calibri" pitchFamily="34" charset="0"/>
              </a:rPr>
              <a:t>[1] </a:t>
            </a:r>
            <a:r>
              <a:rPr lang="en-US" sz="900" dirty="0">
                <a:solidFill>
                  <a:srgbClr val="222222"/>
                </a:solidFill>
                <a:latin typeface="Calibri" pitchFamily="34" charset="0"/>
              </a:rPr>
              <a:t>Alahmad, M. &amp; Alfaer, M. (2022). </a:t>
            </a:r>
            <a:r>
              <a:rPr lang="en-US" sz="900" i="1" dirty="0">
                <a:solidFill>
                  <a:srgbClr val="222222"/>
                </a:solidFill>
                <a:latin typeface="Calibri" pitchFamily="34" charset="0"/>
              </a:rPr>
              <a:t>Ground Source Heat Pumps in Arid Climates: A Review.</a:t>
            </a:r>
            <a:r>
              <a:rPr lang="en-US" sz="900" dirty="0">
                <a:solidFill>
                  <a:srgbClr val="222222"/>
                </a:solidFill>
                <a:latin typeface="Calibri" pitchFamily="34" charset="0"/>
              </a:rPr>
              <a:t> Energy and Buildings, 254, 111590.</a:t>
            </a:r>
          </a:p>
          <a:p>
            <a:pPr marL="0" indent="0">
              <a:buNone/>
            </a:pPr>
            <a:r>
              <a:rPr lang="en-US" sz="200" dirty="0">
                <a:solidFill>
                  <a:srgbClr val="FFFFFF"/>
                </a:solidFill>
                <a:latin typeface="Calibri" pitchFamily="34" charset="0"/>
              </a:rPr>
              <a:t> </a:t>
            </a:r>
          </a:p>
          <a:p>
            <a:pPr marL="0" indent="0">
              <a:buNone/>
            </a:pPr>
            <a:r>
              <a:rPr lang="en-US" sz="900" b="1" dirty="0">
                <a:solidFill>
                  <a:srgbClr val="D35400"/>
                </a:solidFill>
                <a:latin typeface="Calibri" pitchFamily="34" charset="0"/>
              </a:rPr>
              <a:t>[2] </a:t>
            </a:r>
            <a:r>
              <a:rPr lang="en-US" sz="900" dirty="0">
                <a:solidFill>
                  <a:srgbClr val="222222"/>
                </a:solidFill>
                <a:latin typeface="Calibri" pitchFamily="34" charset="0"/>
              </a:rPr>
              <a:t>Klagsbrunn, M. &amp; Niers, R. (2022). </a:t>
            </a:r>
            <a:r>
              <a:rPr lang="en-US" sz="900" i="1" dirty="0">
                <a:solidFill>
                  <a:srgbClr val="222222"/>
                </a:solidFill>
                <a:latin typeface="Calibri" pitchFamily="34" charset="0"/>
              </a:rPr>
              <a:t>ASHP Efficiency Degradation at High Ambient Temperatures.</a:t>
            </a:r>
            <a:r>
              <a:rPr lang="en-US" sz="900" dirty="0">
                <a:solidFill>
                  <a:srgbClr val="222222"/>
                </a:solidFill>
                <a:latin typeface="Calibri" pitchFamily="34" charset="0"/>
              </a:rPr>
              <a:t> Applied Thermal Engineering, 201, 117732.</a:t>
            </a:r>
          </a:p>
          <a:p>
            <a:pPr marL="0" indent="0">
              <a:buNone/>
            </a:pPr>
            <a:r>
              <a:rPr lang="en-US" sz="200" dirty="0">
                <a:solidFill>
                  <a:srgbClr val="FFFFFF"/>
                </a:solidFill>
                <a:latin typeface="Calibri" pitchFamily="34" charset="0"/>
              </a:rPr>
              <a:t> </a:t>
            </a:r>
          </a:p>
          <a:p>
            <a:pPr marL="0" indent="0">
              <a:buNone/>
            </a:pPr>
            <a:r>
              <a:rPr lang="en-US" sz="900" b="1" dirty="0">
                <a:solidFill>
                  <a:srgbClr val="D35400"/>
                </a:solidFill>
                <a:latin typeface="Calibri" pitchFamily="34" charset="0"/>
              </a:rPr>
              <a:t>[3] </a:t>
            </a:r>
            <a:r>
              <a:rPr lang="en-US" sz="900" dirty="0">
                <a:solidFill>
                  <a:srgbClr val="222222"/>
                </a:solidFill>
                <a:latin typeface="Calibri" pitchFamily="34" charset="0"/>
              </a:rPr>
              <a:t>Belliardi, M. et al. (2023). </a:t>
            </a:r>
            <a:r>
              <a:rPr lang="en-US" sz="900" i="1" dirty="0">
                <a:solidFill>
                  <a:srgbClr val="222222"/>
                </a:solidFill>
                <a:latin typeface="Calibri" pitchFamily="34" charset="0"/>
              </a:rPr>
              <a:t>Solar-Assisted GSHP Simulation Benchmarking via TRNSYS 18.</a:t>
            </a:r>
            <a:r>
              <a:rPr lang="en-US" sz="900" dirty="0">
                <a:solidFill>
                  <a:srgbClr val="222222"/>
                </a:solidFill>
                <a:latin typeface="Calibri" pitchFamily="34" charset="0"/>
              </a:rPr>
              <a:t> Renewable Energy, 198, 450–462.</a:t>
            </a:r>
          </a:p>
          <a:p>
            <a:pPr marL="0" indent="0">
              <a:buNone/>
            </a:pPr>
            <a:r>
              <a:rPr lang="en-US" sz="200" dirty="0">
                <a:solidFill>
                  <a:srgbClr val="FFFFFF"/>
                </a:solidFill>
                <a:latin typeface="Calibri" pitchFamily="34" charset="0"/>
              </a:rPr>
              <a:t> </a:t>
            </a:r>
          </a:p>
          <a:p>
            <a:pPr marL="0" indent="0">
              <a:buNone/>
            </a:pPr>
            <a:r>
              <a:rPr lang="en-US" sz="900" b="1" dirty="0">
                <a:solidFill>
                  <a:srgbClr val="D35400"/>
                </a:solidFill>
                <a:latin typeface="Calibri" pitchFamily="34" charset="0"/>
              </a:rPr>
              <a:t>[4] </a:t>
            </a:r>
            <a:r>
              <a:rPr lang="en-US" sz="900" dirty="0">
                <a:solidFill>
                  <a:srgbClr val="222222"/>
                </a:solidFill>
                <a:latin typeface="Calibri" pitchFamily="34" charset="0"/>
              </a:rPr>
              <a:t>Bai, B. &amp; Nam, Y. (2022). </a:t>
            </a:r>
            <a:r>
              <a:rPr lang="en-US" sz="900" i="1" dirty="0">
                <a:solidFill>
                  <a:srgbClr val="222222"/>
                </a:solidFill>
                <a:latin typeface="Calibri" pitchFamily="34" charset="0"/>
              </a:rPr>
              <a:t>Ground Thermal Imbalance in Hot Climates: Long-Term Borehole Drift Analysis.</a:t>
            </a:r>
            <a:r>
              <a:rPr lang="en-US" sz="900" dirty="0">
                <a:solidFill>
                  <a:srgbClr val="222222"/>
                </a:solidFill>
                <a:latin typeface="Calibri" pitchFamily="34" charset="0"/>
              </a:rPr>
              <a:t> Geothermics, 101, 102357.</a:t>
            </a:r>
          </a:p>
          <a:p>
            <a:pPr marL="0" indent="0">
              <a:buNone/>
            </a:pPr>
            <a:r>
              <a:rPr lang="en-US" sz="200" dirty="0">
                <a:solidFill>
                  <a:srgbClr val="FFFFFF"/>
                </a:solidFill>
                <a:latin typeface="Calibri" pitchFamily="34" charset="0"/>
              </a:rPr>
              <a:t> </a:t>
            </a:r>
          </a:p>
          <a:p>
            <a:pPr marL="0" indent="0">
              <a:buNone/>
            </a:pPr>
            <a:r>
              <a:rPr lang="en-US" sz="900" b="1" dirty="0">
                <a:solidFill>
                  <a:srgbClr val="D35400"/>
                </a:solidFill>
                <a:latin typeface="Calibri" pitchFamily="34" charset="0"/>
              </a:rPr>
              <a:t>[5] </a:t>
            </a:r>
            <a:r>
              <a:rPr lang="en-US" sz="900" dirty="0">
                <a:solidFill>
                  <a:srgbClr val="222222"/>
                </a:solidFill>
                <a:latin typeface="Calibri" pitchFamily="34" charset="0"/>
              </a:rPr>
              <a:t>Cimmino, M. &amp; Bernier, M. (2014). </a:t>
            </a:r>
            <a:r>
              <a:rPr lang="en-US" sz="900" i="1" dirty="0">
                <a:solidFill>
                  <a:srgbClr val="222222"/>
                </a:solidFill>
                <a:latin typeface="Calibri" pitchFamily="34" charset="0"/>
              </a:rPr>
              <a:t>Experimental Validation of g-Functions for a Field of Eight Boreholes.</a:t>
            </a:r>
            <a:r>
              <a:rPr lang="en-US" sz="900" dirty="0">
                <a:solidFill>
                  <a:srgbClr val="222222"/>
                </a:solidFill>
                <a:latin typeface="Calibri" pitchFamily="34" charset="0"/>
              </a:rPr>
              <a:t> ASHRAE Transactions, 120(1), 436–445.</a:t>
            </a:r>
          </a:p>
          <a:p>
            <a:pPr marL="0" indent="0">
              <a:buNone/>
            </a:pPr>
            <a:r>
              <a:rPr lang="en-US" sz="200" dirty="0">
                <a:solidFill>
                  <a:srgbClr val="FFFFFF"/>
                </a:solidFill>
                <a:latin typeface="Calibri" pitchFamily="34" charset="0"/>
              </a:rPr>
              <a:t> </a:t>
            </a:r>
          </a:p>
          <a:p>
            <a:pPr marL="0" indent="0">
              <a:buNone/>
            </a:pPr>
            <a:r>
              <a:rPr lang="en-US" sz="900" b="1" dirty="0">
                <a:solidFill>
                  <a:srgbClr val="D35400"/>
                </a:solidFill>
                <a:latin typeface="Calibri" pitchFamily="34" charset="0"/>
              </a:rPr>
              <a:t>[6] </a:t>
            </a:r>
            <a:r>
              <a:rPr lang="en-US" sz="900" dirty="0">
                <a:solidFill>
                  <a:srgbClr val="222222"/>
                </a:solidFill>
                <a:latin typeface="Calibri" pitchFamily="34" charset="0"/>
              </a:rPr>
              <a:t>Electricity &amp; Water Authority, Bahrain (2023). </a:t>
            </a:r>
            <a:r>
              <a:rPr lang="en-US" sz="900" i="1" dirty="0">
                <a:solidFill>
                  <a:srgbClr val="222222"/>
                </a:solidFill>
                <a:latin typeface="Calibri" pitchFamily="34" charset="0"/>
              </a:rPr>
              <a:t>Annual Statistical Report 2023.</a:t>
            </a:r>
            <a:r>
              <a:rPr lang="en-US" sz="900" dirty="0">
                <a:solidFill>
                  <a:srgbClr val="222222"/>
                </a:solidFill>
                <a:latin typeface="Calibri" pitchFamily="34" charset="0"/>
              </a:rPr>
              <a:t> Manama: EWA Publications.</a:t>
            </a:r>
          </a:p>
        </p:txBody>
      </p:sp>
      <p:sp>
        <p:nvSpPr>
          <p:cNvPr id="20" name="RRef"/>
          <p:cNvSpPr/>
          <p:nvPr/>
        </p:nvSpPr>
        <p:spPr>
          <a:xfrm>
            <a:off x="4709040" y="750000"/>
            <a:ext cx="3687960" cy="3700000"/>
          </a:xfrm>
          <a:prstGeom prst="rect">
            <a:avLst/>
          </a:prstGeom>
          <a:noFill/>
          <a:ln/>
        </p:spPr>
        <p:txBody>
          <a:bodyPr wrap="square" lIns="91440" tIns="91440" rIns="91440" bIns="91440" rtlCol="0" anchor="t"/>
          <a:lstStyle/>
          <a:p>
            <a:pPr marL="0" indent="0">
              <a:buNone/>
            </a:pPr>
            <a:r>
              <a:rPr lang="en-US" sz="900" b="1" dirty="0">
                <a:solidFill>
                  <a:srgbClr val="00B5C8"/>
                </a:solidFill>
                <a:latin typeface="Calibri" pitchFamily="34" charset="0"/>
              </a:rPr>
              <a:t>[7] </a:t>
            </a:r>
            <a:r>
              <a:rPr lang="en-US" sz="900" dirty="0">
                <a:solidFill>
                  <a:srgbClr val="222222"/>
                </a:solidFill>
                <a:latin typeface="Calibri" pitchFamily="34" charset="0"/>
              </a:rPr>
              <a:t>Sanner, B. et al. (2003). </a:t>
            </a:r>
            <a:r>
              <a:rPr lang="en-US" sz="900" i="1" dirty="0">
                <a:solidFill>
                  <a:srgbClr val="222222"/>
                </a:solidFill>
                <a:latin typeface="Calibri" pitchFamily="34" charset="0"/>
              </a:rPr>
              <a:t>Current Status of Ground Source Heat Pumps and Underground Thermal Energy Storage in Europe.</a:t>
            </a:r>
            <a:r>
              <a:rPr lang="en-US" sz="900" dirty="0">
                <a:solidFill>
                  <a:srgbClr val="222222"/>
                </a:solidFill>
                <a:latin typeface="Calibri" pitchFamily="34" charset="0"/>
              </a:rPr>
              <a:t> Geothermics, 32(4–6), 579–588.</a:t>
            </a:r>
          </a:p>
          <a:p>
            <a:pPr marL="0" indent="0">
              <a:buNone/>
            </a:pPr>
            <a:r>
              <a:rPr lang="en-US" sz="200" dirty="0">
                <a:solidFill>
                  <a:srgbClr val="FFFFFF"/>
                </a:solidFill>
                <a:latin typeface="Calibri" pitchFamily="34" charset="0"/>
              </a:rPr>
              <a:t> </a:t>
            </a:r>
          </a:p>
          <a:p>
            <a:pPr marL="0" indent="0">
              <a:buNone/>
            </a:pPr>
            <a:r>
              <a:rPr lang="en-US" sz="900" b="1" dirty="0">
                <a:solidFill>
                  <a:srgbClr val="00B5C8"/>
                </a:solidFill>
                <a:latin typeface="Calibri" pitchFamily="34" charset="0"/>
              </a:rPr>
              <a:t>[8] </a:t>
            </a:r>
            <a:r>
              <a:rPr lang="en-US" sz="900" dirty="0">
                <a:solidFill>
                  <a:srgbClr val="222222"/>
                </a:solidFill>
                <a:latin typeface="Calibri" pitchFamily="34" charset="0"/>
              </a:rPr>
              <a:t>Kjellsson, E. et al. (2010). </a:t>
            </a:r>
            <a:r>
              <a:rPr lang="en-US" sz="900" i="1" dirty="0">
                <a:solidFill>
                  <a:srgbClr val="222222"/>
                </a:solidFill>
                <a:latin typeface="Calibri" pitchFamily="34" charset="0"/>
              </a:rPr>
              <a:t>Optimisation of Solar Collectors Combined with Ground Source Heat Pumps.</a:t>
            </a:r>
            <a:r>
              <a:rPr lang="en-US" sz="900" dirty="0">
                <a:solidFill>
                  <a:srgbClr val="222222"/>
                </a:solidFill>
                <a:latin typeface="Calibri" pitchFamily="34" charset="0"/>
              </a:rPr>
              <a:t> Energy, 35(6), 2523–2531.</a:t>
            </a:r>
          </a:p>
          <a:p>
            <a:pPr marL="0" indent="0">
              <a:buNone/>
            </a:pPr>
            <a:r>
              <a:rPr lang="en-US" sz="200" dirty="0">
                <a:solidFill>
                  <a:srgbClr val="FFFFFF"/>
                </a:solidFill>
                <a:latin typeface="Calibri" pitchFamily="34" charset="0"/>
              </a:rPr>
              <a:t> </a:t>
            </a:r>
          </a:p>
          <a:p>
            <a:pPr marL="0" indent="0">
              <a:buNone/>
            </a:pPr>
            <a:r>
              <a:rPr lang="en-US" sz="900" b="1" dirty="0">
                <a:solidFill>
                  <a:srgbClr val="00B5C8"/>
                </a:solidFill>
                <a:latin typeface="Calibri" pitchFamily="34" charset="0"/>
              </a:rPr>
              <a:t>[9] </a:t>
            </a:r>
            <a:r>
              <a:rPr lang="en-US" sz="900" dirty="0">
                <a:solidFill>
                  <a:srgbClr val="222222"/>
                </a:solidFill>
                <a:latin typeface="Calibri" pitchFamily="34" charset="0"/>
              </a:rPr>
              <a:t>Atam, E. &amp; Helsen, L. (2016). </a:t>
            </a:r>
            <a:r>
              <a:rPr lang="en-US" sz="900" i="1" dirty="0">
                <a:solidFill>
                  <a:srgbClr val="222222"/>
                </a:solidFill>
                <a:latin typeface="Calibri" pitchFamily="34" charset="0"/>
              </a:rPr>
              <a:t>Ground-Coupled Heat Pumps: Part 1—Literature Review.</a:t>
            </a:r>
            <a:r>
              <a:rPr lang="en-US" sz="900" dirty="0">
                <a:solidFill>
                  <a:srgbClr val="222222"/>
                </a:solidFill>
                <a:latin typeface="Calibri" pitchFamily="34" charset="0"/>
              </a:rPr>
              <a:t> Renewable and Sustainable Energy Reviews, 54, 1230–1239.</a:t>
            </a:r>
          </a:p>
          <a:p>
            <a:pPr marL="0" indent="0">
              <a:buNone/>
            </a:pPr>
            <a:r>
              <a:rPr lang="en-US" sz="200" dirty="0">
                <a:solidFill>
                  <a:srgbClr val="FFFFFF"/>
                </a:solidFill>
                <a:latin typeface="Calibri" pitchFamily="34" charset="0"/>
              </a:rPr>
              <a:t> </a:t>
            </a:r>
          </a:p>
          <a:p>
            <a:pPr marL="0" indent="0">
              <a:buNone/>
            </a:pPr>
            <a:r>
              <a:rPr lang="en-US" sz="900" b="1" dirty="0">
                <a:solidFill>
                  <a:srgbClr val="00B5C8"/>
                </a:solidFill>
                <a:latin typeface="Calibri" pitchFamily="34" charset="0"/>
              </a:rPr>
              <a:t>[10] </a:t>
            </a:r>
            <a:r>
              <a:rPr lang="en-US" sz="900" dirty="0">
                <a:solidFill>
                  <a:srgbClr val="222222"/>
                </a:solidFill>
                <a:latin typeface="Calibri" pitchFamily="34" charset="0"/>
              </a:rPr>
              <a:t>Naicker, S. S. &amp; Rees, S. J. (2018). </a:t>
            </a:r>
            <a:r>
              <a:rPr lang="en-US" sz="900" i="1" dirty="0">
                <a:solidFill>
                  <a:srgbClr val="222222"/>
                </a:solidFill>
                <a:latin typeface="Calibri" pitchFamily="34" charset="0"/>
              </a:rPr>
              <a:t>Performance Analysis of a Large Geothermal Heating and Cooling System.</a:t>
            </a:r>
            <a:r>
              <a:rPr lang="en-US" sz="900" dirty="0">
                <a:solidFill>
                  <a:srgbClr val="222222"/>
                </a:solidFill>
                <a:latin typeface="Calibri" pitchFamily="34" charset="0"/>
              </a:rPr>
              <a:t> Renewable Energy, 122, 429–442.</a:t>
            </a:r>
          </a:p>
          <a:p>
            <a:pPr marL="0" indent="0">
              <a:buNone/>
            </a:pPr>
            <a:r>
              <a:rPr lang="en-US" sz="200" dirty="0">
                <a:solidFill>
                  <a:srgbClr val="FFFFFF"/>
                </a:solidFill>
                <a:latin typeface="Calibri" pitchFamily="34" charset="0"/>
              </a:rPr>
              <a:t> </a:t>
            </a:r>
          </a:p>
          <a:p>
            <a:pPr marL="0" indent="0">
              <a:buNone/>
            </a:pPr>
            <a:r>
              <a:rPr lang="en-US" sz="900" b="1" dirty="0">
                <a:solidFill>
                  <a:srgbClr val="00B5C8"/>
                </a:solidFill>
                <a:latin typeface="Calibri" pitchFamily="34" charset="0"/>
              </a:rPr>
              <a:t>[11] </a:t>
            </a:r>
            <a:r>
              <a:rPr lang="en-US" sz="900" dirty="0">
                <a:solidFill>
                  <a:srgbClr val="222222"/>
                </a:solidFill>
                <a:latin typeface="Calibri" pitchFamily="34" charset="0"/>
              </a:rPr>
              <a:t>Al-Ajmi, F. et al. (2006). </a:t>
            </a:r>
            <a:r>
              <a:rPr lang="en-US" sz="900" i="1" dirty="0">
                <a:solidFill>
                  <a:srgbClr val="222222"/>
                </a:solidFill>
                <a:latin typeface="Calibri" pitchFamily="34" charset="0"/>
              </a:rPr>
              <a:t>Estimating Air Infiltration through Dampers of Intermittently Operated HVAC Systems.</a:t>
            </a:r>
            <a:r>
              <a:rPr lang="en-US" sz="900" dirty="0">
                <a:solidFill>
                  <a:srgbClr val="222222"/>
                </a:solidFill>
                <a:latin typeface="Calibri" pitchFamily="34" charset="0"/>
              </a:rPr>
              <a:t> Building and Environment, 41(11), 1557–1564.</a:t>
            </a:r>
          </a:p>
          <a:p>
            <a:pPr marL="0" indent="0">
              <a:buNone/>
            </a:pPr>
            <a:r>
              <a:rPr lang="en-US" sz="200" dirty="0">
                <a:solidFill>
                  <a:srgbClr val="FFFFFF"/>
                </a:solidFill>
                <a:latin typeface="Calibri" pitchFamily="34" charset="0"/>
              </a:rPr>
              <a:t> </a:t>
            </a:r>
          </a:p>
          <a:p>
            <a:pPr marL="0" indent="0">
              <a:buNone/>
            </a:pPr>
            <a:r>
              <a:rPr lang="en-US" sz="900" b="1" dirty="0">
                <a:solidFill>
                  <a:srgbClr val="00B5C8"/>
                </a:solidFill>
                <a:latin typeface="Calibri" pitchFamily="34" charset="0"/>
              </a:rPr>
              <a:t>[12] </a:t>
            </a:r>
            <a:r>
              <a:rPr lang="en-US" sz="900" dirty="0">
                <a:solidFill>
                  <a:srgbClr val="222222"/>
                </a:solidFill>
                <a:latin typeface="Calibri" pitchFamily="34" charset="0"/>
              </a:rPr>
              <a:t>Magraner, T. et al. (2010). </a:t>
            </a:r>
            <a:r>
              <a:rPr lang="en-US" sz="900" i="1" dirty="0">
                <a:solidFill>
                  <a:srgbClr val="222222"/>
                </a:solidFill>
                <a:latin typeface="Calibri" pitchFamily="34" charset="0"/>
              </a:rPr>
              <a:t>Comparison of Design Methods for Hybrid Ground Coupled Heat Pump Systems.</a:t>
            </a:r>
            <a:r>
              <a:rPr lang="en-US" sz="900" dirty="0">
                <a:solidFill>
                  <a:srgbClr val="222222"/>
                </a:solidFill>
                <a:latin typeface="Calibri" pitchFamily="34" charset="0"/>
              </a:rPr>
              <a:t> HVAC&amp;R Research, 16(2), 169–191.</a:t>
            </a:r>
          </a:p>
        </p:txBody>
      </p:sp>
      <p:sp>
        <p:nvSpPr>
          <p:cNvPr id="30" name="Divider"/>
          <p:cNvSpPr/>
          <p:nvPr/>
        </p:nvSpPr>
        <p:spPr>
          <a:xfrm>
            <a:off x="4672800" y="750000"/>
            <a:ext cx="36576" cy="3700000"/>
          </a:xfrm>
          <a:prstGeom prst="rect">
            <a:avLst/>
          </a:prstGeom>
          <a:solidFill>
            <a:srgbClr val="D5D8DC"/>
          </a:solidFill>
          <a:ln w="6350">
            <a:solidFill>
              <a:srgbClr val="D5D8DC"/>
            </a:solidFill>
          </a:ln>
        </p:spPr>
      </p:sp>
      <p:sp>
        <p:nvSpPr>
          <p:cNvPr id="40" name="BarBg"/>
          <p:cNvSpPr/>
          <p:nvPr/>
        </p:nvSpPr>
        <p:spPr>
          <a:xfrm>
            <a:off x="777240" y="4550000"/>
            <a:ext cx="7315200" cy="182880"/>
          </a:xfrm>
          <a:prstGeom prst="rect">
            <a:avLst/>
          </a:prstGeom>
          <a:solidFill>
            <a:srgbClr val="1B2A5E"/>
          </a:solidFill>
          <a:ln w="12700">
            <a:solidFill>
              <a:srgbClr val="1B2A5E"/>
            </a:solidFill>
          </a:ln>
        </p:spPr>
      </p:sp>
      <p:sp>
        <p:nvSpPr>
          <p:cNvPr id="41" name="BarTxt"/>
          <p:cNvSpPr/>
          <p:nvPr/>
        </p:nvSpPr>
        <p:spPr>
          <a:xfrm>
            <a:off x="822960" y="4550000"/>
            <a:ext cx="7269480" cy="182880"/>
          </a:xfrm>
          <a:prstGeom prst="rect">
            <a:avLst/>
          </a:prstGeom>
          <a:noFill/>
          <a:ln/>
        </p:spPr>
        <p:txBody>
          <a:bodyPr wrap="square" rtlCol="0" anchor="ctr"/>
          <a:lstStyle/>
          <a:p>
            <a:pPr marL="0" indent="0">
              <a:buNone/>
            </a:pPr>
            <a:r>
              <a:rPr lang="en-US" sz="900" b="1" dirty="0">
                <a:solidFill>
                  <a:srgbClr val="FFFFFF"/>
                </a:solidFill>
                <a:latin typeface="Calibri" pitchFamily="34" charset="0"/>
              </a:rPr>
              <a:t>Full bibliography available in the submitted thesis. All sources accessed 2024–2025.</a:t>
            </a:r>
          </a:p>
        </p:txBody>
      </p:sp>
      <p:sp>
        <p:nvSpPr>
          <p:cNvPr id="42" name="SN"/>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555555"/>
                </a:solidFill>
                <a:latin typeface="Calibri" pitchFamily="34" charset="0"/>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1B2A5E"/>
        </a:solidFill>
        <a:effectLst/>
      </p:bgPr>
    </p:bg>
    <p:spTree>
      <p:nvGrpSpPr>
        <p:cNvPr id="1" name=""/>
        <p:cNvGrpSpPr/>
        <p:nvPr/>
      </p:nvGrpSpPr>
      <p:grpSpPr>
        <a:xfrm>
          <a:off x="0" y="0"/>
          <a:ext cx="0" cy="0"/>
          <a:chOff x="0" y="0"/>
          <a:chExt cx="0" cy="0"/>
        </a:xfrm>
      </p:grpSpPr>
      <p:sp>
        <p:nvSpPr>
          <p:cNvPr id="2" name="Shape 0"/>
          <p:cNvSpPr/>
          <p:nvPr/>
        </p:nvSpPr>
        <p:spPr>
          <a:xfrm>
            <a:off x="6858000" y="-2926080"/>
            <a:ext cx="5029200" cy="5029200"/>
          </a:xfrm>
          <a:prstGeom prst="ellipse">
            <a:avLst/>
          </a:prstGeom>
          <a:solidFill>
            <a:srgbClr val="00B5C8"/>
          </a:solidFill>
          <a:ln w="12700">
            <a:solidFill>
              <a:srgbClr val="00B5C8"/>
            </a:solidFill>
            <a:prstDash val="solid"/>
          </a:ln>
        </p:spPr>
      </p:sp>
      <p:sp>
        <p:nvSpPr>
          <p:cNvPr id="3" name="Shape 1"/>
          <p:cNvSpPr/>
          <p:nvPr/>
        </p:nvSpPr>
        <p:spPr>
          <a:xfrm>
            <a:off x="8229600" y="0"/>
            <a:ext cx="914400" cy="914400"/>
          </a:xfrm>
          <a:prstGeom prst="rect">
            <a:avLst/>
          </a:prstGeom>
          <a:solidFill>
            <a:srgbClr val="1B2A5E"/>
          </a:solidFill>
          <a:ln w="12700">
            <a:solidFill>
              <a:srgbClr val="1B2A5E"/>
            </a:solidFill>
            <a:prstDash val="solid"/>
          </a:ln>
        </p:spPr>
      </p:sp>
      <p:pic>
        <p:nvPicPr>
          <p:cNvPr id="4" name="Image 0" descr="preencoded.png"/>
          <p:cNvPicPr>
            <a:picLocks noChangeAspect="1"/>
          </p:cNvPicPr>
          <p:nvPr/>
        </p:nvPicPr>
        <p:blipFill>
          <a:blip r:embed="rId3"/>
          <a:stretch>
            <a:fillRect/>
          </a:stretch>
        </p:blipFill>
        <p:spPr>
          <a:xfrm>
            <a:off x="6400800" y="73152"/>
            <a:ext cx="2606040" cy="475488"/>
          </a:xfrm>
          <a:prstGeom prst="rect">
            <a:avLst/>
          </a:prstGeom>
        </p:spPr>
      </p:pic>
      <p:sp>
        <p:nvSpPr>
          <p:cNvPr id="5" name="Text 2"/>
          <p:cNvSpPr/>
          <p:nvPr/>
        </p:nvSpPr>
        <p:spPr>
          <a:xfrm>
            <a:off x="548640" y="201168"/>
            <a:ext cx="5943600" cy="548640"/>
          </a:xfrm>
          <a:prstGeom prst="rect">
            <a:avLst/>
          </a:prstGeom>
          <a:noFill/>
          <a:ln/>
        </p:spPr>
        <p:txBody>
          <a:bodyPr wrap="square" rtlCol="0" anchor="ctr"/>
          <a:lstStyle/>
          <a:p>
            <a:pPr marL="0" indent="0">
              <a:buNone/>
            </a:pPr>
            <a:r>
              <a:rPr lang="en-US" sz="3000" dirty="0">
                <a:solidFill>
                  <a:srgbClr val="00B5C8"/>
                </a:solidFill>
                <a:latin typeface="Calibri" pitchFamily="34" charset="0"/>
                <a:ea typeface="Calibri" pitchFamily="34" charset="-122"/>
                <a:cs typeface="Calibri" pitchFamily="34" charset="-120"/>
              </a:rPr>
              <a:t>Conclusions</a:t>
            </a:r>
            <a:endParaRPr lang="en-US" sz="3000" dirty="0"/>
          </a:p>
        </p:txBody>
      </p:sp>
      <p:sp>
        <p:nvSpPr>
          <p:cNvPr id="6" name="Shape 3"/>
          <p:cNvSpPr/>
          <p:nvPr/>
        </p:nvSpPr>
        <p:spPr>
          <a:xfrm>
            <a:off x="548640" y="768096"/>
            <a:ext cx="8321040" cy="73152"/>
          </a:xfrm>
          <a:prstGeom prst="rect">
            <a:avLst/>
          </a:prstGeom>
          <a:solidFill>
            <a:srgbClr val="D35400"/>
          </a:solidFill>
          <a:ln w="12700">
            <a:solidFill>
              <a:srgbClr val="D35400"/>
            </a:solidFill>
            <a:prstDash val="solid"/>
          </a:ln>
        </p:spPr>
      </p:sp>
      <p:sp>
        <p:nvSpPr>
          <p:cNvPr id="7" name="Shape 4"/>
          <p:cNvSpPr/>
          <p:nvPr/>
        </p:nvSpPr>
        <p:spPr>
          <a:xfrm>
            <a:off x="548640" y="987552"/>
            <a:ext cx="329184" cy="329184"/>
          </a:xfrm>
          <a:prstGeom prst="ellipse">
            <a:avLst/>
          </a:prstGeom>
          <a:solidFill>
            <a:srgbClr val="00B5C8"/>
          </a:solidFill>
          <a:ln w="12700">
            <a:solidFill>
              <a:srgbClr val="00B5C8"/>
            </a:solidFill>
            <a:prstDash val="solid"/>
          </a:ln>
        </p:spPr>
      </p:sp>
      <p:sp>
        <p:nvSpPr>
          <p:cNvPr id="8" name="Text 5"/>
          <p:cNvSpPr/>
          <p:nvPr/>
        </p:nvSpPr>
        <p:spPr>
          <a:xfrm>
            <a:off x="548640" y="987552"/>
            <a:ext cx="329184" cy="329184"/>
          </a:xfrm>
          <a:prstGeom prst="rect">
            <a:avLst/>
          </a:prstGeom>
          <a:noFill/>
          <a:ln/>
        </p:spPr>
        <p:txBody>
          <a:bodyPr wrap="square" rtlCol="0" anchor="ctr"/>
          <a:lstStyle/>
          <a:p>
            <a:pPr marL="0" indent="0" algn="ctr">
              <a:buNone/>
            </a:pPr>
            <a:r>
              <a:rPr lang="en-US" sz="1000" b="1" dirty="0">
                <a:solidFill>
                  <a:srgbClr val="1B2A5E"/>
                </a:solidFill>
                <a:latin typeface="Calibri" pitchFamily="34" charset="0"/>
                <a:ea typeface="Calibri" pitchFamily="34" charset="-122"/>
                <a:cs typeface="Calibri" pitchFamily="34" charset="-120"/>
              </a:rPr>
              <a:t>O1</a:t>
            </a:r>
            <a:endParaRPr lang="en-US" sz="1000" dirty="0"/>
          </a:p>
        </p:txBody>
      </p:sp>
      <p:sp>
        <p:nvSpPr>
          <p:cNvPr id="9" name="Text 6"/>
          <p:cNvSpPr/>
          <p:nvPr/>
        </p:nvSpPr>
        <p:spPr>
          <a:xfrm>
            <a:off x="1005840" y="914400"/>
            <a:ext cx="7863840" cy="53035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SA-GSHP achieved SCOP of 4.5, exceeding the ≥4.0 target — an 80% advantage over the ASHP baseline.</a:t>
            </a:r>
            <a:endParaRPr lang="en-US" sz="1250" dirty="0"/>
          </a:p>
        </p:txBody>
      </p:sp>
      <p:sp>
        <p:nvSpPr>
          <p:cNvPr id="10" name="Shape 7"/>
          <p:cNvSpPr/>
          <p:nvPr/>
        </p:nvSpPr>
        <p:spPr>
          <a:xfrm>
            <a:off x="548640" y="1645920"/>
            <a:ext cx="329184" cy="329184"/>
          </a:xfrm>
          <a:prstGeom prst="ellipse">
            <a:avLst/>
          </a:prstGeom>
          <a:solidFill>
            <a:srgbClr val="00B5C8"/>
          </a:solidFill>
          <a:ln w="12700">
            <a:solidFill>
              <a:srgbClr val="00B5C8"/>
            </a:solidFill>
            <a:prstDash val="solid"/>
          </a:ln>
        </p:spPr>
      </p:sp>
      <p:sp>
        <p:nvSpPr>
          <p:cNvPr id="11" name="Text 8"/>
          <p:cNvSpPr/>
          <p:nvPr/>
        </p:nvSpPr>
        <p:spPr>
          <a:xfrm>
            <a:off x="548640" y="1645920"/>
            <a:ext cx="329184" cy="329184"/>
          </a:xfrm>
          <a:prstGeom prst="rect">
            <a:avLst/>
          </a:prstGeom>
          <a:noFill/>
          <a:ln/>
        </p:spPr>
        <p:txBody>
          <a:bodyPr wrap="square" rtlCol="0" anchor="ctr"/>
          <a:lstStyle/>
          <a:p>
            <a:pPr marL="0" indent="0" algn="ctr">
              <a:buNone/>
            </a:pPr>
            <a:r>
              <a:rPr lang="en-US" sz="1000" b="1" dirty="0">
                <a:solidFill>
                  <a:srgbClr val="1B2A5E"/>
                </a:solidFill>
                <a:latin typeface="Calibri" pitchFamily="34" charset="0"/>
                <a:ea typeface="Calibri" pitchFamily="34" charset="-122"/>
                <a:cs typeface="Calibri" pitchFamily="34" charset="-120"/>
              </a:rPr>
              <a:t>O2</a:t>
            </a:r>
            <a:endParaRPr lang="en-US" sz="1000" dirty="0"/>
          </a:p>
        </p:txBody>
      </p:sp>
      <p:sp>
        <p:nvSpPr>
          <p:cNvPr id="12" name="Text 9"/>
          <p:cNvSpPr/>
          <p:nvPr/>
        </p:nvSpPr>
        <p:spPr>
          <a:xfrm>
            <a:off x="1005840" y="1572768"/>
            <a:ext cx="7863840" cy="53035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Solar thermal regeneration limited 20-year ground temperature drift to +0.8°C — within the ≤1.0°C design threshold.</a:t>
            </a:r>
            <a:endParaRPr lang="en-US" sz="1250" dirty="0"/>
          </a:p>
        </p:txBody>
      </p:sp>
      <p:sp>
        <p:nvSpPr>
          <p:cNvPr id="13" name="Shape 10"/>
          <p:cNvSpPr/>
          <p:nvPr/>
        </p:nvSpPr>
        <p:spPr>
          <a:xfrm>
            <a:off x="548640" y="2304288"/>
            <a:ext cx="329184" cy="329184"/>
          </a:xfrm>
          <a:prstGeom prst="ellipse">
            <a:avLst/>
          </a:prstGeom>
          <a:solidFill>
            <a:srgbClr val="00B5C8"/>
          </a:solidFill>
          <a:ln w="12700">
            <a:solidFill>
              <a:srgbClr val="00B5C8"/>
            </a:solidFill>
            <a:prstDash val="solid"/>
          </a:ln>
        </p:spPr>
      </p:sp>
      <p:sp>
        <p:nvSpPr>
          <p:cNvPr id="14" name="Text 11"/>
          <p:cNvSpPr/>
          <p:nvPr/>
        </p:nvSpPr>
        <p:spPr>
          <a:xfrm>
            <a:off x="548640" y="2304288"/>
            <a:ext cx="329184" cy="329184"/>
          </a:xfrm>
          <a:prstGeom prst="rect">
            <a:avLst/>
          </a:prstGeom>
          <a:noFill/>
          <a:ln/>
        </p:spPr>
        <p:txBody>
          <a:bodyPr wrap="square" rtlCol="0" anchor="ctr"/>
          <a:lstStyle/>
          <a:p>
            <a:pPr marL="0" indent="0" algn="ctr">
              <a:buNone/>
            </a:pPr>
            <a:r>
              <a:rPr lang="en-US" sz="1000" b="1" dirty="0">
                <a:solidFill>
                  <a:srgbClr val="1B2A5E"/>
                </a:solidFill>
                <a:latin typeface="Calibri" pitchFamily="34" charset="0"/>
                <a:ea typeface="Calibri" pitchFamily="34" charset="-122"/>
                <a:cs typeface="Calibri" pitchFamily="34" charset="-120"/>
              </a:rPr>
              <a:t>O3</a:t>
            </a:r>
            <a:endParaRPr lang="en-US" sz="1000" dirty="0"/>
          </a:p>
        </p:txBody>
      </p:sp>
      <p:sp>
        <p:nvSpPr>
          <p:cNvPr id="15" name="Text 12"/>
          <p:cNvSpPr/>
          <p:nvPr/>
        </p:nvSpPr>
        <p:spPr>
          <a:xfrm>
            <a:off x="1005840" y="2231136"/>
            <a:ext cx="7863840" cy="53035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25-year LCC confirms near-cost-parity at current tariffs; SA-GSHP becomes decisively superior as subsidies normalise.</a:t>
            </a:r>
            <a:endParaRPr lang="en-US" sz="1250" dirty="0"/>
          </a:p>
        </p:txBody>
      </p:sp>
      <p:sp>
        <p:nvSpPr>
          <p:cNvPr id="16" name="Shape 13"/>
          <p:cNvSpPr/>
          <p:nvPr/>
        </p:nvSpPr>
        <p:spPr>
          <a:xfrm>
            <a:off x="548640" y="2962656"/>
            <a:ext cx="329184" cy="329184"/>
          </a:xfrm>
          <a:prstGeom prst="ellipse">
            <a:avLst/>
          </a:prstGeom>
          <a:solidFill>
            <a:srgbClr val="00B5C8"/>
          </a:solidFill>
          <a:ln w="12700">
            <a:solidFill>
              <a:srgbClr val="00B5C8"/>
            </a:solidFill>
            <a:prstDash val="solid"/>
          </a:ln>
        </p:spPr>
      </p:sp>
      <p:sp>
        <p:nvSpPr>
          <p:cNvPr id="17" name="Text 14"/>
          <p:cNvSpPr/>
          <p:nvPr/>
        </p:nvSpPr>
        <p:spPr>
          <a:xfrm>
            <a:off x="548640" y="2962656"/>
            <a:ext cx="329184" cy="329184"/>
          </a:xfrm>
          <a:prstGeom prst="rect">
            <a:avLst/>
          </a:prstGeom>
          <a:noFill/>
          <a:ln/>
        </p:spPr>
        <p:txBody>
          <a:bodyPr wrap="square" rtlCol="0" anchor="ctr"/>
          <a:lstStyle/>
          <a:p>
            <a:pPr marL="0" indent="0" algn="ctr">
              <a:buNone/>
            </a:pPr>
            <a:r>
              <a:rPr lang="en-US" sz="1000" b="1" dirty="0">
                <a:solidFill>
                  <a:srgbClr val="1B2A5E"/>
                </a:solidFill>
                <a:latin typeface="Calibri" pitchFamily="34" charset="0"/>
                <a:ea typeface="Calibri" pitchFamily="34" charset="-122"/>
                <a:cs typeface="Calibri" pitchFamily="34" charset="-120"/>
              </a:rPr>
              <a:t>O4</a:t>
            </a:r>
            <a:endParaRPr lang="en-US" sz="1000" dirty="0"/>
          </a:p>
        </p:txBody>
      </p:sp>
      <p:sp>
        <p:nvSpPr>
          <p:cNvPr id="18" name="Text 15"/>
          <p:cNvSpPr/>
          <p:nvPr/>
        </p:nvSpPr>
        <p:spPr>
          <a:xfrm>
            <a:off x="1005840" y="2889504"/>
            <a:ext cx="7863840" cy="53035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25% drilling subsidy + 0.040 BHD/kWh tariff reduces SPBP to 6.9 years — commercially viable target met.</a:t>
            </a:r>
            <a:endParaRPr lang="en-US" sz="1250" dirty="0"/>
          </a:p>
        </p:txBody>
      </p:sp>
      <p:sp>
        <p:nvSpPr>
          <p:cNvPr id="19" name="Shape 16"/>
          <p:cNvSpPr/>
          <p:nvPr/>
        </p:nvSpPr>
        <p:spPr>
          <a:xfrm>
            <a:off x="548640" y="3621024"/>
            <a:ext cx="329184" cy="329184"/>
          </a:xfrm>
          <a:prstGeom prst="ellipse">
            <a:avLst/>
          </a:prstGeom>
          <a:solidFill>
            <a:srgbClr val="00B5C8"/>
          </a:solidFill>
          <a:ln w="12700">
            <a:solidFill>
              <a:srgbClr val="00B5C8"/>
            </a:solidFill>
            <a:prstDash val="solid"/>
          </a:ln>
        </p:spPr>
      </p:sp>
      <p:sp>
        <p:nvSpPr>
          <p:cNvPr id="20" name="Text 17"/>
          <p:cNvSpPr/>
          <p:nvPr/>
        </p:nvSpPr>
        <p:spPr>
          <a:xfrm>
            <a:off x="548640" y="3621024"/>
            <a:ext cx="329184" cy="329184"/>
          </a:xfrm>
          <a:prstGeom prst="rect">
            <a:avLst/>
          </a:prstGeom>
          <a:noFill/>
          <a:ln/>
        </p:spPr>
        <p:txBody>
          <a:bodyPr wrap="square" rtlCol="0" anchor="ctr"/>
          <a:lstStyle/>
          <a:p>
            <a:pPr marL="0" indent="0" algn="ctr">
              <a:buNone/>
            </a:pPr>
            <a:r>
              <a:rPr lang="en-US" sz="1000" b="1" dirty="0">
                <a:solidFill>
                  <a:srgbClr val="1B2A5E"/>
                </a:solidFill>
                <a:latin typeface="Calibri" pitchFamily="34" charset="0"/>
                <a:ea typeface="Calibri" pitchFamily="34" charset="-122"/>
                <a:cs typeface="Calibri" pitchFamily="34" charset="-120"/>
              </a:rPr>
              <a:t>O5</a:t>
            </a:r>
            <a:endParaRPr lang="en-US" sz="1000" dirty="0"/>
          </a:p>
        </p:txBody>
      </p:sp>
      <p:sp>
        <p:nvSpPr>
          <p:cNvPr id="21" name="Text 18"/>
          <p:cNvSpPr/>
          <p:nvPr/>
        </p:nvSpPr>
        <p:spPr>
          <a:xfrm>
            <a:off x="1005840" y="3547872"/>
            <a:ext cx="7863840" cy="53035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173 net tonnes of CO₂ prevented per installation over 25 years; cooling-related water consumption eliminated.</a:t>
            </a:r>
            <a:endParaRPr lang="en-US" sz="1250" dirty="0"/>
          </a:p>
        </p:txBody>
      </p:sp>
      <p:sp>
        <p:nvSpPr>
          <p:cNvPr id="22" name="Shape 19"/>
          <p:cNvSpPr/>
          <p:nvPr/>
        </p:nvSpPr>
        <p:spPr>
          <a:xfrm>
            <a:off x="548640" y="4279392"/>
            <a:ext cx="329184" cy="329184"/>
          </a:xfrm>
          <a:prstGeom prst="ellipse">
            <a:avLst/>
          </a:prstGeom>
          <a:solidFill>
            <a:srgbClr val="00B5C8"/>
          </a:solidFill>
          <a:ln w="12700">
            <a:solidFill>
              <a:srgbClr val="00B5C8"/>
            </a:solidFill>
            <a:prstDash val="solid"/>
          </a:ln>
        </p:spPr>
      </p:sp>
      <p:sp>
        <p:nvSpPr>
          <p:cNvPr id="23" name="Text 20"/>
          <p:cNvSpPr/>
          <p:nvPr/>
        </p:nvSpPr>
        <p:spPr>
          <a:xfrm>
            <a:off x="548640" y="4279392"/>
            <a:ext cx="329184" cy="329184"/>
          </a:xfrm>
          <a:prstGeom prst="rect">
            <a:avLst/>
          </a:prstGeom>
          <a:noFill/>
          <a:ln/>
        </p:spPr>
        <p:txBody>
          <a:bodyPr wrap="square" rtlCol="0" anchor="ctr"/>
          <a:lstStyle/>
          <a:p>
            <a:pPr marL="0" indent="0" algn="ctr">
              <a:buNone/>
            </a:pPr>
            <a:r>
              <a:rPr lang="en-US" sz="1000" b="1" dirty="0">
                <a:solidFill>
                  <a:srgbClr val="1B2A5E"/>
                </a:solidFill>
                <a:latin typeface="Calibri" pitchFamily="34" charset="0"/>
                <a:ea typeface="Calibri" pitchFamily="34" charset="-122"/>
                <a:cs typeface="Calibri" pitchFamily="34" charset="-120"/>
              </a:rPr>
              <a:t>O6</a:t>
            </a:r>
            <a:endParaRPr lang="en-US" sz="1000" dirty="0"/>
          </a:p>
        </p:txBody>
      </p:sp>
      <p:sp>
        <p:nvSpPr>
          <p:cNvPr id="24" name="Text 21"/>
          <p:cNvSpPr/>
          <p:nvPr/>
        </p:nvSpPr>
        <p:spPr>
          <a:xfrm>
            <a:off x="1005840" y="4206240"/>
            <a:ext cx="7863840" cy="53035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B2G ESCO model validated: 5% market penetration delivers 63 MW demand reduction; subsidy is fiscally self-liquidating within a decade.</a:t>
            </a:r>
            <a:endParaRPr lang="en-US" sz="1250" dirty="0"/>
          </a:p>
        </p:txBody>
      </p:sp>
      <p:sp>
        <p:nvSpPr>
          <p:cNvPr id="25" name="Shape 22"/>
          <p:cNvSpPr/>
          <p:nvPr/>
        </p:nvSpPr>
        <p:spPr>
          <a:xfrm>
            <a:off x="548640" y="4773168"/>
            <a:ext cx="8321040" cy="292608"/>
          </a:xfrm>
          <a:prstGeom prst="rect">
            <a:avLst/>
          </a:prstGeom>
          <a:solidFill>
            <a:srgbClr val="00B5C8"/>
          </a:solidFill>
          <a:ln w="12700">
            <a:solidFill>
              <a:srgbClr val="00B5C8"/>
            </a:solidFill>
            <a:prstDash val="solid"/>
          </a:ln>
        </p:spPr>
      </p:sp>
      <p:sp>
        <p:nvSpPr>
          <p:cNvPr id="26" name="Text 23"/>
          <p:cNvSpPr/>
          <p:nvPr/>
        </p:nvSpPr>
        <p:spPr>
          <a:xfrm>
            <a:off x="594360" y="4773168"/>
            <a:ext cx="8275320" cy="292608"/>
          </a:xfrm>
          <a:prstGeom prst="rect">
            <a:avLst/>
          </a:prstGeom>
          <a:noFill/>
          <a:ln/>
        </p:spPr>
        <p:txBody>
          <a:bodyPr wrap="square" rtlCol="0" anchor="ctr"/>
          <a:lstStyle/>
          <a:p>
            <a:pPr marL="0" indent="0" algn="ctr">
              <a:buNone/>
            </a:pPr>
            <a:r>
              <a:rPr lang="en-US" sz="1050" b="1" dirty="0">
                <a:solidFill>
                  <a:srgbClr val="1B2A5E"/>
                </a:solidFill>
                <a:latin typeface="Calibri" pitchFamily="34" charset="0"/>
                <a:ea typeface="Calibri" pitchFamily="34" charset="-122"/>
                <a:cs typeface="Calibri" pitchFamily="34" charset="-120"/>
              </a:rPr>
              <a:t>With targeted policy support, SA-GSHP is a technically, economically, and commercially viable pathway for sustainable cooling in Bahrain &amp; the GCC.</a:t>
            </a:r>
            <a:endParaRPr lang="en-US" sz="1050" dirty="0"/>
          </a:p>
        </p:txBody>
      </p:sp>
      <p:sp>
        <p:nvSpPr>
          <p:cNvPr id="27" name="Text 24"/>
          <p:cNvSpPr/>
          <p:nvPr/>
        </p:nvSpPr>
        <p:spPr>
          <a:xfrm>
            <a:off x="8778240" y="4892040"/>
            <a:ext cx="274320" cy="201168"/>
          </a:xfrm>
          <a:prstGeom prst="rect">
            <a:avLst/>
          </a:prstGeom>
          <a:noFill/>
          <a:ln/>
        </p:spPr>
        <p:txBody>
          <a:bodyPr wrap="square" rtlCol="0" anchor="ctr"/>
          <a:lstStyle/>
          <a:p>
            <a:pPr marL="0" indent="0" algn="r">
              <a:buNone/>
            </a:pPr>
            <a:r>
              <a:rPr lang="en-US" sz="1100" dirty="0">
                <a:solidFill>
                  <a:srgbClr val="B0C8D8"/>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0"/>
            <a:ext cx="8229600" cy="1371600"/>
          </a:xfrm>
          <a:prstGeom prst="rect">
            <a:avLst/>
          </a:prstGeom>
          <a:noFill/>
        </p:spPr>
        <p:txBody>
          <a:bodyPr wrap="square">
            <a:spAutoFit/>
          </a:bodyPr>
          <a:lstStyle/>
          <a:p>
            <a:pPr algn="l">
              <a:defRPr sz="4400" b="1">
                <a:solidFill>
                  <a:srgbClr val="FFFFFF"/>
                </a:solidFill>
              </a:defRPr>
            </a:pPr>
            <a:r>
              <a:t>Appendix A</a:t>
            </a:r>
          </a:p>
        </p:txBody>
      </p:sp>
      <p:sp>
        <p:nvSpPr>
          <p:cNvPr id="4" name="TextBox 3"/>
          <p:cNvSpPr txBox="1"/>
          <p:nvPr/>
        </p:nvSpPr>
        <p:spPr>
          <a:xfrm>
            <a:off x="457200" y="2743200"/>
            <a:ext cx="8229600" cy="914400"/>
          </a:xfrm>
          <a:prstGeom prst="rect">
            <a:avLst/>
          </a:prstGeom>
          <a:noFill/>
        </p:spPr>
        <p:txBody>
          <a:bodyPr wrap="square">
            <a:spAutoFit/>
          </a:bodyPr>
          <a:lstStyle/>
          <a:p>
            <a:pPr algn="l">
              <a:defRPr sz="2000">
                <a:solidFill>
                  <a:srgbClr val="D35400"/>
                </a:solidFill>
              </a:defRPr>
            </a:pPr>
            <a:r>
              <a:t>EnergyPlus + Python Simulation Pipeline</a:t>
            </a:r>
            <a:br/>
            <a:r>
              <a:t>Validation Screenshots</a:t>
            </a:r>
          </a:p>
        </p:txBody>
      </p:sp>
      <p:sp>
        <p:nvSpPr>
          <p:cNvPr id="5" name="TextBox 4"/>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EnergyPlus Building Simulation — Initialization</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JPG"/>
          <p:cNvPicPr>
            <a:picLocks noChangeAspect="1"/>
          </p:cNvPicPr>
          <p:nvPr/>
        </p:nvPicPr>
        <p:blipFill>
          <a:blip r:embed="rId3"/>
          <a:stretch>
            <a:fillRect/>
          </a:stretch>
        </p:blipFill>
        <p:spPr>
          <a:xfrm>
            <a:off x="1463040" y="731520"/>
            <a:ext cx="6217920"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A1 — EnergyPlus building simulation startup and initialization sequence.</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EnergyPlus Simulation — Solar &amp; HVAC Initialization</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2.JPG"/>
          <p:cNvPicPr>
            <a:picLocks noChangeAspect="1"/>
          </p:cNvPicPr>
          <p:nvPr/>
        </p:nvPicPr>
        <p:blipFill>
          <a:blip r:embed="rId3"/>
          <a:stretch>
            <a:fillRect/>
          </a:stretch>
        </p:blipFill>
        <p:spPr>
          <a:xfrm>
            <a:off x="612902" y="731520"/>
            <a:ext cx="7918195"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A2 — Solar calculations, shading combinations, and HVAC initialization.</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EnergyPlus Completion — Hourly Cooling Load Extraction</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3.JPG"/>
          <p:cNvPicPr>
            <a:picLocks noChangeAspect="1"/>
          </p:cNvPicPr>
          <p:nvPr/>
        </p:nvPicPr>
        <p:blipFill>
          <a:blip r:embed="rId3"/>
          <a:stretch>
            <a:fillRect/>
          </a:stretch>
        </p:blipFill>
        <p:spPr>
          <a:xfrm>
            <a:off x="909634" y="731520"/>
            <a:ext cx="7324731"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A3 — EnergyPlus completion with annual cooling load of 28,837 kWh and peak load of 6.5 kW.</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Heat Pump Performance — COP vs. Entering Water Temperature</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4.JPG"/>
          <p:cNvPicPr>
            <a:picLocks noChangeAspect="1"/>
          </p:cNvPicPr>
          <p:nvPr/>
        </p:nvPicPr>
        <p:blipFill>
          <a:blip r:embed="rId3"/>
          <a:stretch>
            <a:fillRect/>
          </a:stretch>
        </p:blipFill>
        <p:spPr>
          <a:xfrm>
            <a:off x="1460158" y="731520"/>
            <a:ext cx="6223682"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A4 — Heat pump COP degradation curve with entering water temperature.</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SA-GSHP Annual Performance &amp; Borehole Thermal Analysis</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5.JPG"/>
          <p:cNvPicPr>
            <a:picLocks noChangeAspect="1"/>
          </p:cNvPicPr>
          <p:nvPr/>
        </p:nvPicPr>
        <p:blipFill>
          <a:blip r:embed="rId3"/>
          <a:stretch>
            <a:fillRect/>
          </a:stretch>
        </p:blipFill>
        <p:spPr>
          <a:xfrm>
            <a:off x="1463040" y="731520"/>
            <a:ext cx="6217920"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A5 — Year 1 SA-GSHP performance and 20-year borehole temperature drift analysis.</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Economic, Environmental &amp; Validation Results</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6.JPG"/>
          <p:cNvPicPr>
            <a:picLocks noChangeAspect="1"/>
          </p:cNvPicPr>
          <p:nvPr/>
        </p:nvPicPr>
        <p:blipFill>
          <a:blip r:embed="rId3"/>
          <a:stretch>
            <a:fillRect/>
          </a:stretch>
        </p:blipFill>
        <p:spPr>
          <a:xfrm>
            <a:off x="2617565" y="731520"/>
            <a:ext cx="3908869"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A6 — Life-cycle cost, CO₂ analysis, and automated validation report.</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Complete Simulation Pipeline Summary</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7.JPG"/>
          <p:cNvPicPr>
            <a:picLocks noChangeAspect="1"/>
          </p:cNvPicPr>
          <p:nvPr/>
        </p:nvPicPr>
        <p:blipFill>
          <a:blip r:embed="rId3"/>
          <a:stretch>
            <a:fillRect/>
          </a:stretch>
        </p:blipFill>
        <p:spPr>
          <a:xfrm>
            <a:off x="2685573" y="731520"/>
            <a:ext cx="3772852" cy="3497580"/>
          </a:xfrm>
          <a:prstGeom prst="rect">
            <a:avLst/>
          </a:prstGeom>
        </p:spPr>
      </p:pic>
      <p:sp>
        <p:nvSpPr>
          <p:cNvPr id="5" name="TextBox 4"/>
          <p:cNvSpPr txBox="1"/>
          <p:nvPr/>
        </p:nvSpPr>
        <p:spPr>
          <a:xfrm>
            <a:off x="274320" y="4320540"/>
            <a:ext cx="8595360" cy="457200"/>
          </a:xfrm>
          <a:prstGeom prst="rect">
            <a:avLst/>
          </a:prstGeom>
          <a:noFill/>
        </p:spPr>
        <p:txBody>
          <a:bodyPr wrap="square">
            <a:spAutoFit/>
          </a:bodyPr>
          <a:lstStyle/>
          <a:p>
            <a:pPr algn="ctr">
              <a:defRPr sz="1100" i="1">
                <a:solidFill>
                  <a:srgbClr val="666666"/>
                </a:solidFill>
              </a:defRPr>
            </a:pPr>
            <a:r>
              <a:t>Fig. A7 — Full pipeline execution summary with all generated output files.</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Monthly Cooling Load Profile</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monthly_load.png"/>
          <p:cNvPicPr>
            <a:picLocks noChangeAspect="1"/>
          </p:cNvPicPr>
          <p:nvPr/>
        </p:nvPicPr>
        <p:blipFill>
          <a:blip r:embed="rId3"/>
          <a:stretch>
            <a:fillRect/>
          </a:stretch>
        </p:blipFill>
        <p:spPr>
          <a:xfrm>
            <a:off x="842313" y="731520"/>
            <a:ext cx="7459372" cy="3680460"/>
          </a:xfrm>
          <a:prstGeom prst="rect">
            <a:avLst/>
          </a:prstGeom>
        </p:spPr>
      </p:pic>
      <p:sp>
        <p:nvSpPr>
          <p:cNvPr id="5" name="TextBox 4"/>
          <p:cNvSpPr txBox="1"/>
          <p:nvPr/>
        </p:nvSpPr>
        <p:spPr>
          <a:xfrm>
            <a:off x="274320" y="4457700"/>
            <a:ext cx="8595360" cy="365760"/>
          </a:xfrm>
          <a:prstGeom prst="rect">
            <a:avLst/>
          </a:prstGeom>
          <a:noFill/>
        </p:spPr>
        <p:txBody>
          <a:bodyPr wrap="square">
            <a:spAutoFit/>
          </a:bodyPr>
          <a:lstStyle/>
          <a:p>
            <a:pPr algn="ctr">
              <a:defRPr sz="1000" i="1">
                <a:solidFill>
                  <a:srgbClr val="666666"/>
                </a:solidFill>
              </a:defRPr>
            </a:pPr>
            <a:r>
              <a:t>EnergyPlus simulated monthly cooling demand for 300 m² Bahrain villa</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SCOP Performance Comparison</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scop_comparison.png"/>
          <p:cNvPicPr>
            <a:picLocks noChangeAspect="1"/>
          </p:cNvPicPr>
          <p:nvPr/>
        </p:nvPicPr>
        <p:blipFill>
          <a:blip r:embed="rId3"/>
          <a:stretch>
            <a:fillRect/>
          </a:stretch>
        </p:blipFill>
        <p:spPr>
          <a:xfrm>
            <a:off x="1470735" y="731520"/>
            <a:ext cx="6202528" cy="3680460"/>
          </a:xfrm>
          <a:prstGeom prst="rect">
            <a:avLst/>
          </a:prstGeom>
        </p:spPr>
      </p:pic>
      <p:sp>
        <p:nvSpPr>
          <p:cNvPr id="5" name="TextBox 4"/>
          <p:cNvSpPr txBox="1"/>
          <p:nvPr/>
        </p:nvSpPr>
        <p:spPr>
          <a:xfrm>
            <a:off x="274320" y="4457700"/>
            <a:ext cx="8595360" cy="365760"/>
          </a:xfrm>
          <a:prstGeom prst="rect">
            <a:avLst/>
          </a:prstGeom>
          <a:noFill/>
        </p:spPr>
        <p:txBody>
          <a:bodyPr wrap="square">
            <a:spAutoFit/>
          </a:bodyPr>
          <a:lstStyle/>
          <a:p>
            <a:pPr algn="ctr">
              <a:defRPr sz="1000" i="1">
                <a:solidFill>
                  <a:srgbClr val="666666"/>
                </a:solidFill>
              </a:defRPr>
            </a:pPr>
            <a:r>
              <a:t>20-year SA-GSHP vs ASHP efficiency degradation analysis</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Ground Temperature Drift Analysis</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ground_temp_drift.png"/>
          <p:cNvPicPr>
            <a:picLocks noChangeAspect="1"/>
          </p:cNvPicPr>
          <p:nvPr/>
        </p:nvPicPr>
        <p:blipFill>
          <a:blip r:embed="rId3"/>
          <a:stretch>
            <a:fillRect/>
          </a:stretch>
        </p:blipFill>
        <p:spPr>
          <a:xfrm>
            <a:off x="1470735" y="731520"/>
            <a:ext cx="6202528" cy="3680460"/>
          </a:xfrm>
          <a:prstGeom prst="rect">
            <a:avLst/>
          </a:prstGeom>
        </p:spPr>
      </p:pic>
      <p:sp>
        <p:nvSpPr>
          <p:cNvPr id="5" name="TextBox 4"/>
          <p:cNvSpPr txBox="1"/>
          <p:nvPr/>
        </p:nvSpPr>
        <p:spPr>
          <a:xfrm>
            <a:off x="274320" y="4457700"/>
            <a:ext cx="8595360" cy="365760"/>
          </a:xfrm>
          <a:prstGeom prst="rect">
            <a:avLst/>
          </a:prstGeom>
          <a:noFill/>
        </p:spPr>
        <p:txBody>
          <a:bodyPr wrap="square">
            <a:spAutoFit/>
          </a:bodyPr>
          <a:lstStyle/>
          <a:p>
            <a:pPr algn="ctr">
              <a:defRPr sz="1000" i="1">
                <a:solidFill>
                  <a:srgbClr val="666666"/>
                </a:solidFill>
              </a:defRPr>
            </a:pPr>
            <a:r>
              <a:t>20-year borehole thermal behavior with and without solar regeneration</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SA-GSHP System Schematic</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system_schematic.png"/>
          <p:cNvPicPr>
            <a:picLocks noChangeAspect="1"/>
          </p:cNvPicPr>
          <p:nvPr/>
        </p:nvPicPr>
        <p:blipFill>
          <a:blip r:embed="rId3"/>
          <a:stretch>
            <a:fillRect/>
          </a:stretch>
        </p:blipFill>
        <p:spPr>
          <a:xfrm>
            <a:off x="1796456" y="731520"/>
            <a:ext cx="5551087" cy="3680460"/>
          </a:xfrm>
          <a:prstGeom prst="rect">
            <a:avLst/>
          </a:prstGeom>
        </p:spPr>
      </p:pic>
      <p:sp>
        <p:nvSpPr>
          <p:cNvPr id="5" name="TextBox 4"/>
          <p:cNvSpPr txBox="1"/>
          <p:nvPr/>
        </p:nvSpPr>
        <p:spPr>
          <a:xfrm>
            <a:off x="274320" y="4457700"/>
            <a:ext cx="8595360" cy="365760"/>
          </a:xfrm>
          <a:prstGeom prst="rect">
            <a:avLst/>
          </a:prstGeom>
          <a:noFill/>
        </p:spPr>
        <p:txBody>
          <a:bodyPr wrap="square">
            <a:spAutoFit/>
          </a:bodyPr>
          <a:lstStyle/>
          <a:p>
            <a:pPr algn="ctr">
              <a:defRPr sz="1000" i="1">
                <a:solidFill>
                  <a:srgbClr val="666666"/>
                </a:solidFill>
              </a:defRPr>
            </a:pPr>
            <a:r>
              <a:t>Component layout and energy flows for Bahrain villa installation</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Techno-Economic Analysis</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economic_analysis.png"/>
          <p:cNvPicPr>
            <a:picLocks noChangeAspect="1"/>
          </p:cNvPicPr>
          <p:nvPr/>
        </p:nvPicPr>
        <p:blipFill>
          <a:blip r:embed="rId3"/>
          <a:stretch>
            <a:fillRect/>
          </a:stretch>
        </p:blipFill>
        <p:spPr>
          <a:xfrm>
            <a:off x="274320" y="757036"/>
            <a:ext cx="8595360" cy="3629427"/>
          </a:xfrm>
          <a:prstGeom prst="rect">
            <a:avLst/>
          </a:prstGeom>
        </p:spPr>
      </p:pic>
      <p:sp>
        <p:nvSpPr>
          <p:cNvPr id="5" name="TextBox 4"/>
          <p:cNvSpPr txBox="1"/>
          <p:nvPr/>
        </p:nvSpPr>
        <p:spPr>
          <a:xfrm>
            <a:off x="274320" y="4432183"/>
            <a:ext cx="8595360" cy="365760"/>
          </a:xfrm>
          <a:prstGeom prst="rect">
            <a:avLst/>
          </a:prstGeom>
          <a:noFill/>
        </p:spPr>
        <p:txBody>
          <a:bodyPr wrap="square">
            <a:spAutoFit/>
          </a:bodyPr>
          <a:lstStyle/>
          <a:p>
            <a:pPr algn="ctr">
              <a:defRPr sz="1000" i="1">
                <a:solidFill>
                  <a:srgbClr val="666666"/>
                </a:solidFill>
              </a:defRPr>
            </a:pPr>
            <a:r>
              <a:t>CAPEX breakdown and 25-year life-cycle cost trajectory</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Environmental Impact Dashboard</a:t>
            </a:r>
          </a:p>
        </p:txBody>
      </p:sp>
      <p:sp>
        <p:nvSpPr>
          <p:cNvPr id="3" name="Rectangle 2"/>
          <p:cNvSpPr/>
          <p:nvPr/>
        </p:nvSpPr>
        <p:spPr>
          <a:xfrm>
            <a:off x="0" y="548640"/>
            <a:ext cx="91440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environmental_dashboard.png"/>
          <p:cNvPicPr>
            <a:picLocks noChangeAspect="1"/>
          </p:cNvPicPr>
          <p:nvPr/>
        </p:nvPicPr>
        <p:blipFill>
          <a:blip r:embed="rId3"/>
          <a:stretch>
            <a:fillRect/>
          </a:stretch>
        </p:blipFill>
        <p:spPr>
          <a:xfrm>
            <a:off x="1339163" y="731520"/>
            <a:ext cx="6465672" cy="3680460"/>
          </a:xfrm>
          <a:prstGeom prst="rect">
            <a:avLst/>
          </a:prstGeom>
        </p:spPr>
      </p:pic>
      <p:sp>
        <p:nvSpPr>
          <p:cNvPr id="5" name="TextBox 4"/>
          <p:cNvSpPr txBox="1"/>
          <p:nvPr/>
        </p:nvSpPr>
        <p:spPr>
          <a:xfrm>
            <a:off x="274320" y="4457700"/>
            <a:ext cx="8595360" cy="365760"/>
          </a:xfrm>
          <a:prstGeom prst="rect">
            <a:avLst/>
          </a:prstGeom>
          <a:noFill/>
        </p:spPr>
        <p:txBody>
          <a:bodyPr wrap="square">
            <a:spAutoFit/>
          </a:bodyPr>
          <a:lstStyle/>
          <a:p>
            <a:pPr algn="ctr">
              <a:defRPr sz="1000" i="1">
                <a:solidFill>
                  <a:srgbClr val="666666"/>
                </a:solidFill>
              </a:defRPr>
            </a:pPr>
            <a:r>
              <a:t>CO₂ reduction, water savings, and sustainability metrics</a:t>
            </a:r>
          </a:p>
        </p:txBody>
      </p:sp>
      <p:sp>
        <p:nvSpPr>
          <p:cNvPr id="6" name="TextBox 5"/>
          <p:cNvSpPr txBox="1"/>
          <p:nvPr/>
        </p:nvSpPr>
        <p:spPr>
          <a:xfrm>
            <a:off x="7772400" y="4777740"/>
            <a:ext cx="1097280" cy="274320"/>
          </a:xfrm>
          <a:prstGeom prst="rect">
            <a:avLst/>
          </a:prstGeom>
          <a:noFill/>
        </p:spPr>
        <p:txBody>
          <a:bodyPr wrap="none">
            <a:spAutoFit/>
          </a:bodyPr>
          <a:lstStyle/>
          <a:p>
            <a:pPr algn="r">
              <a:defRPr sz="1200">
                <a:solidFill>
                  <a:srgbClr val="999999"/>
                </a:solidFill>
              </a:defRPr>
            </a:pPr>
            <a: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8123</Words>
  <Application>Microsoft Office PowerPoint</Application>
  <PresentationFormat>On-screen Show (16:9)</PresentationFormat>
  <Paragraphs>374</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SA-GSHP Feasibility Study – Bahrain Polytechnic EN8914</dc:title>
  <dc:subject>PptxGenJS Presentation</dc:subject>
  <dc:creator>PptxGenJS</dc:creator>
  <cp:lastModifiedBy>Steve Mwangi</cp:lastModifiedBy>
  <cp:revision>2</cp:revision>
  <dcterms:created xsi:type="dcterms:W3CDTF">2026-05-09T14:29:56Z</dcterms:created>
  <dcterms:modified xsi:type="dcterms:W3CDTF">2026-05-14T15:00:44Z</dcterms:modified>
</cp:coreProperties>
</file>